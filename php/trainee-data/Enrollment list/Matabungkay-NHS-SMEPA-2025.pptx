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25" r:id="rId2"/>
    <p:sldId id="335" r:id="rId3"/>
    <p:sldId id="348" r:id="rId4"/>
    <p:sldId id="337" r:id="rId5"/>
    <p:sldId id="347" r:id="rId6"/>
    <p:sldId id="322" r:id="rId7"/>
    <p:sldId id="323" r:id="rId8"/>
    <p:sldId id="357" r:id="rId9"/>
    <p:sldId id="333" r:id="rId10"/>
    <p:sldId id="349" r:id="rId11"/>
    <p:sldId id="355" r:id="rId12"/>
    <p:sldId id="361" r:id="rId13"/>
    <p:sldId id="360" r:id="rId14"/>
    <p:sldId id="338" r:id="rId15"/>
    <p:sldId id="340" r:id="rId16"/>
    <p:sldId id="342" r:id="rId17"/>
    <p:sldId id="345" r:id="rId18"/>
    <p:sldId id="346" r:id="rId19"/>
    <p:sldId id="344" r:id="rId20"/>
    <p:sldId id="339" r:id="rId21"/>
    <p:sldId id="353" r:id="rId22"/>
    <p:sldId id="350" r:id="rId23"/>
    <p:sldId id="343" r:id="rId24"/>
    <p:sldId id="354" r:id="rId25"/>
    <p:sldId id="358" r:id="rId26"/>
    <p:sldId id="326" r:id="rId27"/>
    <p:sldId id="359" r:id="rId28"/>
    <p:sldId id="356" r:id="rId29"/>
    <p:sldId id="352" r:id="rId30"/>
    <p:sldId id="341" r:id="rId31"/>
  </p:sldIdLst>
  <p:sldSz cx="12192000" cy="6858000"/>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Windows%2010\Downloads\MPS%20RESULTS%20SY%202023-2024.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Windows%2010\Downloads\MPS%20RESULTS%20SY%202023-2024.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Windows%2010\Documents\Copy%20of%20SF8-GRADE-LEVEL-CONSOLIDATED-NUTRITIONAL-STATUS-2023.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Windows%2010\Downloads\School%20Data%202023-2024.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Windows%2010\Documents\MPS%20RESULTS%20SY%202023-2024(AutoRecovered).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G:\Office%20Files%202019-2021\Matabungkay%20NHS%20Files\MOOE%20Graph.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G:\Office%20Files%202019-2021\Matabungkay%20NHS%20Files\MOOE%20Graph.xlsx" TargetMode="External"/><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r>
              <a:rPr lang="en-US"/>
              <a:t>EOSY 2023-2024</a:t>
            </a:r>
          </a:p>
        </c:rich>
      </c:tx>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'3RD QRT'!$A$29</c:f>
              <c:strCache>
                <c:ptCount val="1"/>
                <c:pt idx="0">
                  <c:v>Grade 7</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val>
            <c:numRef>
              <c:f>'3RD QRT'!$B$29</c:f>
              <c:numCache>
                <c:formatCode>General</c:formatCode>
                <c:ptCount val="1"/>
                <c:pt idx="0">
                  <c:v>155</c:v>
                </c:pt>
              </c:numCache>
            </c:numRef>
          </c:val>
          <c:extLst>
            <c:ext xmlns:c16="http://schemas.microsoft.com/office/drawing/2014/chart" uri="{C3380CC4-5D6E-409C-BE32-E72D297353CC}">
              <c16:uniqueId val="{00000000-85F9-4998-8A11-ADEF3B2CE894}"/>
            </c:ext>
          </c:extLst>
        </c:ser>
        <c:ser>
          <c:idx val="1"/>
          <c:order val="1"/>
          <c:tx>
            <c:strRef>
              <c:f>'3RD QRT'!$A$30</c:f>
              <c:strCache>
                <c:ptCount val="1"/>
                <c:pt idx="0">
                  <c:v>Grade 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val>
            <c:numRef>
              <c:f>'3RD QRT'!$B$30</c:f>
              <c:numCache>
                <c:formatCode>General</c:formatCode>
                <c:ptCount val="1"/>
                <c:pt idx="0">
                  <c:v>166</c:v>
                </c:pt>
              </c:numCache>
            </c:numRef>
          </c:val>
          <c:extLst>
            <c:ext xmlns:c16="http://schemas.microsoft.com/office/drawing/2014/chart" uri="{C3380CC4-5D6E-409C-BE32-E72D297353CC}">
              <c16:uniqueId val="{00000001-85F9-4998-8A11-ADEF3B2CE894}"/>
            </c:ext>
          </c:extLst>
        </c:ser>
        <c:ser>
          <c:idx val="2"/>
          <c:order val="2"/>
          <c:tx>
            <c:strRef>
              <c:f>'3RD QRT'!$A$31</c:f>
              <c:strCache>
                <c:ptCount val="1"/>
                <c:pt idx="0">
                  <c:v>Grade 9</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val>
            <c:numRef>
              <c:f>'3RD QRT'!$B$31</c:f>
              <c:numCache>
                <c:formatCode>General</c:formatCode>
                <c:ptCount val="1"/>
                <c:pt idx="0">
                  <c:v>180</c:v>
                </c:pt>
              </c:numCache>
            </c:numRef>
          </c:val>
          <c:extLst>
            <c:ext xmlns:c16="http://schemas.microsoft.com/office/drawing/2014/chart" uri="{C3380CC4-5D6E-409C-BE32-E72D297353CC}">
              <c16:uniqueId val="{00000002-85F9-4998-8A11-ADEF3B2CE894}"/>
            </c:ext>
          </c:extLst>
        </c:ser>
        <c:ser>
          <c:idx val="3"/>
          <c:order val="3"/>
          <c:tx>
            <c:strRef>
              <c:f>'3RD QRT'!$A$32</c:f>
              <c:strCache>
                <c:ptCount val="1"/>
                <c:pt idx="0">
                  <c:v>Grade 10</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val>
            <c:numRef>
              <c:f>'3RD QRT'!$B$32</c:f>
              <c:numCache>
                <c:formatCode>General</c:formatCode>
                <c:ptCount val="1"/>
                <c:pt idx="0">
                  <c:v>180</c:v>
                </c:pt>
              </c:numCache>
            </c:numRef>
          </c:val>
          <c:extLst>
            <c:ext xmlns:c16="http://schemas.microsoft.com/office/drawing/2014/chart" uri="{C3380CC4-5D6E-409C-BE32-E72D297353CC}">
              <c16:uniqueId val="{00000003-85F9-4998-8A11-ADEF3B2CE894}"/>
            </c:ext>
          </c:extLst>
        </c:ser>
        <c:ser>
          <c:idx val="4"/>
          <c:order val="4"/>
          <c:tx>
            <c:strRef>
              <c:f>'3RD QRT'!$A$33</c:f>
              <c:strCache>
                <c:ptCount val="1"/>
                <c:pt idx="0">
                  <c:v>TOTAL</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val>
            <c:numRef>
              <c:f>'3RD QRT'!$B$33</c:f>
              <c:numCache>
                <c:formatCode>General</c:formatCode>
                <c:ptCount val="1"/>
                <c:pt idx="0">
                  <c:v>681</c:v>
                </c:pt>
              </c:numCache>
            </c:numRef>
          </c:val>
          <c:extLst>
            <c:ext xmlns:c16="http://schemas.microsoft.com/office/drawing/2014/chart" uri="{C3380CC4-5D6E-409C-BE32-E72D297353CC}">
              <c16:uniqueId val="{00000004-85F9-4998-8A11-ADEF3B2CE894}"/>
            </c:ext>
          </c:extLst>
        </c:ser>
        <c:dLbls>
          <c:showLegendKey val="0"/>
          <c:showVal val="1"/>
          <c:showCatName val="0"/>
          <c:showSerName val="0"/>
          <c:showPercent val="0"/>
          <c:showBubbleSize val="0"/>
        </c:dLbls>
        <c:gapWidth val="267"/>
        <c:overlap val="-43"/>
        <c:axId val="435084528"/>
        <c:axId val="435083696"/>
      </c:barChart>
      <c:catAx>
        <c:axId val="435084528"/>
        <c:scaling>
          <c:orientation val="minMax"/>
        </c:scaling>
        <c:delete val="1"/>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435083696"/>
        <c:crosses val="autoZero"/>
        <c:auto val="1"/>
        <c:lblAlgn val="ctr"/>
        <c:lblOffset val="100"/>
        <c:noMultiLvlLbl val="0"/>
      </c:catAx>
      <c:valAx>
        <c:axId val="435083696"/>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435084528"/>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As of February 28, 2025</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'3RD QRT'!$A$82:$A$86</c:f>
              <c:strCache>
                <c:ptCount val="5"/>
                <c:pt idx="0">
                  <c:v>Grade 7</c:v>
                </c:pt>
                <c:pt idx="1">
                  <c:v>Grade 8</c:v>
                </c:pt>
                <c:pt idx="2">
                  <c:v>Grade 9</c:v>
                </c:pt>
                <c:pt idx="3">
                  <c:v>Grade 10</c:v>
                </c:pt>
                <c:pt idx="4">
                  <c:v>TOTAL</c:v>
                </c:pt>
              </c:strCache>
            </c:strRef>
          </c:cat>
          <c:val>
            <c:numRef>
              <c:f>'3RD QRT'!$B$82:$B$86</c:f>
              <c:numCache>
                <c:formatCode>General</c:formatCode>
                <c:ptCount val="5"/>
                <c:pt idx="0">
                  <c:v>228</c:v>
                </c:pt>
                <c:pt idx="1">
                  <c:v>149</c:v>
                </c:pt>
                <c:pt idx="2">
                  <c:v>153</c:v>
                </c:pt>
                <c:pt idx="3">
                  <c:v>184</c:v>
                </c:pt>
                <c:pt idx="4">
                  <c:v>714</c:v>
                </c:pt>
              </c:numCache>
            </c:numRef>
          </c:val>
          <c:extLst>
            <c:ext xmlns:c16="http://schemas.microsoft.com/office/drawing/2014/chart" uri="{C3380CC4-5D6E-409C-BE32-E72D297353CC}">
              <c16:uniqueId val="{00000000-4322-4F5A-815E-B5DC6B0EF962}"/>
            </c:ext>
          </c:extLst>
        </c:ser>
        <c:dLbls>
          <c:dLblPos val="inEnd"/>
          <c:showLegendKey val="0"/>
          <c:showVal val="1"/>
          <c:showCatName val="0"/>
          <c:showSerName val="0"/>
          <c:showPercent val="0"/>
          <c:showBubbleSize val="0"/>
        </c:dLbls>
        <c:gapWidth val="100"/>
        <c:overlap val="-24"/>
        <c:axId val="850296975"/>
        <c:axId val="850314863"/>
      </c:barChart>
      <c:catAx>
        <c:axId val="85029697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50314863"/>
        <c:crosses val="autoZero"/>
        <c:auto val="1"/>
        <c:lblAlgn val="ctr"/>
        <c:lblOffset val="100"/>
        <c:noMultiLvlLbl val="0"/>
      </c:catAx>
      <c:valAx>
        <c:axId val="85031486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50296975"/>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Sheet1!$A$45:$A$48</c:f>
              <c:strCache>
                <c:ptCount val="4"/>
                <c:pt idx="0">
                  <c:v>Grade 7</c:v>
                </c:pt>
                <c:pt idx="1">
                  <c:v>Grade 8</c:v>
                </c:pt>
                <c:pt idx="2">
                  <c:v>Grade 9</c:v>
                </c:pt>
                <c:pt idx="3">
                  <c:v>Grade 10</c:v>
                </c:pt>
              </c:strCache>
            </c:strRef>
          </c:cat>
          <c:val>
            <c:numRef>
              <c:f>Sheet1!$B$45:$B$48</c:f>
              <c:numCache>
                <c:formatCode>General</c:formatCode>
                <c:ptCount val="4"/>
                <c:pt idx="0">
                  <c:v>3</c:v>
                </c:pt>
                <c:pt idx="1">
                  <c:v>4</c:v>
                </c:pt>
                <c:pt idx="2">
                  <c:v>3</c:v>
                </c:pt>
                <c:pt idx="3">
                  <c:v>0</c:v>
                </c:pt>
              </c:numCache>
            </c:numRef>
          </c:val>
          <c:extLst>
            <c:ext xmlns:c16="http://schemas.microsoft.com/office/drawing/2014/chart" uri="{C3380CC4-5D6E-409C-BE32-E72D297353CC}">
              <c16:uniqueId val="{00000000-8D6F-455F-8BBE-3B67BCC01651}"/>
            </c:ext>
          </c:extLst>
        </c:ser>
        <c:dLbls>
          <c:showLegendKey val="0"/>
          <c:showVal val="1"/>
          <c:showCatName val="0"/>
          <c:showSerName val="0"/>
          <c:showPercent val="0"/>
          <c:showBubbleSize val="0"/>
        </c:dLbls>
        <c:gapWidth val="75"/>
        <c:axId val="1998246928"/>
        <c:axId val="1998247344"/>
      </c:barChart>
      <c:catAx>
        <c:axId val="199824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998247344"/>
        <c:crosses val="autoZero"/>
        <c:auto val="1"/>
        <c:lblAlgn val="ctr"/>
        <c:lblOffset val="100"/>
        <c:noMultiLvlLbl val="0"/>
      </c:catAx>
      <c:valAx>
        <c:axId val="19982473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99824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Non-Readers (English)</a:t>
            </a:r>
          </a:p>
        </c:rich>
      </c:tx>
      <c:overlay val="0"/>
      <c:spPr>
        <a:noFill/>
        <a:ln>
          <a:noFill/>
        </a:ln>
        <a:effectLst/>
      </c:spPr>
      <c:txPr>
        <a:bodyPr rot="0" spcFirstLastPara="1" vertOverflow="ellipsis" vert="horz" wrap="square" anchor="ctr" anchorCtr="1"/>
        <a:lstStyle/>
        <a:p>
          <a:pPr>
            <a:defRPr sz="28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Pre-Reading</c:v>
                </c:pt>
                <c:pt idx="1">
                  <c:v>1st Semester</c:v>
                </c:pt>
                <c:pt idx="2">
                  <c:v>2nd Semester</c:v>
                </c:pt>
              </c:strCache>
            </c:strRef>
          </c:cat>
          <c:val>
            <c:numRef>
              <c:f>Sheet1!$B$2:$B$4</c:f>
              <c:numCache>
                <c:formatCode>General</c:formatCode>
                <c:ptCount val="3"/>
                <c:pt idx="0">
                  <c:v>27</c:v>
                </c:pt>
                <c:pt idx="1">
                  <c:v>20</c:v>
                </c:pt>
                <c:pt idx="2">
                  <c:v>3</c:v>
                </c:pt>
              </c:numCache>
            </c:numRef>
          </c:val>
          <c:extLst>
            <c:ext xmlns:c16="http://schemas.microsoft.com/office/drawing/2014/chart" uri="{C3380CC4-5D6E-409C-BE32-E72D297353CC}">
              <c16:uniqueId val="{00000000-A72A-4B7A-990C-8688CF7D02B8}"/>
            </c:ext>
          </c:extLst>
        </c:ser>
        <c:dLbls>
          <c:dLblPos val="inEnd"/>
          <c:showLegendKey val="0"/>
          <c:showVal val="1"/>
          <c:showCatName val="0"/>
          <c:showSerName val="0"/>
          <c:showPercent val="0"/>
          <c:showBubbleSize val="0"/>
        </c:dLbls>
        <c:gapWidth val="100"/>
        <c:overlap val="-24"/>
        <c:axId val="1371896687"/>
        <c:axId val="1371905007"/>
      </c:barChart>
      <c:catAx>
        <c:axId val="137189668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2400" b="0" i="0" u="none" strike="noStrike" kern="1200" baseline="0">
                <a:solidFill>
                  <a:schemeClr val="lt1">
                    <a:lumMod val="85000"/>
                  </a:schemeClr>
                </a:solidFill>
                <a:latin typeface="+mn-lt"/>
                <a:ea typeface="+mn-ea"/>
                <a:cs typeface="+mn-cs"/>
              </a:defRPr>
            </a:pPr>
            <a:endParaRPr lang="en-US"/>
          </a:p>
        </c:txPr>
        <c:crossAx val="1371905007"/>
        <c:crosses val="autoZero"/>
        <c:auto val="1"/>
        <c:lblAlgn val="ctr"/>
        <c:lblOffset val="100"/>
        <c:noMultiLvlLbl val="0"/>
      </c:catAx>
      <c:valAx>
        <c:axId val="137190500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lt1">
                    <a:lumMod val="85000"/>
                  </a:schemeClr>
                </a:solidFill>
                <a:latin typeface="+mn-lt"/>
                <a:ea typeface="+mn-ea"/>
                <a:cs typeface="+mn-cs"/>
              </a:defRPr>
            </a:pPr>
            <a:endParaRPr lang="en-US"/>
          </a:p>
        </c:txPr>
        <c:crossAx val="13718966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24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Non-Readers (Filipino)</a:t>
            </a:r>
          </a:p>
        </c:rich>
      </c:tx>
      <c:overlay val="0"/>
      <c:spPr>
        <a:noFill/>
        <a:ln>
          <a:noFill/>
        </a:ln>
        <a:effectLst/>
      </c:spPr>
      <c:txPr>
        <a:bodyPr rot="0" spcFirstLastPara="1" vertOverflow="ellipsis" vert="horz" wrap="square" anchor="ctr" anchorCtr="1"/>
        <a:lstStyle/>
        <a:p>
          <a:pPr>
            <a:defRPr sz="28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0.10028549135527977"/>
          <c:y val="0.17682810220506945"/>
          <c:w val="0.87008488333553757"/>
          <c:h val="0.70487548560885738"/>
        </c:manualLayout>
      </c:layout>
      <c:barChart>
        <c:barDir val="col"/>
        <c:grouping val="clustered"/>
        <c:varyColors val="0"/>
        <c:ser>
          <c:idx val="0"/>
          <c:order val="0"/>
          <c:tx>
            <c:strRef>
              <c:f>Sheet1!$B$1</c:f>
              <c:strCache>
                <c:ptCount val="1"/>
                <c:pt idx="0">
                  <c:v>Series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Pre-Reading</c:v>
                </c:pt>
                <c:pt idx="1">
                  <c:v>1st Semester</c:v>
                </c:pt>
                <c:pt idx="2">
                  <c:v>2nd Semester</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BF9D-4469-97BC-7CC5F3F6FAB0}"/>
            </c:ext>
          </c:extLst>
        </c:ser>
        <c:dLbls>
          <c:dLblPos val="inEnd"/>
          <c:showLegendKey val="0"/>
          <c:showVal val="1"/>
          <c:showCatName val="0"/>
          <c:showSerName val="0"/>
          <c:showPercent val="0"/>
          <c:showBubbleSize val="0"/>
        </c:dLbls>
        <c:gapWidth val="100"/>
        <c:overlap val="-24"/>
        <c:axId val="1371896687"/>
        <c:axId val="1371905007"/>
      </c:barChart>
      <c:catAx>
        <c:axId val="137189668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2400" b="0" i="0" u="none" strike="noStrike" kern="1200" baseline="0">
                <a:solidFill>
                  <a:schemeClr val="lt1">
                    <a:lumMod val="85000"/>
                  </a:schemeClr>
                </a:solidFill>
                <a:latin typeface="+mn-lt"/>
                <a:ea typeface="+mn-ea"/>
                <a:cs typeface="+mn-cs"/>
              </a:defRPr>
            </a:pPr>
            <a:endParaRPr lang="en-US"/>
          </a:p>
        </c:txPr>
        <c:crossAx val="1371905007"/>
        <c:crosses val="autoZero"/>
        <c:auto val="1"/>
        <c:lblAlgn val="ctr"/>
        <c:lblOffset val="100"/>
        <c:noMultiLvlLbl val="0"/>
      </c:catAx>
      <c:valAx>
        <c:axId val="137190500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lt1">
                    <a:lumMod val="85000"/>
                  </a:schemeClr>
                </a:solidFill>
                <a:latin typeface="+mn-lt"/>
                <a:ea typeface="+mn-ea"/>
                <a:cs typeface="+mn-cs"/>
              </a:defRPr>
            </a:pPr>
            <a:endParaRPr lang="en-US"/>
          </a:p>
        </c:txPr>
        <c:crossAx val="13718966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24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NON-NUMERATES 2024-2025</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Sheet1!$A$78</c:f>
              <c:strCache>
                <c:ptCount val="1"/>
                <c:pt idx="0">
                  <c:v>Quarter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Sheet1!$B$76:$P$77</c:f>
              <c:multiLvlStrCache>
                <c:ptCount val="15"/>
                <c:lvl>
                  <c:pt idx="0">
                    <c:v>Male</c:v>
                  </c:pt>
                  <c:pt idx="1">
                    <c:v>Female</c:v>
                  </c:pt>
                  <c:pt idx="2">
                    <c:v>TOTAL</c:v>
                  </c:pt>
                  <c:pt idx="3">
                    <c:v>Male</c:v>
                  </c:pt>
                  <c:pt idx="4">
                    <c:v>Female</c:v>
                  </c:pt>
                  <c:pt idx="5">
                    <c:v>TOTAL</c:v>
                  </c:pt>
                  <c:pt idx="6">
                    <c:v>Male</c:v>
                  </c:pt>
                  <c:pt idx="7">
                    <c:v>Female</c:v>
                  </c:pt>
                  <c:pt idx="8">
                    <c:v>TOTAL</c:v>
                  </c:pt>
                  <c:pt idx="9">
                    <c:v>Male</c:v>
                  </c:pt>
                  <c:pt idx="10">
                    <c:v>Female</c:v>
                  </c:pt>
                  <c:pt idx="11">
                    <c:v>TOTAL</c:v>
                  </c:pt>
                  <c:pt idx="12">
                    <c:v>Male</c:v>
                  </c:pt>
                  <c:pt idx="13">
                    <c:v>Female</c:v>
                  </c:pt>
                  <c:pt idx="14">
                    <c:v>TOTAL</c:v>
                  </c:pt>
                </c:lvl>
                <c:lvl>
                  <c:pt idx="0">
                    <c:v>Grade 7</c:v>
                  </c:pt>
                  <c:pt idx="3">
                    <c:v>Grade 8</c:v>
                  </c:pt>
                  <c:pt idx="6">
                    <c:v>Grade 9</c:v>
                  </c:pt>
                  <c:pt idx="9">
                    <c:v>Grade 10</c:v>
                  </c:pt>
                  <c:pt idx="12">
                    <c:v>TOTAL</c:v>
                  </c:pt>
                </c:lvl>
              </c:multiLvlStrCache>
            </c:multiLvlStrRef>
          </c:cat>
          <c:val>
            <c:numRef>
              <c:f>Sheet1!$B$78:$P$78</c:f>
              <c:numCache>
                <c:formatCode>General</c:formatCode>
                <c:ptCount val="15"/>
                <c:pt idx="0">
                  <c:v>28</c:v>
                </c:pt>
                <c:pt idx="1">
                  <c:v>20</c:v>
                </c:pt>
                <c:pt idx="2">
                  <c:v>48</c:v>
                </c:pt>
                <c:pt idx="3">
                  <c:v>22</c:v>
                </c:pt>
                <c:pt idx="4">
                  <c:v>10</c:v>
                </c:pt>
                <c:pt idx="5">
                  <c:v>32</c:v>
                </c:pt>
                <c:pt idx="6">
                  <c:v>23</c:v>
                </c:pt>
                <c:pt idx="7">
                  <c:v>14</c:v>
                </c:pt>
                <c:pt idx="8">
                  <c:v>37</c:v>
                </c:pt>
                <c:pt idx="9">
                  <c:v>4</c:v>
                </c:pt>
                <c:pt idx="10">
                  <c:v>4</c:v>
                </c:pt>
                <c:pt idx="11">
                  <c:v>8</c:v>
                </c:pt>
                <c:pt idx="12">
                  <c:v>77</c:v>
                </c:pt>
                <c:pt idx="13">
                  <c:v>48</c:v>
                </c:pt>
                <c:pt idx="14">
                  <c:v>125</c:v>
                </c:pt>
              </c:numCache>
            </c:numRef>
          </c:val>
          <c:extLst>
            <c:ext xmlns:c16="http://schemas.microsoft.com/office/drawing/2014/chart" uri="{C3380CC4-5D6E-409C-BE32-E72D297353CC}">
              <c16:uniqueId val="{00000000-327E-4F00-B62F-D6C75B55C2B3}"/>
            </c:ext>
          </c:extLst>
        </c:ser>
        <c:ser>
          <c:idx val="1"/>
          <c:order val="1"/>
          <c:tx>
            <c:strRef>
              <c:f>Sheet1!$A$79</c:f>
              <c:strCache>
                <c:ptCount val="1"/>
                <c:pt idx="0">
                  <c:v>Quarter 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Sheet1!$B$76:$P$77</c:f>
              <c:multiLvlStrCache>
                <c:ptCount val="15"/>
                <c:lvl>
                  <c:pt idx="0">
                    <c:v>Male</c:v>
                  </c:pt>
                  <c:pt idx="1">
                    <c:v>Female</c:v>
                  </c:pt>
                  <c:pt idx="2">
                    <c:v>TOTAL</c:v>
                  </c:pt>
                  <c:pt idx="3">
                    <c:v>Male</c:v>
                  </c:pt>
                  <c:pt idx="4">
                    <c:v>Female</c:v>
                  </c:pt>
                  <c:pt idx="5">
                    <c:v>TOTAL</c:v>
                  </c:pt>
                  <c:pt idx="6">
                    <c:v>Male</c:v>
                  </c:pt>
                  <c:pt idx="7">
                    <c:v>Female</c:v>
                  </c:pt>
                  <c:pt idx="8">
                    <c:v>TOTAL</c:v>
                  </c:pt>
                  <c:pt idx="9">
                    <c:v>Male</c:v>
                  </c:pt>
                  <c:pt idx="10">
                    <c:v>Female</c:v>
                  </c:pt>
                  <c:pt idx="11">
                    <c:v>TOTAL</c:v>
                  </c:pt>
                  <c:pt idx="12">
                    <c:v>Male</c:v>
                  </c:pt>
                  <c:pt idx="13">
                    <c:v>Female</c:v>
                  </c:pt>
                  <c:pt idx="14">
                    <c:v>TOTAL</c:v>
                  </c:pt>
                </c:lvl>
                <c:lvl>
                  <c:pt idx="0">
                    <c:v>Grade 7</c:v>
                  </c:pt>
                  <c:pt idx="3">
                    <c:v>Grade 8</c:v>
                  </c:pt>
                  <c:pt idx="6">
                    <c:v>Grade 9</c:v>
                  </c:pt>
                  <c:pt idx="9">
                    <c:v>Grade 10</c:v>
                  </c:pt>
                  <c:pt idx="12">
                    <c:v>TOTAL</c:v>
                  </c:pt>
                </c:lvl>
              </c:multiLvlStrCache>
            </c:multiLvlStrRef>
          </c:cat>
          <c:val>
            <c:numRef>
              <c:f>Sheet1!$B$79:$P$79</c:f>
              <c:numCache>
                <c:formatCode>General</c:formatCode>
                <c:ptCount val="15"/>
                <c:pt idx="0">
                  <c:v>18</c:v>
                </c:pt>
                <c:pt idx="1">
                  <c:v>11</c:v>
                </c:pt>
                <c:pt idx="2">
                  <c:v>29</c:v>
                </c:pt>
                <c:pt idx="3">
                  <c:v>16</c:v>
                </c:pt>
                <c:pt idx="4">
                  <c:v>7</c:v>
                </c:pt>
                <c:pt idx="5">
                  <c:v>23</c:v>
                </c:pt>
                <c:pt idx="6">
                  <c:v>15</c:v>
                </c:pt>
                <c:pt idx="7">
                  <c:v>8</c:v>
                </c:pt>
                <c:pt idx="8">
                  <c:v>23</c:v>
                </c:pt>
                <c:pt idx="9">
                  <c:v>2</c:v>
                </c:pt>
                <c:pt idx="10">
                  <c:v>0</c:v>
                </c:pt>
                <c:pt idx="11">
                  <c:v>2</c:v>
                </c:pt>
                <c:pt idx="12">
                  <c:v>0</c:v>
                </c:pt>
                <c:pt idx="13">
                  <c:v>26</c:v>
                </c:pt>
                <c:pt idx="14">
                  <c:v>26</c:v>
                </c:pt>
              </c:numCache>
            </c:numRef>
          </c:val>
          <c:extLst>
            <c:ext xmlns:c16="http://schemas.microsoft.com/office/drawing/2014/chart" uri="{C3380CC4-5D6E-409C-BE32-E72D297353CC}">
              <c16:uniqueId val="{00000001-327E-4F00-B62F-D6C75B55C2B3}"/>
            </c:ext>
          </c:extLst>
        </c:ser>
        <c:ser>
          <c:idx val="2"/>
          <c:order val="2"/>
          <c:tx>
            <c:strRef>
              <c:f>Sheet1!$A$80</c:f>
              <c:strCache>
                <c:ptCount val="1"/>
                <c:pt idx="0">
                  <c:v>Quarter 3</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Sheet1!$B$76:$P$77</c:f>
              <c:multiLvlStrCache>
                <c:ptCount val="15"/>
                <c:lvl>
                  <c:pt idx="0">
                    <c:v>Male</c:v>
                  </c:pt>
                  <c:pt idx="1">
                    <c:v>Female</c:v>
                  </c:pt>
                  <c:pt idx="2">
                    <c:v>TOTAL</c:v>
                  </c:pt>
                  <c:pt idx="3">
                    <c:v>Male</c:v>
                  </c:pt>
                  <c:pt idx="4">
                    <c:v>Female</c:v>
                  </c:pt>
                  <c:pt idx="5">
                    <c:v>TOTAL</c:v>
                  </c:pt>
                  <c:pt idx="6">
                    <c:v>Male</c:v>
                  </c:pt>
                  <c:pt idx="7">
                    <c:v>Female</c:v>
                  </c:pt>
                  <c:pt idx="8">
                    <c:v>TOTAL</c:v>
                  </c:pt>
                  <c:pt idx="9">
                    <c:v>Male</c:v>
                  </c:pt>
                  <c:pt idx="10">
                    <c:v>Female</c:v>
                  </c:pt>
                  <c:pt idx="11">
                    <c:v>TOTAL</c:v>
                  </c:pt>
                  <c:pt idx="12">
                    <c:v>Male</c:v>
                  </c:pt>
                  <c:pt idx="13">
                    <c:v>Female</c:v>
                  </c:pt>
                  <c:pt idx="14">
                    <c:v>TOTAL</c:v>
                  </c:pt>
                </c:lvl>
                <c:lvl>
                  <c:pt idx="0">
                    <c:v>Grade 7</c:v>
                  </c:pt>
                  <c:pt idx="3">
                    <c:v>Grade 8</c:v>
                  </c:pt>
                  <c:pt idx="6">
                    <c:v>Grade 9</c:v>
                  </c:pt>
                  <c:pt idx="9">
                    <c:v>Grade 10</c:v>
                  </c:pt>
                  <c:pt idx="12">
                    <c:v>TOTAL</c:v>
                  </c:pt>
                </c:lvl>
              </c:multiLvlStrCache>
            </c:multiLvlStrRef>
          </c:cat>
          <c:val>
            <c:numRef>
              <c:f>Sheet1!$B$80:$P$80</c:f>
              <c:numCache>
                <c:formatCode>General</c:formatCode>
                <c:ptCount val="15"/>
                <c:pt idx="0">
                  <c:v>9</c:v>
                </c:pt>
                <c:pt idx="1">
                  <c:v>7</c:v>
                </c:pt>
                <c:pt idx="2">
                  <c:v>16</c:v>
                </c:pt>
                <c:pt idx="3">
                  <c:v>6</c:v>
                </c:pt>
                <c:pt idx="4">
                  <c:v>2</c:v>
                </c:pt>
                <c:pt idx="5">
                  <c:v>8</c:v>
                </c:pt>
                <c:pt idx="6">
                  <c:v>9</c:v>
                </c:pt>
                <c:pt idx="7">
                  <c:v>5</c:v>
                </c:pt>
                <c:pt idx="8">
                  <c:v>14</c:v>
                </c:pt>
                <c:pt idx="9">
                  <c:v>2</c:v>
                </c:pt>
                <c:pt idx="10">
                  <c:v>0</c:v>
                </c:pt>
                <c:pt idx="11">
                  <c:v>2</c:v>
                </c:pt>
                <c:pt idx="12">
                  <c:v>0</c:v>
                </c:pt>
                <c:pt idx="13">
                  <c:v>14</c:v>
                </c:pt>
                <c:pt idx="14">
                  <c:v>14</c:v>
                </c:pt>
              </c:numCache>
            </c:numRef>
          </c:val>
          <c:extLst>
            <c:ext xmlns:c16="http://schemas.microsoft.com/office/drawing/2014/chart" uri="{C3380CC4-5D6E-409C-BE32-E72D297353CC}">
              <c16:uniqueId val="{00000002-327E-4F00-B62F-D6C75B55C2B3}"/>
            </c:ext>
          </c:extLst>
        </c:ser>
        <c:dLbls>
          <c:showLegendKey val="0"/>
          <c:showVal val="1"/>
          <c:showCatName val="0"/>
          <c:showSerName val="0"/>
          <c:showPercent val="0"/>
          <c:showBubbleSize val="0"/>
        </c:dLbls>
        <c:gapWidth val="150"/>
        <c:overlap val="-25"/>
        <c:axId val="1716394832"/>
        <c:axId val="1716385680"/>
      </c:barChart>
      <c:catAx>
        <c:axId val="171639483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716385680"/>
        <c:crosses val="autoZero"/>
        <c:auto val="1"/>
        <c:lblAlgn val="ctr"/>
        <c:lblOffset val="100"/>
        <c:noMultiLvlLbl val="0"/>
      </c:catAx>
      <c:valAx>
        <c:axId val="1716385680"/>
        <c:scaling>
          <c:orientation val="minMax"/>
        </c:scaling>
        <c:delete val="1"/>
        <c:axPos val="l"/>
        <c:numFmt formatCode="General" sourceLinked="1"/>
        <c:majorTickMark val="none"/>
        <c:minorTickMark val="none"/>
        <c:tickLblPos val="nextTo"/>
        <c:crossAx val="17163948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2400" dirty="0"/>
              <a:t>MPS RESULT - 1ST GRADING</a:t>
            </a:r>
          </a:p>
        </c:rich>
      </c:tx>
      <c:overlay val="0"/>
      <c:spPr>
        <a:noFill/>
        <a:ln>
          <a:noFill/>
        </a:ln>
        <a:effectLst/>
      </c:spPr>
      <c:txPr>
        <a:bodyPr rot="0" spcFirstLastPara="1" vertOverflow="ellipsis" vert="horz" wrap="square" anchor="ctr" anchorCtr="1"/>
        <a:lstStyle/>
        <a:p>
          <a:pPr>
            <a:defRPr sz="24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'1ST QRT'!$A$5</c:f>
              <c:strCache>
                <c:ptCount val="1"/>
                <c:pt idx="0">
                  <c:v>GRADE 7</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QRT'!$B$3:$I$4</c:f>
              <c:strCache>
                <c:ptCount val="8"/>
                <c:pt idx="0">
                  <c:v>ENGLISH</c:v>
                </c:pt>
                <c:pt idx="1">
                  <c:v>FILIPINO</c:v>
                </c:pt>
                <c:pt idx="2">
                  <c:v>SCIENCE</c:v>
                </c:pt>
                <c:pt idx="3">
                  <c:v>MATHEMATICS</c:v>
                </c:pt>
                <c:pt idx="4">
                  <c:v>AP</c:v>
                </c:pt>
                <c:pt idx="5">
                  <c:v>TLE</c:v>
                </c:pt>
                <c:pt idx="6">
                  <c:v>MAPEH</c:v>
                </c:pt>
                <c:pt idx="7">
                  <c:v>ESP</c:v>
                </c:pt>
              </c:strCache>
            </c:strRef>
          </c:cat>
          <c:val>
            <c:numRef>
              <c:f>'1ST QRT'!$B$5:$I$5</c:f>
              <c:numCache>
                <c:formatCode>0.00</c:formatCode>
                <c:ptCount val="8"/>
                <c:pt idx="0">
                  <c:v>62.1</c:v>
                </c:pt>
                <c:pt idx="1">
                  <c:v>69.56</c:v>
                </c:pt>
                <c:pt idx="2">
                  <c:v>64.59</c:v>
                </c:pt>
                <c:pt idx="3">
                  <c:v>47.97</c:v>
                </c:pt>
                <c:pt idx="4">
                  <c:v>61.2</c:v>
                </c:pt>
                <c:pt idx="5">
                  <c:v>62.57</c:v>
                </c:pt>
                <c:pt idx="6">
                  <c:v>59.62</c:v>
                </c:pt>
                <c:pt idx="7">
                  <c:v>80.349999999999994</c:v>
                </c:pt>
              </c:numCache>
            </c:numRef>
          </c:val>
          <c:extLst>
            <c:ext xmlns:c16="http://schemas.microsoft.com/office/drawing/2014/chart" uri="{C3380CC4-5D6E-409C-BE32-E72D297353CC}">
              <c16:uniqueId val="{00000000-DA5B-40C4-8F22-F69A28609F79}"/>
            </c:ext>
          </c:extLst>
        </c:ser>
        <c:ser>
          <c:idx val="1"/>
          <c:order val="1"/>
          <c:tx>
            <c:strRef>
              <c:f>'1ST QRT'!$A$6</c:f>
              <c:strCache>
                <c:ptCount val="1"/>
                <c:pt idx="0">
                  <c:v>GRADE 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QRT'!$B$3:$I$4</c:f>
              <c:strCache>
                <c:ptCount val="8"/>
                <c:pt idx="0">
                  <c:v>ENGLISH</c:v>
                </c:pt>
                <c:pt idx="1">
                  <c:v>FILIPINO</c:v>
                </c:pt>
                <c:pt idx="2">
                  <c:v>SCIENCE</c:v>
                </c:pt>
                <c:pt idx="3">
                  <c:v>MATHEMATICS</c:v>
                </c:pt>
                <c:pt idx="4">
                  <c:v>AP</c:v>
                </c:pt>
                <c:pt idx="5">
                  <c:v>TLE</c:v>
                </c:pt>
                <c:pt idx="6">
                  <c:v>MAPEH</c:v>
                </c:pt>
                <c:pt idx="7">
                  <c:v>ESP</c:v>
                </c:pt>
              </c:strCache>
            </c:strRef>
          </c:cat>
          <c:val>
            <c:numRef>
              <c:f>'1ST QRT'!$B$6:$I$6</c:f>
              <c:numCache>
                <c:formatCode>0.00</c:formatCode>
                <c:ptCount val="8"/>
                <c:pt idx="0">
                  <c:v>68.5</c:v>
                </c:pt>
                <c:pt idx="1">
                  <c:v>62.22</c:v>
                </c:pt>
                <c:pt idx="2">
                  <c:v>37.11</c:v>
                </c:pt>
                <c:pt idx="3">
                  <c:v>38.17</c:v>
                </c:pt>
                <c:pt idx="4">
                  <c:v>72.63</c:v>
                </c:pt>
                <c:pt idx="5">
                  <c:v>71.11</c:v>
                </c:pt>
                <c:pt idx="6">
                  <c:v>59.86</c:v>
                </c:pt>
                <c:pt idx="7">
                  <c:v>68.92</c:v>
                </c:pt>
              </c:numCache>
            </c:numRef>
          </c:val>
          <c:extLst>
            <c:ext xmlns:c16="http://schemas.microsoft.com/office/drawing/2014/chart" uri="{C3380CC4-5D6E-409C-BE32-E72D297353CC}">
              <c16:uniqueId val="{00000001-DA5B-40C4-8F22-F69A28609F79}"/>
            </c:ext>
          </c:extLst>
        </c:ser>
        <c:ser>
          <c:idx val="2"/>
          <c:order val="2"/>
          <c:tx>
            <c:strRef>
              <c:f>'1ST QRT'!$A$7</c:f>
              <c:strCache>
                <c:ptCount val="1"/>
                <c:pt idx="0">
                  <c:v>GRADE 9</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QRT'!$B$3:$I$4</c:f>
              <c:strCache>
                <c:ptCount val="8"/>
                <c:pt idx="0">
                  <c:v>ENGLISH</c:v>
                </c:pt>
                <c:pt idx="1">
                  <c:v>FILIPINO</c:v>
                </c:pt>
                <c:pt idx="2">
                  <c:v>SCIENCE</c:v>
                </c:pt>
                <c:pt idx="3">
                  <c:v>MATHEMATICS</c:v>
                </c:pt>
                <c:pt idx="4">
                  <c:v>AP</c:v>
                </c:pt>
                <c:pt idx="5">
                  <c:v>TLE</c:v>
                </c:pt>
                <c:pt idx="6">
                  <c:v>MAPEH</c:v>
                </c:pt>
                <c:pt idx="7">
                  <c:v>ESP</c:v>
                </c:pt>
              </c:strCache>
            </c:strRef>
          </c:cat>
          <c:val>
            <c:numRef>
              <c:f>'1ST QRT'!$B$7:$I$7</c:f>
              <c:numCache>
                <c:formatCode>0.00</c:formatCode>
                <c:ptCount val="8"/>
                <c:pt idx="0">
                  <c:v>71.05</c:v>
                </c:pt>
                <c:pt idx="1">
                  <c:v>54.28</c:v>
                </c:pt>
                <c:pt idx="2">
                  <c:v>53.86</c:v>
                </c:pt>
                <c:pt idx="3">
                  <c:v>62.83</c:v>
                </c:pt>
                <c:pt idx="4">
                  <c:v>63.8</c:v>
                </c:pt>
                <c:pt idx="5">
                  <c:v>66.12</c:v>
                </c:pt>
                <c:pt idx="6">
                  <c:v>72.53</c:v>
                </c:pt>
                <c:pt idx="7">
                  <c:v>79.81</c:v>
                </c:pt>
              </c:numCache>
            </c:numRef>
          </c:val>
          <c:extLst>
            <c:ext xmlns:c16="http://schemas.microsoft.com/office/drawing/2014/chart" uri="{C3380CC4-5D6E-409C-BE32-E72D297353CC}">
              <c16:uniqueId val="{00000002-DA5B-40C4-8F22-F69A28609F79}"/>
            </c:ext>
          </c:extLst>
        </c:ser>
        <c:ser>
          <c:idx val="3"/>
          <c:order val="3"/>
          <c:tx>
            <c:strRef>
              <c:f>'1ST QRT'!$A$8</c:f>
              <c:strCache>
                <c:ptCount val="1"/>
                <c:pt idx="0">
                  <c:v>GRADE 10</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QRT'!$B$3:$I$4</c:f>
              <c:strCache>
                <c:ptCount val="8"/>
                <c:pt idx="0">
                  <c:v>ENGLISH</c:v>
                </c:pt>
                <c:pt idx="1">
                  <c:v>FILIPINO</c:v>
                </c:pt>
                <c:pt idx="2">
                  <c:v>SCIENCE</c:v>
                </c:pt>
                <c:pt idx="3">
                  <c:v>MATHEMATICS</c:v>
                </c:pt>
                <c:pt idx="4">
                  <c:v>AP</c:v>
                </c:pt>
                <c:pt idx="5">
                  <c:v>TLE</c:v>
                </c:pt>
                <c:pt idx="6">
                  <c:v>MAPEH</c:v>
                </c:pt>
                <c:pt idx="7">
                  <c:v>ESP</c:v>
                </c:pt>
              </c:strCache>
            </c:strRef>
          </c:cat>
          <c:val>
            <c:numRef>
              <c:f>'1ST QRT'!$B$8:$I$8</c:f>
              <c:numCache>
                <c:formatCode>0.00</c:formatCode>
                <c:ptCount val="8"/>
                <c:pt idx="0">
                  <c:v>67.900000000000006</c:v>
                </c:pt>
                <c:pt idx="1">
                  <c:v>57.88</c:v>
                </c:pt>
                <c:pt idx="2">
                  <c:v>55.74</c:v>
                </c:pt>
                <c:pt idx="3">
                  <c:v>52.19</c:v>
                </c:pt>
                <c:pt idx="4">
                  <c:v>66.27</c:v>
                </c:pt>
                <c:pt idx="5">
                  <c:v>68.13</c:v>
                </c:pt>
                <c:pt idx="6">
                  <c:v>69.569999999999993</c:v>
                </c:pt>
                <c:pt idx="7">
                  <c:v>55.88</c:v>
                </c:pt>
              </c:numCache>
            </c:numRef>
          </c:val>
          <c:extLst>
            <c:ext xmlns:c16="http://schemas.microsoft.com/office/drawing/2014/chart" uri="{C3380CC4-5D6E-409C-BE32-E72D297353CC}">
              <c16:uniqueId val="{00000003-DA5B-40C4-8F22-F69A28609F79}"/>
            </c:ext>
          </c:extLst>
        </c:ser>
        <c:dLbls>
          <c:showLegendKey val="0"/>
          <c:showVal val="0"/>
          <c:showCatName val="0"/>
          <c:showSerName val="0"/>
          <c:showPercent val="0"/>
          <c:showBubbleSize val="0"/>
        </c:dLbls>
        <c:gapWidth val="150"/>
        <c:axId val="593422272"/>
        <c:axId val="593400224"/>
      </c:barChart>
      <c:catAx>
        <c:axId val="59342227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93400224"/>
        <c:crosses val="autoZero"/>
        <c:auto val="1"/>
        <c:lblAlgn val="ctr"/>
        <c:lblOffset val="100"/>
        <c:noMultiLvlLbl val="0"/>
      </c:catAx>
      <c:valAx>
        <c:axId val="593400224"/>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93422272"/>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0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2400" dirty="0"/>
              <a:t>MPS RESULT - 2ND GRADING</a:t>
            </a:r>
          </a:p>
        </c:rich>
      </c:tx>
      <c:overlay val="0"/>
      <c:spPr>
        <a:noFill/>
        <a:ln>
          <a:noFill/>
        </a:ln>
        <a:effectLst/>
      </c:spPr>
      <c:txPr>
        <a:bodyPr rot="0" spcFirstLastPara="1" vertOverflow="ellipsis" vert="horz" wrap="square" anchor="ctr" anchorCtr="1"/>
        <a:lstStyle/>
        <a:p>
          <a:pPr>
            <a:defRPr sz="24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'1ST QRT'!$A$35</c:f>
              <c:strCache>
                <c:ptCount val="1"/>
                <c:pt idx="0">
                  <c:v>GRADE 7</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QRT'!$B$33:$I$34</c:f>
              <c:strCache>
                <c:ptCount val="8"/>
                <c:pt idx="0">
                  <c:v>ENGLISH</c:v>
                </c:pt>
                <c:pt idx="1">
                  <c:v>FILIPINO</c:v>
                </c:pt>
                <c:pt idx="2">
                  <c:v>SCIENCE</c:v>
                </c:pt>
                <c:pt idx="3">
                  <c:v>MATHEMATICS</c:v>
                </c:pt>
                <c:pt idx="4">
                  <c:v>AP</c:v>
                </c:pt>
                <c:pt idx="5">
                  <c:v>TLE</c:v>
                </c:pt>
                <c:pt idx="6">
                  <c:v>MAPEH</c:v>
                </c:pt>
                <c:pt idx="7">
                  <c:v>ESP</c:v>
                </c:pt>
              </c:strCache>
            </c:strRef>
          </c:cat>
          <c:val>
            <c:numRef>
              <c:f>'1ST QRT'!$B$35:$I$35</c:f>
              <c:numCache>
                <c:formatCode>General</c:formatCode>
                <c:ptCount val="8"/>
                <c:pt idx="0">
                  <c:v>64.95</c:v>
                </c:pt>
                <c:pt idx="1">
                  <c:v>65.52</c:v>
                </c:pt>
                <c:pt idx="2">
                  <c:v>62.39</c:v>
                </c:pt>
                <c:pt idx="3">
                  <c:v>54.32</c:v>
                </c:pt>
                <c:pt idx="4">
                  <c:v>70.209999999999994</c:v>
                </c:pt>
                <c:pt idx="5" formatCode="0.00">
                  <c:v>69.88</c:v>
                </c:pt>
                <c:pt idx="6">
                  <c:v>52.85</c:v>
                </c:pt>
                <c:pt idx="7">
                  <c:v>81.45</c:v>
                </c:pt>
              </c:numCache>
            </c:numRef>
          </c:val>
          <c:extLst>
            <c:ext xmlns:c16="http://schemas.microsoft.com/office/drawing/2014/chart" uri="{C3380CC4-5D6E-409C-BE32-E72D297353CC}">
              <c16:uniqueId val="{00000000-25DD-48AE-8FE9-78087FE51B53}"/>
            </c:ext>
          </c:extLst>
        </c:ser>
        <c:ser>
          <c:idx val="1"/>
          <c:order val="1"/>
          <c:tx>
            <c:strRef>
              <c:f>'1ST QRT'!$A$36</c:f>
              <c:strCache>
                <c:ptCount val="1"/>
                <c:pt idx="0">
                  <c:v>GRADE 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QRT'!$B$33:$I$34</c:f>
              <c:strCache>
                <c:ptCount val="8"/>
                <c:pt idx="0">
                  <c:v>ENGLISH</c:v>
                </c:pt>
                <c:pt idx="1">
                  <c:v>FILIPINO</c:v>
                </c:pt>
                <c:pt idx="2">
                  <c:v>SCIENCE</c:v>
                </c:pt>
                <c:pt idx="3">
                  <c:v>MATHEMATICS</c:v>
                </c:pt>
                <c:pt idx="4">
                  <c:v>AP</c:v>
                </c:pt>
                <c:pt idx="5">
                  <c:v>TLE</c:v>
                </c:pt>
                <c:pt idx="6">
                  <c:v>MAPEH</c:v>
                </c:pt>
                <c:pt idx="7">
                  <c:v>ESP</c:v>
                </c:pt>
              </c:strCache>
            </c:strRef>
          </c:cat>
          <c:val>
            <c:numRef>
              <c:f>'1ST QRT'!$B$36:$I$36</c:f>
              <c:numCache>
                <c:formatCode>General</c:formatCode>
                <c:ptCount val="8"/>
                <c:pt idx="0">
                  <c:v>70.53</c:v>
                </c:pt>
                <c:pt idx="1">
                  <c:v>64.88</c:v>
                </c:pt>
                <c:pt idx="2" formatCode="0.00">
                  <c:v>42.45</c:v>
                </c:pt>
                <c:pt idx="3">
                  <c:v>51.29</c:v>
                </c:pt>
                <c:pt idx="4">
                  <c:v>71.42</c:v>
                </c:pt>
                <c:pt idx="5">
                  <c:v>70.44</c:v>
                </c:pt>
                <c:pt idx="6">
                  <c:v>59.48</c:v>
                </c:pt>
                <c:pt idx="7">
                  <c:v>71.209999999999994</c:v>
                </c:pt>
              </c:numCache>
            </c:numRef>
          </c:val>
          <c:extLst>
            <c:ext xmlns:c16="http://schemas.microsoft.com/office/drawing/2014/chart" uri="{C3380CC4-5D6E-409C-BE32-E72D297353CC}">
              <c16:uniqueId val="{00000001-25DD-48AE-8FE9-78087FE51B53}"/>
            </c:ext>
          </c:extLst>
        </c:ser>
        <c:ser>
          <c:idx val="2"/>
          <c:order val="2"/>
          <c:tx>
            <c:strRef>
              <c:f>'1ST QRT'!$A$37</c:f>
              <c:strCache>
                <c:ptCount val="1"/>
                <c:pt idx="0">
                  <c:v>GRADE 9</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QRT'!$B$33:$I$34</c:f>
              <c:strCache>
                <c:ptCount val="8"/>
                <c:pt idx="0">
                  <c:v>ENGLISH</c:v>
                </c:pt>
                <c:pt idx="1">
                  <c:v>FILIPINO</c:v>
                </c:pt>
                <c:pt idx="2">
                  <c:v>SCIENCE</c:v>
                </c:pt>
                <c:pt idx="3">
                  <c:v>MATHEMATICS</c:v>
                </c:pt>
                <c:pt idx="4">
                  <c:v>AP</c:v>
                </c:pt>
                <c:pt idx="5">
                  <c:v>TLE</c:v>
                </c:pt>
                <c:pt idx="6">
                  <c:v>MAPEH</c:v>
                </c:pt>
                <c:pt idx="7">
                  <c:v>ESP</c:v>
                </c:pt>
              </c:strCache>
            </c:strRef>
          </c:cat>
          <c:val>
            <c:numRef>
              <c:f>'1ST QRT'!$B$37:$I$37</c:f>
              <c:numCache>
                <c:formatCode>0.00</c:formatCode>
                <c:ptCount val="8"/>
                <c:pt idx="0">
                  <c:v>71.41</c:v>
                </c:pt>
                <c:pt idx="1">
                  <c:v>66.25</c:v>
                </c:pt>
                <c:pt idx="2" formatCode="General">
                  <c:v>63.58</c:v>
                </c:pt>
                <c:pt idx="3" formatCode="General">
                  <c:v>55.9</c:v>
                </c:pt>
                <c:pt idx="4">
                  <c:v>59.52</c:v>
                </c:pt>
                <c:pt idx="5">
                  <c:v>67.67</c:v>
                </c:pt>
                <c:pt idx="6" formatCode="General">
                  <c:v>69.36</c:v>
                </c:pt>
                <c:pt idx="7" formatCode="General">
                  <c:v>79.819999999999993</c:v>
                </c:pt>
              </c:numCache>
            </c:numRef>
          </c:val>
          <c:extLst>
            <c:ext xmlns:c16="http://schemas.microsoft.com/office/drawing/2014/chart" uri="{C3380CC4-5D6E-409C-BE32-E72D297353CC}">
              <c16:uniqueId val="{00000002-25DD-48AE-8FE9-78087FE51B53}"/>
            </c:ext>
          </c:extLst>
        </c:ser>
        <c:ser>
          <c:idx val="3"/>
          <c:order val="3"/>
          <c:tx>
            <c:strRef>
              <c:f>'1ST QRT'!$A$38</c:f>
              <c:strCache>
                <c:ptCount val="1"/>
                <c:pt idx="0">
                  <c:v>GRADE 10</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'1ST QRT'!$B$33:$I$34</c:f>
              <c:strCache>
                <c:ptCount val="8"/>
                <c:pt idx="0">
                  <c:v>ENGLISH</c:v>
                </c:pt>
                <c:pt idx="1">
                  <c:v>FILIPINO</c:v>
                </c:pt>
                <c:pt idx="2">
                  <c:v>SCIENCE</c:v>
                </c:pt>
                <c:pt idx="3">
                  <c:v>MATHEMATICS</c:v>
                </c:pt>
                <c:pt idx="4">
                  <c:v>AP</c:v>
                </c:pt>
                <c:pt idx="5">
                  <c:v>TLE</c:v>
                </c:pt>
                <c:pt idx="6">
                  <c:v>MAPEH</c:v>
                </c:pt>
                <c:pt idx="7">
                  <c:v>ESP</c:v>
                </c:pt>
              </c:strCache>
            </c:strRef>
          </c:cat>
          <c:val>
            <c:numRef>
              <c:f>'1ST QRT'!$B$38:$I$38</c:f>
              <c:numCache>
                <c:formatCode>0.00</c:formatCode>
                <c:ptCount val="8"/>
                <c:pt idx="0" formatCode="General">
                  <c:v>67.930000000000007</c:v>
                </c:pt>
                <c:pt idx="1">
                  <c:v>64</c:v>
                </c:pt>
                <c:pt idx="2" formatCode="General">
                  <c:v>56.99</c:v>
                </c:pt>
                <c:pt idx="3" formatCode="General">
                  <c:v>50.44</c:v>
                </c:pt>
                <c:pt idx="4">
                  <c:v>66.37</c:v>
                </c:pt>
                <c:pt idx="5">
                  <c:v>64.34</c:v>
                </c:pt>
                <c:pt idx="6" formatCode="General">
                  <c:v>63.77</c:v>
                </c:pt>
                <c:pt idx="7" formatCode="General">
                  <c:v>66.900000000000006</c:v>
                </c:pt>
              </c:numCache>
            </c:numRef>
          </c:val>
          <c:extLst>
            <c:ext xmlns:c16="http://schemas.microsoft.com/office/drawing/2014/chart" uri="{C3380CC4-5D6E-409C-BE32-E72D297353CC}">
              <c16:uniqueId val="{00000003-25DD-48AE-8FE9-78087FE51B53}"/>
            </c:ext>
          </c:extLst>
        </c:ser>
        <c:dLbls>
          <c:showLegendKey val="0"/>
          <c:showVal val="0"/>
          <c:showCatName val="0"/>
          <c:showSerName val="0"/>
          <c:showPercent val="0"/>
          <c:showBubbleSize val="0"/>
        </c:dLbls>
        <c:gapWidth val="150"/>
        <c:axId val="591514768"/>
        <c:axId val="591521424"/>
      </c:barChart>
      <c:catAx>
        <c:axId val="59151476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endParaRPr lang="en-US"/>
          </a:p>
        </c:txPr>
        <c:crossAx val="591521424"/>
        <c:crosses val="autoZero"/>
        <c:auto val="1"/>
        <c:lblAlgn val="ctr"/>
        <c:lblOffset val="100"/>
        <c:noMultiLvlLbl val="0"/>
      </c:catAx>
      <c:valAx>
        <c:axId val="59152142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endParaRPr lang="en-US"/>
          </a:p>
        </c:txPr>
        <c:crossAx val="591514768"/>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0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0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2400"/>
              <a:t>MPS Result 3rd Quarter</a:t>
            </a:r>
          </a:p>
        </c:rich>
      </c:tx>
      <c:overlay val="0"/>
      <c:spPr>
        <a:noFill/>
        <a:ln>
          <a:noFill/>
        </a:ln>
        <a:effectLst/>
      </c:spPr>
      <c:txPr>
        <a:bodyPr rot="0" spcFirstLastPara="1" vertOverflow="ellipsis" vert="horz" wrap="square" anchor="ctr" anchorCtr="1"/>
        <a:lstStyle/>
        <a:p>
          <a:pPr>
            <a:defRPr sz="24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'3RD QRT'!$A$2</c:f>
              <c:strCache>
                <c:ptCount val="1"/>
                <c:pt idx="0">
                  <c:v>GRADE 7</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'3RD QRT'!$B$1:$M$1</c:f>
              <c:strCache>
                <c:ptCount val="8"/>
                <c:pt idx="0">
                  <c:v>ENGLISH</c:v>
                </c:pt>
                <c:pt idx="1">
                  <c:v>FILIPINO</c:v>
                </c:pt>
                <c:pt idx="2">
                  <c:v>SCIENCE</c:v>
                </c:pt>
                <c:pt idx="3">
                  <c:v>MATHEMATICS</c:v>
                </c:pt>
                <c:pt idx="4">
                  <c:v>AP</c:v>
                </c:pt>
                <c:pt idx="5">
                  <c:v>TLE</c:v>
                </c:pt>
                <c:pt idx="6">
                  <c:v>MAPEH</c:v>
                </c:pt>
                <c:pt idx="7">
                  <c:v>ESP</c:v>
                </c:pt>
              </c:strCache>
            </c:strRef>
          </c:cat>
          <c:val>
            <c:numRef>
              <c:f>'3RD QRT'!$B$2:$M$2</c:f>
              <c:numCache>
                <c:formatCode>General</c:formatCode>
                <c:ptCount val="8"/>
                <c:pt idx="0">
                  <c:v>68.05</c:v>
                </c:pt>
                <c:pt idx="1">
                  <c:v>81.91</c:v>
                </c:pt>
                <c:pt idx="2">
                  <c:v>70.56</c:v>
                </c:pt>
                <c:pt idx="3">
                  <c:v>61.13</c:v>
                </c:pt>
                <c:pt idx="4">
                  <c:v>71.94</c:v>
                </c:pt>
                <c:pt idx="5">
                  <c:v>71.28</c:v>
                </c:pt>
                <c:pt idx="6">
                  <c:v>65.8</c:v>
                </c:pt>
                <c:pt idx="7">
                  <c:v>92.13</c:v>
                </c:pt>
              </c:numCache>
            </c:numRef>
          </c:val>
          <c:extLst>
            <c:ext xmlns:c16="http://schemas.microsoft.com/office/drawing/2014/chart" uri="{C3380CC4-5D6E-409C-BE32-E72D297353CC}">
              <c16:uniqueId val="{00000000-B551-47E8-BB01-2D4A4834BFB5}"/>
            </c:ext>
          </c:extLst>
        </c:ser>
        <c:ser>
          <c:idx val="1"/>
          <c:order val="1"/>
          <c:tx>
            <c:strRef>
              <c:f>'3RD QRT'!$A$3</c:f>
              <c:strCache>
                <c:ptCount val="1"/>
                <c:pt idx="0">
                  <c:v>GRADE 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'3RD QRT'!$B$1:$M$1</c:f>
              <c:strCache>
                <c:ptCount val="8"/>
                <c:pt idx="0">
                  <c:v>ENGLISH</c:v>
                </c:pt>
                <c:pt idx="1">
                  <c:v>FILIPINO</c:v>
                </c:pt>
                <c:pt idx="2">
                  <c:v>SCIENCE</c:v>
                </c:pt>
                <c:pt idx="3">
                  <c:v>MATHEMATICS</c:v>
                </c:pt>
                <c:pt idx="4">
                  <c:v>AP</c:v>
                </c:pt>
                <c:pt idx="5">
                  <c:v>TLE</c:v>
                </c:pt>
                <c:pt idx="6">
                  <c:v>MAPEH</c:v>
                </c:pt>
                <c:pt idx="7">
                  <c:v>ESP</c:v>
                </c:pt>
              </c:strCache>
            </c:strRef>
          </c:cat>
          <c:val>
            <c:numRef>
              <c:f>'3RD QRT'!$B$3:$M$3</c:f>
              <c:numCache>
                <c:formatCode>General</c:formatCode>
                <c:ptCount val="8"/>
                <c:pt idx="0">
                  <c:v>74.27</c:v>
                </c:pt>
                <c:pt idx="1">
                  <c:v>61.2</c:v>
                </c:pt>
                <c:pt idx="2">
                  <c:v>46.02</c:v>
                </c:pt>
                <c:pt idx="3">
                  <c:v>65.27</c:v>
                </c:pt>
                <c:pt idx="4">
                  <c:v>71.42</c:v>
                </c:pt>
                <c:pt idx="5">
                  <c:v>82.24</c:v>
                </c:pt>
                <c:pt idx="6">
                  <c:v>72.89</c:v>
                </c:pt>
                <c:pt idx="7">
                  <c:v>66.41</c:v>
                </c:pt>
              </c:numCache>
            </c:numRef>
          </c:val>
          <c:extLst>
            <c:ext xmlns:c16="http://schemas.microsoft.com/office/drawing/2014/chart" uri="{C3380CC4-5D6E-409C-BE32-E72D297353CC}">
              <c16:uniqueId val="{00000001-B551-47E8-BB01-2D4A4834BFB5}"/>
            </c:ext>
          </c:extLst>
        </c:ser>
        <c:ser>
          <c:idx val="2"/>
          <c:order val="2"/>
          <c:tx>
            <c:strRef>
              <c:f>'3RD QRT'!$A$4</c:f>
              <c:strCache>
                <c:ptCount val="1"/>
                <c:pt idx="0">
                  <c:v>GRADE 9</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'3RD QRT'!$B$1:$M$1</c:f>
              <c:strCache>
                <c:ptCount val="8"/>
                <c:pt idx="0">
                  <c:v>ENGLISH</c:v>
                </c:pt>
                <c:pt idx="1">
                  <c:v>FILIPINO</c:v>
                </c:pt>
                <c:pt idx="2">
                  <c:v>SCIENCE</c:v>
                </c:pt>
                <c:pt idx="3">
                  <c:v>MATHEMATICS</c:v>
                </c:pt>
                <c:pt idx="4">
                  <c:v>AP</c:v>
                </c:pt>
                <c:pt idx="5">
                  <c:v>TLE</c:v>
                </c:pt>
                <c:pt idx="6">
                  <c:v>MAPEH</c:v>
                </c:pt>
                <c:pt idx="7">
                  <c:v>ESP</c:v>
                </c:pt>
              </c:strCache>
            </c:strRef>
          </c:cat>
          <c:val>
            <c:numRef>
              <c:f>'3RD QRT'!$B$4:$M$4</c:f>
              <c:numCache>
                <c:formatCode>General</c:formatCode>
                <c:ptCount val="8"/>
                <c:pt idx="0">
                  <c:v>71.59</c:v>
                </c:pt>
                <c:pt idx="1">
                  <c:v>74.53</c:v>
                </c:pt>
                <c:pt idx="2">
                  <c:v>61.12</c:v>
                </c:pt>
                <c:pt idx="3">
                  <c:v>68.91</c:v>
                </c:pt>
                <c:pt idx="4">
                  <c:v>69.900000000000006</c:v>
                </c:pt>
                <c:pt idx="5">
                  <c:v>68.125</c:v>
                </c:pt>
                <c:pt idx="6">
                  <c:v>78.900000000000006</c:v>
                </c:pt>
                <c:pt idx="7">
                  <c:v>83.79</c:v>
                </c:pt>
              </c:numCache>
            </c:numRef>
          </c:val>
          <c:extLst>
            <c:ext xmlns:c16="http://schemas.microsoft.com/office/drawing/2014/chart" uri="{C3380CC4-5D6E-409C-BE32-E72D297353CC}">
              <c16:uniqueId val="{00000002-B551-47E8-BB01-2D4A4834BFB5}"/>
            </c:ext>
          </c:extLst>
        </c:ser>
        <c:ser>
          <c:idx val="3"/>
          <c:order val="3"/>
          <c:tx>
            <c:strRef>
              <c:f>'3RD QRT'!$A$5</c:f>
              <c:strCache>
                <c:ptCount val="1"/>
                <c:pt idx="0">
                  <c:v>GRADE 10</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'3RD QRT'!$B$1:$M$1</c:f>
              <c:strCache>
                <c:ptCount val="8"/>
                <c:pt idx="0">
                  <c:v>ENGLISH</c:v>
                </c:pt>
                <c:pt idx="1">
                  <c:v>FILIPINO</c:v>
                </c:pt>
                <c:pt idx="2">
                  <c:v>SCIENCE</c:v>
                </c:pt>
                <c:pt idx="3">
                  <c:v>MATHEMATICS</c:v>
                </c:pt>
                <c:pt idx="4">
                  <c:v>AP</c:v>
                </c:pt>
                <c:pt idx="5">
                  <c:v>TLE</c:v>
                </c:pt>
                <c:pt idx="6">
                  <c:v>MAPEH</c:v>
                </c:pt>
                <c:pt idx="7">
                  <c:v>ESP</c:v>
                </c:pt>
              </c:strCache>
            </c:strRef>
          </c:cat>
          <c:val>
            <c:numRef>
              <c:f>'3RD QRT'!$B$5:$M$5</c:f>
              <c:numCache>
                <c:formatCode>General</c:formatCode>
                <c:ptCount val="8"/>
                <c:pt idx="0">
                  <c:v>70.44</c:v>
                </c:pt>
                <c:pt idx="1">
                  <c:v>72.540000000000006</c:v>
                </c:pt>
                <c:pt idx="2">
                  <c:v>60.28</c:v>
                </c:pt>
                <c:pt idx="3">
                  <c:v>51.73</c:v>
                </c:pt>
                <c:pt idx="4">
                  <c:v>71.150000000000006</c:v>
                </c:pt>
                <c:pt idx="5">
                  <c:v>67.841999999999999</c:v>
                </c:pt>
                <c:pt idx="6">
                  <c:v>74.760000000000005</c:v>
                </c:pt>
                <c:pt idx="7">
                  <c:v>68.28</c:v>
                </c:pt>
              </c:numCache>
            </c:numRef>
          </c:val>
          <c:extLst>
            <c:ext xmlns:c16="http://schemas.microsoft.com/office/drawing/2014/chart" uri="{C3380CC4-5D6E-409C-BE32-E72D297353CC}">
              <c16:uniqueId val="{00000003-B551-47E8-BB01-2D4A4834BFB5}"/>
            </c:ext>
          </c:extLst>
        </c:ser>
        <c:dLbls>
          <c:showLegendKey val="0"/>
          <c:showVal val="0"/>
          <c:showCatName val="0"/>
          <c:showSerName val="0"/>
          <c:showPercent val="0"/>
          <c:showBubbleSize val="0"/>
        </c:dLbls>
        <c:gapWidth val="100"/>
        <c:overlap val="-24"/>
        <c:axId val="438796656"/>
        <c:axId val="438799984"/>
      </c:barChart>
      <c:catAx>
        <c:axId val="4387966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38799984"/>
        <c:crosses val="autoZero"/>
        <c:auto val="1"/>
        <c:lblAlgn val="ctr"/>
        <c:lblOffset val="100"/>
        <c:noMultiLvlLbl val="0"/>
      </c:catAx>
      <c:valAx>
        <c:axId val="43879998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38796656"/>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9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Quarter 1</a:t>
            </a:r>
          </a:p>
        </c:rich>
      </c:tx>
      <c:overlay val="0"/>
      <c:spPr>
        <a:noFill/>
        <a:ln>
          <a:noFill/>
        </a:ln>
        <a:effectLst/>
      </c:spPr>
      <c:txPr>
        <a:bodyPr rot="0" spcFirstLastPara="1" vertOverflow="ellipsis" vert="horz" wrap="square" anchor="ctr" anchorCtr="1"/>
        <a:lstStyle/>
        <a:p>
          <a:pPr>
            <a:defRPr sz="144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Sheet2!$A$5</c:f>
              <c:strCache>
                <c:ptCount val="1"/>
                <c:pt idx="0">
                  <c:v>Grade 7</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Sheet2!$B$2:$Y$4</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Sheet2!$B$5:$Y$5</c:f>
              <c:numCache>
                <c:formatCode>General</c:formatCode>
                <c:ptCount val="24"/>
                <c:pt idx="0">
                  <c:v>1</c:v>
                </c:pt>
                <c:pt idx="1">
                  <c:v>1</c:v>
                </c:pt>
                <c:pt idx="2">
                  <c:v>2</c:v>
                </c:pt>
                <c:pt idx="3">
                  <c:v>2</c:v>
                </c:pt>
                <c:pt idx="4">
                  <c:v>1</c:v>
                </c:pt>
                <c:pt idx="5">
                  <c:v>3</c:v>
                </c:pt>
                <c:pt idx="6">
                  <c:v>4</c:v>
                </c:pt>
                <c:pt idx="7">
                  <c:v>2</c:v>
                </c:pt>
                <c:pt idx="8">
                  <c:v>6</c:v>
                </c:pt>
                <c:pt idx="9">
                  <c:v>10</c:v>
                </c:pt>
                <c:pt idx="10">
                  <c:v>9</c:v>
                </c:pt>
                <c:pt idx="11">
                  <c:v>19</c:v>
                </c:pt>
                <c:pt idx="12">
                  <c:v>16</c:v>
                </c:pt>
                <c:pt idx="13">
                  <c:v>5</c:v>
                </c:pt>
                <c:pt idx="14">
                  <c:v>21</c:v>
                </c:pt>
                <c:pt idx="15">
                  <c:v>0</c:v>
                </c:pt>
                <c:pt idx="16">
                  <c:v>0</c:v>
                </c:pt>
                <c:pt idx="17">
                  <c:v>0</c:v>
                </c:pt>
                <c:pt idx="18">
                  <c:v>7</c:v>
                </c:pt>
                <c:pt idx="19">
                  <c:v>6</c:v>
                </c:pt>
                <c:pt idx="20">
                  <c:v>13</c:v>
                </c:pt>
                <c:pt idx="21">
                  <c:v>4</c:v>
                </c:pt>
                <c:pt idx="22">
                  <c:v>0</c:v>
                </c:pt>
                <c:pt idx="23">
                  <c:v>4</c:v>
                </c:pt>
              </c:numCache>
            </c:numRef>
          </c:val>
          <c:extLst>
            <c:ext xmlns:c16="http://schemas.microsoft.com/office/drawing/2014/chart" uri="{C3380CC4-5D6E-409C-BE32-E72D297353CC}">
              <c16:uniqueId val="{00000000-FD58-4CC0-BAE3-525DA7C15A2E}"/>
            </c:ext>
          </c:extLst>
        </c:ser>
        <c:ser>
          <c:idx val="1"/>
          <c:order val="1"/>
          <c:tx>
            <c:strRef>
              <c:f>Sheet2!$A$6</c:f>
              <c:strCache>
                <c:ptCount val="1"/>
                <c:pt idx="0">
                  <c:v>Grade 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Sheet2!$B$2:$Y$4</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Sheet2!$B$6:$Y$6</c:f>
              <c:numCache>
                <c:formatCode>General</c:formatCode>
                <c:ptCount val="24"/>
                <c:pt idx="0">
                  <c:v>7</c:v>
                </c:pt>
                <c:pt idx="1">
                  <c:v>4</c:v>
                </c:pt>
                <c:pt idx="2">
                  <c:v>11</c:v>
                </c:pt>
                <c:pt idx="3">
                  <c:v>3</c:v>
                </c:pt>
                <c:pt idx="4">
                  <c:v>3</c:v>
                </c:pt>
                <c:pt idx="5">
                  <c:v>6</c:v>
                </c:pt>
                <c:pt idx="6">
                  <c:v>3</c:v>
                </c:pt>
                <c:pt idx="7">
                  <c:v>4</c:v>
                </c:pt>
                <c:pt idx="8">
                  <c:v>7</c:v>
                </c:pt>
                <c:pt idx="9">
                  <c:v>5</c:v>
                </c:pt>
                <c:pt idx="10">
                  <c:v>2</c:v>
                </c:pt>
                <c:pt idx="11">
                  <c:v>7</c:v>
                </c:pt>
                <c:pt idx="12">
                  <c:v>18</c:v>
                </c:pt>
                <c:pt idx="13">
                  <c:v>8</c:v>
                </c:pt>
                <c:pt idx="14">
                  <c:v>26</c:v>
                </c:pt>
                <c:pt idx="15">
                  <c:v>0</c:v>
                </c:pt>
                <c:pt idx="16">
                  <c:v>0</c:v>
                </c:pt>
                <c:pt idx="17">
                  <c:v>0</c:v>
                </c:pt>
                <c:pt idx="18">
                  <c:v>1</c:v>
                </c:pt>
                <c:pt idx="19">
                  <c:v>2</c:v>
                </c:pt>
                <c:pt idx="20">
                  <c:v>3</c:v>
                </c:pt>
                <c:pt idx="21">
                  <c:v>0</c:v>
                </c:pt>
                <c:pt idx="22">
                  <c:v>0</c:v>
                </c:pt>
                <c:pt idx="23">
                  <c:v>0</c:v>
                </c:pt>
              </c:numCache>
            </c:numRef>
          </c:val>
          <c:extLst>
            <c:ext xmlns:c16="http://schemas.microsoft.com/office/drawing/2014/chart" uri="{C3380CC4-5D6E-409C-BE32-E72D297353CC}">
              <c16:uniqueId val="{00000001-FD58-4CC0-BAE3-525DA7C15A2E}"/>
            </c:ext>
          </c:extLst>
        </c:ser>
        <c:ser>
          <c:idx val="2"/>
          <c:order val="2"/>
          <c:tx>
            <c:strRef>
              <c:f>Sheet2!$A$7</c:f>
              <c:strCache>
                <c:ptCount val="1"/>
                <c:pt idx="0">
                  <c:v>Grade 9</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Sheet2!$B$2:$Y$4</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Sheet2!$B$7:$Y$7</c:f>
              <c:numCache>
                <c:formatCode>General</c:formatCode>
                <c:ptCount val="24"/>
                <c:pt idx="0">
                  <c:v>2</c:v>
                </c:pt>
                <c:pt idx="1">
                  <c:v>0</c:v>
                </c:pt>
                <c:pt idx="2">
                  <c:v>2</c:v>
                </c:pt>
                <c:pt idx="3">
                  <c:v>2</c:v>
                </c:pt>
                <c:pt idx="4">
                  <c:v>1</c:v>
                </c:pt>
                <c:pt idx="5">
                  <c:v>3</c:v>
                </c:pt>
                <c:pt idx="6">
                  <c:v>4</c:v>
                </c:pt>
                <c:pt idx="7">
                  <c:v>1</c:v>
                </c:pt>
                <c:pt idx="8">
                  <c:v>5</c:v>
                </c:pt>
                <c:pt idx="9">
                  <c:v>1</c:v>
                </c:pt>
                <c:pt idx="10">
                  <c:v>0</c:v>
                </c:pt>
                <c:pt idx="11">
                  <c:v>1</c:v>
                </c:pt>
                <c:pt idx="12">
                  <c:v>7</c:v>
                </c:pt>
                <c:pt idx="13">
                  <c:v>2</c:v>
                </c:pt>
                <c:pt idx="14">
                  <c:v>9</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2-FD58-4CC0-BAE3-525DA7C15A2E}"/>
            </c:ext>
          </c:extLst>
        </c:ser>
        <c:ser>
          <c:idx val="3"/>
          <c:order val="3"/>
          <c:tx>
            <c:strRef>
              <c:f>Sheet2!$A$8</c:f>
              <c:strCache>
                <c:ptCount val="1"/>
                <c:pt idx="0">
                  <c:v>Grade 10</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Sheet2!$B$2:$Y$4</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Sheet2!$B$8:$Y$8</c:f>
              <c:numCache>
                <c:formatCode>General</c:formatCode>
                <c:ptCount val="24"/>
                <c:pt idx="0">
                  <c:v>15</c:v>
                </c:pt>
                <c:pt idx="1">
                  <c:v>8</c:v>
                </c:pt>
                <c:pt idx="2">
                  <c:v>23</c:v>
                </c:pt>
                <c:pt idx="3">
                  <c:v>10</c:v>
                </c:pt>
                <c:pt idx="4">
                  <c:v>2</c:v>
                </c:pt>
                <c:pt idx="5">
                  <c:v>12</c:v>
                </c:pt>
                <c:pt idx="6">
                  <c:v>27</c:v>
                </c:pt>
                <c:pt idx="7">
                  <c:v>4</c:v>
                </c:pt>
                <c:pt idx="8">
                  <c:v>31</c:v>
                </c:pt>
                <c:pt idx="9">
                  <c:v>9</c:v>
                </c:pt>
                <c:pt idx="10">
                  <c:v>2</c:v>
                </c:pt>
                <c:pt idx="11">
                  <c:v>11</c:v>
                </c:pt>
                <c:pt idx="12">
                  <c:v>8</c:v>
                </c:pt>
                <c:pt idx="13">
                  <c:v>3</c:v>
                </c:pt>
                <c:pt idx="14">
                  <c:v>11</c:v>
                </c:pt>
                <c:pt idx="15">
                  <c:v>0</c:v>
                </c:pt>
                <c:pt idx="16">
                  <c:v>0</c:v>
                </c:pt>
                <c:pt idx="17">
                  <c:v>0</c:v>
                </c:pt>
                <c:pt idx="18">
                  <c:v>2</c:v>
                </c:pt>
                <c:pt idx="19">
                  <c:v>0</c:v>
                </c:pt>
                <c:pt idx="20">
                  <c:v>2</c:v>
                </c:pt>
                <c:pt idx="21">
                  <c:v>1</c:v>
                </c:pt>
                <c:pt idx="22">
                  <c:v>1</c:v>
                </c:pt>
                <c:pt idx="23">
                  <c:v>2</c:v>
                </c:pt>
              </c:numCache>
            </c:numRef>
          </c:val>
          <c:extLst>
            <c:ext xmlns:c16="http://schemas.microsoft.com/office/drawing/2014/chart" uri="{C3380CC4-5D6E-409C-BE32-E72D297353CC}">
              <c16:uniqueId val="{00000003-FD58-4CC0-BAE3-525DA7C15A2E}"/>
            </c:ext>
          </c:extLst>
        </c:ser>
        <c:ser>
          <c:idx val="4"/>
          <c:order val="4"/>
          <c:tx>
            <c:strRef>
              <c:f>Sheet2!$A$9</c:f>
              <c:strCache>
                <c:ptCount val="1"/>
                <c:pt idx="0">
                  <c:v>TOTAL</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Sheet2!$B$2:$Y$4</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Sheet2!$B$9:$Y$9</c:f>
              <c:numCache>
                <c:formatCode>General</c:formatCode>
                <c:ptCount val="24"/>
                <c:pt idx="0">
                  <c:v>25</c:v>
                </c:pt>
                <c:pt idx="1">
                  <c:v>13</c:v>
                </c:pt>
                <c:pt idx="2">
                  <c:v>38</c:v>
                </c:pt>
                <c:pt idx="3">
                  <c:v>17</c:v>
                </c:pt>
                <c:pt idx="4">
                  <c:v>7</c:v>
                </c:pt>
                <c:pt idx="5">
                  <c:v>24</c:v>
                </c:pt>
                <c:pt idx="6">
                  <c:v>38</c:v>
                </c:pt>
                <c:pt idx="7">
                  <c:v>11</c:v>
                </c:pt>
                <c:pt idx="8">
                  <c:v>49</c:v>
                </c:pt>
                <c:pt idx="9">
                  <c:v>25</c:v>
                </c:pt>
                <c:pt idx="10">
                  <c:v>13</c:v>
                </c:pt>
                <c:pt idx="11">
                  <c:v>38</c:v>
                </c:pt>
                <c:pt idx="12">
                  <c:v>49</c:v>
                </c:pt>
                <c:pt idx="13">
                  <c:v>18</c:v>
                </c:pt>
                <c:pt idx="14">
                  <c:v>67</c:v>
                </c:pt>
                <c:pt idx="15">
                  <c:v>0</c:v>
                </c:pt>
                <c:pt idx="16">
                  <c:v>0</c:v>
                </c:pt>
                <c:pt idx="17">
                  <c:v>0</c:v>
                </c:pt>
                <c:pt idx="18">
                  <c:v>10</c:v>
                </c:pt>
                <c:pt idx="19">
                  <c:v>8</c:v>
                </c:pt>
                <c:pt idx="20">
                  <c:v>18</c:v>
                </c:pt>
                <c:pt idx="21">
                  <c:v>5</c:v>
                </c:pt>
                <c:pt idx="22">
                  <c:v>1</c:v>
                </c:pt>
                <c:pt idx="23">
                  <c:v>6</c:v>
                </c:pt>
              </c:numCache>
            </c:numRef>
          </c:val>
          <c:extLst>
            <c:ext xmlns:c16="http://schemas.microsoft.com/office/drawing/2014/chart" uri="{C3380CC4-5D6E-409C-BE32-E72D297353CC}">
              <c16:uniqueId val="{00000004-FD58-4CC0-BAE3-525DA7C15A2E}"/>
            </c:ext>
          </c:extLst>
        </c:ser>
        <c:dLbls>
          <c:showLegendKey val="0"/>
          <c:showVal val="0"/>
          <c:showCatName val="0"/>
          <c:showSerName val="0"/>
          <c:showPercent val="0"/>
          <c:showBubbleSize val="0"/>
        </c:dLbls>
        <c:gapWidth val="100"/>
        <c:overlap val="-24"/>
        <c:axId val="564066960"/>
        <c:axId val="564048240"/>
      </c:barChart>
      <c:catAx>
        <c:axId val="56406696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564048240"/>
        <c:crosses val="autoZero"/>
        <c:auto val="1"/>
        <c:lblAlgn val="ctr"/>
        <c:lblOffset val="100"/>
        <c:noMultiLvlLbl val="0"/>
      </c:catAx>
      <c:valAx>
        <c:axId val="56404824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564066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200"/>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Quarter 2</a:t>
            </a:r>
          </a:p>
        </c:rich>
      </c:tx>
      <c:overlay val="0"/>
      <c:spPr>
        <a:noFill/>
        <a:ln>
          <a:noFill/>
        </a:ln>
        <a:effectLst/>
      </c:spPr>
      <c:txPr>
        <a:bodyPr rot="0" spcFirstLastPara="1" vertOverflow="ellipsis" vert="horz" wrap="square" anchor="ctr" anchorCtr="1"/>
        <a:lstStyle/>
        <a:p>
          <a:pPr>
            <a:defRPr sz="144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Sheet2!$A$38</c:f>
              <c:strCache>
                <c:ptCount val="1"/>
                <c:pt idx="0">
                  <c:v>Grade 7</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Sheet2!$B$35:$Y$37</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Sheet2!$B$38:$Y$38</c:f>
              <c:numCache>
                <c:formatCode>General</c:formatCode>
                <c:ptCount val="24"/>
                <c:pt idx="0">
                  <c:v>2</c:v>
                </c:pt>
                <c:pt idx="1">
                  <c:v>2</c:v>
                </c:pt>
                <c:pt idx="2">
                  <c:v>4</c:v>
                </c:pt>
                <c:pt idx="3">
                  <c:v>12</c:v>
                </c:pt>
                <c:pt idx="4">
                  <c:v>3</c:v>
                </c:pt>
                <c:pt idx="5">
                  <c:v>15</c:v>
                </c:pt>
                <c:pt idx="6">
                  <c:v>12</c:v>
                </c:pt>
                <c:pt idx="7">
                  <c:v>4</c:v>
                </c:pt>
                <c:pt idx="8">
                  <c:v>16</c:v>
                </c:pt>
                <c:pt idx="9">
                  <c:v>9</c:v>
                </c:pt>
                <c:pt idx="10">
                  <c:v>8</c:v>
                </c:pt>
                <c:pt idx="11">
                  <c:v>17</c:v>
                </c:pt>
                <c:pt idx="12">
                  <c:v>19</c:v>
                </c:pt>
                <c:pt idx="13">
                  <c:v>8</c:v>
                </c:pt>
                <c:pt idx="14">
                  <c:v>27</c:v>
                </c:pt>
                <c:pt idx="15">
                  <c:v>2</c:v>
                </c:pt>
                <c:pt idx="16">
                  <c:v>1</c:v>
                </c:pt>
                <c:pt idx="17">
                  <c:v>3</c:v>
                </c:pt>
                <c:pt idx="18">
                  <c:v>4</c:v>
                </c:pt>
                <c:pt idx="19">
                  <c:v>2</c:v>
                </c:pt>
                <c:pt idx="20">
                  <c:v>6</c:v>
                </c:pt>
                <c:pt idx="21">
                  <c:v>20</c:v>
                </c:pt>
                <c:pt idx="22">
                  <c:v>10</c:v>
                </c:pt>
                <c:pt idx="23">
                  <c:v>30</c:v>
                </c:pt>
              </c:numCache>
            </c:numRef>
          </c:val>
          <c:extLst>
            <c:ext xmlns:c16="http://schemas.microsoft.com/office/drawing/2014/chart" uri="{C3380CC4-5D6E-409C-BE32-E72D297353CC}">
              <c16:uniqueId val="{00000000-E0C0-41D5-BD91-4D795893C59D}"/>
            </c:ext>
          </c:extLst>
        </c:ser>
        <c:ser>
          <c:idx val="1"/>
          <c:order val="1"/>
          <c:tx>
            <c:strRef>
              <c:f>Sheet2!$A$39</c:f>
              <c:strCache>
                <c:ptCount val="1"/>
                <c:pt idx="0">
                  <c:v>Grade 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Sheet2!$B$35:$Y$37</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Sheet2!$B$39:$Y$39</c:f>
              <c:numCache>
                <c:formatCode>General</c:formatCode>
                <c:ptCount val="24"/>
                <c:pt idx="0">
                  <c:v>3</c:v>
                </c:pt>
                <c:pt idx="1">
                  <c:v>3</c:v>
                </c:pt>
                <c:pt idx="2">
                  <c:v>6</c:v>
                </c:pt>
                <c:pt idx="3">
                  <c:v>2</c:v>
                </c:pt>
                <c:pt idx="4">
                  <c:v>2</c:v>
                </c:pt>
                <c:pt idx="5">
                  <c:v>4</c:v>
                </c:pt>
                <c:pt idx="6">
                  <c:v>2</c:v>
                </c:pt>
                <c:pt idx="7">
                  <c:v>4</c:v>
                </c:pt>
                <c:pt idx="8">
                  <c:v>6</c:v>
                </c:pt>
                <c:pt idx="9">
                  <c:v>13</c:v>
                </c:pt>
                <c:pt idx="10">
                  <c:v>10</c:v>
                </c:pt>
                <c:pt idx="11">
                  <c:v>23</c:v>
                </c:pt>
                <c:pt idx="12">
                  <c:v>7</c:v>
                </c:pt>
                <c:pt idx="13">
                  <c:v>3</c:v>
                </c:pt>
                <c:pt idx="14">
                  <c:v>10</c:v>
                </c:pt>
                <c:pt idx="15">
                  <c:v>3</c:v>
                </c:pt>
                <c:pt idx="16">
                  <c:v>1</c:v>
                </c:pt>
                <c:pt idx="17">
                  <c:v>4</c:v>
                </c:pt>
                <c:pt idx="18">
                  <c:v>2</c:v>
                </c:pt>
                <c:pt idx="19">
                  <c:v>2</c:v>
                </c:pt>
                <c:pt idx="20">
                  <c:v>4</c:v>
                </c:pt>
                <c:pt idx="21">
                  <c:v>1</c:v>
                </c:pt>
                <c:pt idx="22">
                  <c:v>0</c:v>
                </c:pt>
                <c:pt idx="23">
                  <c:v>1</c:v>
                </c:pt>
              </c:numCache>
            </c:numRef>
          </c:val>
          <c:extLst>
            <c:ext xmlns:c16="http://schemas.microsoft.com/office/drawing/2014/chart" uri="{C3380CC4-5D6E-409C-BE32-E72D297353CC}">
              <c16:uniqueId val="{00000001-E0C0-41D5-BD91-4D795893C59D}"/>
            </c:ext>
          </c:extLst>
        </c:ser>
        <c:ser>
          <c:idx val="2"/>
          <c:order val="2"/>
          <c:tx>
            <c:strRef>
              <c:f>Sheet2!$A$40</c:f>
              <c:strCache>
                <c:ptCount val="1"/>
                <c:pt idx="0">
                  <c:v>Grade 9</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Sheet2!$B$35:$Y$37</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Sheet2!$B$40:$Y$40</c:f>
              <c:numCache>
                <c:formatCode>General</c:formatCode>
                <c:ptCount val="24"/>
                <c:pt idx="0">
                  <c:v>2</c:v>
                </c:pt>
                <c:pt idx="1">
                  <c:v>0</c:v>
                </c:pt>
                <c:pt idx="2">
                  <c:v>2</c:v>
                </c:pt>
                <c:pt idx="3">
                  <c:v>5</c:v>
                </c:pt>
                <c:pt idx="4">
                  <c:v>0</c:v>
                </c:pt>
                <c:pt idx="5">
                  <c:v>5</c:v>
                </c:pt>
                <c:pt idx="6">
                  <c:v>3</c:v>
                </c:pt>
                <c:pt idx="7">
                  <c:v>1</c:v>
                </c:pt>
                <c:pt idx="8">
                  <c:v>4</c:v>
                </c:pt>
                <c:pt idx="9">
                  <c:v>0</c:v>
                </c:pt>
                <c:pt idx="10">
                  <c:v>0</c:v>
                </c:pt>
                <c:pt idx="11">
                  <c:v>0</c:v>
                </c:pt>
                <c:pt idx="12">
                  <c:v>8</c:v>
                </c:pt>
                <c:pt idx="13">
                  <c:v>4</c:v>
                </c:pt>
                <c:pt idx="14">
                  <c:v>12</c:v>
                </c:pt>
                <c:pt idx="15">
                  <c:v>0</c:v>
                </c:pt>
                <c:pt idx="16">
                  <c:v>0</c:v>
                </c:pt>
                <c:pt idx="17">
                  <c:v>0</c:v>
                </c:pt>
                <c:pt idx="18">
                  <c:v>2</c:v>
                </c:pt>
                <c:pt idx="19">
                  <c:v>0</c:v>
                </c:pt>
                <c:pt idx="20">
                  <c:v>2</c:v>
                </c:pt>
                <c:pt idx="21">
                  <c:v>2</c:v>
                </c:pt>
                <c:pt idx="22">
                  <c:v>0</c:v>
                </c:pt>
                <c:pt idx="23">
                  <c:v>2</c:v>
                </c:pt>
              </c:numCache>
            </c:numRef>
          </c:val>
          <c:extLst>
            <c:ext xmlns:c16="http://schemas.microsoft.com/office/drawing/2014/chart" uri="{C3380CC4-5D6E-409C-BE32-E72D297353CC}">
              <c16:uniqueId val="{00000002-E0C0-41D5-BD91-4D795893C59D}"/>
            </c:ext>
          </c:extLst>
        </c:ser>
        <c:ser>
          <c:idx val="3"/>
          <c:order val="3"/>
          <c:tx>
            <c:strRef>
              <c:f>Sheet2!$A$41</c:f>
              <c:strCache>
                <c:ptCount val="1"/>
                <c:pt idx="0">
                  <c:v>Grade 10</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Sheet2!$B$35:$Y$37</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Sheet2!$B$41:$Y$41</c:f>
              <c:numCache>
                <c:formatCode>General</c:formatCode>
                <c:ptCount val="24"/>
                <c:pt idx="0">
                  <c:v>18</c:v>
                </c:pt>
                <c:pt idx="1">
                  <c:v>7</c:v>
                </c:pt>
                <c:pt idx="2">
                  <c:v>25</c:v>
                </c:pt>
                <c:pt idx="3">
                  <c:v>4</c:v>
                </c:pt>
                <c:pt idx="4">
                  <c:v>3</c:v>
                </c:pt>
                <c:pt idx="5">
                  <c:v>7</c:v>
                </c:pt>
                <c:pt idx="6">
                  <c:v>17</c:v>
                </c:pt>
                <c:pt idx="7">
                  <c:v>10</c:v>
                </c:pt>
                <c:pt idx="8">
                  <c:v>27</c:v>
                </c:pt>
                <c:pt idx="9">
                  <c:v>15</c:v>
                </c:pt>
                <c:pt idx="10">
                  <c:v>3</c:v>
                </c:pt>
                <c:pt idx="11">
                  <c:v>18</c:v>
                </c:pt>
                <c:pt idx="12">
                  <c:v>12</c:v>
                </c:pt>
                <c:pt idx="13">
                  <c:v>3</c:v>
                </c:pt>
                <c:pt idx="14">
                  <c:v>15</c:v>
                </c:pt>
                <c:pt idx="15">
                  <c:v>0</c:v>
                </c:pt>
                <c:pt idx="16">
                  <c:v>0</c:v>
                </c:pt>
                <c:pt idx="17">
                  <c:v>0</c:v>
                </c:pt>
                <c:pt idx="18">
                  <c:v>7</c:v>
                </c:pt>
                <c:pt idx="19">
                  <c:v>2</c:v>
                </c:pt>
                <c:pt idx="20">
                  <c:v>9</c:v>
                </c:pt>
                <c:pt idx="21">
                  <c:v>2</c:v>
                </c:pt>
                <c:pt idx="22">
                  <c:v>2</c:v>
                </c:pt>
                <c:pt idx="23">
                  <c:v>4</c:v>
                </c:pt>
              </c:numCache>
            </c:numRef>
          </c:val>
          <c:extLst>
            <c:ext xmlns:c16="http://schemas.microsoft.com/office/drawing/2014/chart" uri="{C3380CC4-5D6E-409C-BE32-E72D297353CC}">
              <c16:uniqueId val="{00000003-E0C0-41D5-BD91-4D795893C59D}"/>
            </c:ext>
          </c:extLst>
        </c:ser>
        <c:ser>
          <c:idx val="4"/>
          <c:order val="4"/>
          <c:tx>
            <c:strRef>
              <c:f>Sheet2!$A$42</c:f>
              <c:strCache>
                <c:ptCount val="1"/>
                <c:pt idx="0">
                  <c:v>TOTAL</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Sheet2!$B$35:$Y$37</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Sheet2!$B$42:$Y$42</c:f>
              <c:numCache>
                <c:formatCode>General</c:formatCode>
                <c:ptCount val="24"/>
                <c:pt idx="0">
                  <c:v>25</c:v>
                </c:pt>
                <c:pt idx="1">
                  <c:v>12</c:v>
                </c:pt>
                <c:pt idx="2">
                  <c:v>37</c:v>
                </c:pt>
                <c:pt idx="3">
                  <c:v>23</c:v>
                </c:pt>
                <c:pt idx="4">
                  <c:v>8</c:v>
                </c:pt>
                <c:pt idx="5">
                  <c:v>31</c:v>
                </c:pt>
                <c:pt idx="6">
                  <c:v>34</c:v>
                </c:pt>
                <c:pt idx="7">
                  <c:v>19</c:v>
                </c:pt>
                <c:pt idx="8">
                  <c:v>53</c:v>
                </c:pt>
                <c:pt idx="9">
                  <c:v>37</c:v>
                </c:pt>
                <c:pt idx="10">
                  <c:v>21</c:v>
                </c:pt>
                <c:pt idx="11">
                  <c:v>58</c:v>
                </c:pt>
                <c:pt idx="12">
                  <c:v>46</c:v>
                </c:pt>
                <c:pt idx="13">
                  <c:v>18</c:v>
                </c:pt>
                <c:pt idx="14">
                  <c:v>64</c:v>
                </c:pt>
                <c:pt idx="15">
                  <c:v>5</c:v>
                </c:pt>
                <c:pt idx="16">
                  <c:v>2</c:v>
                </c:pt>
                <c:pt idx="17">
                  <c:v>7</c:v>
                </c:pt>
                <c:pt idx="18">
                  <c:v>15</c:v>
                </c:pt>
                <c:pt idx="19">
                  <c:v>6</c:v>
                </c:pt>
                <c:pt idx="20">
                  <c:v>21</c:v>
                </c:pt>
                <c:pt idx="21">
                  <c:v>25</c:v>
                </c:pt>
                <c:pt idx="22">
                  <c:v>12</c:v>
                </c:pt>
                <c:pt idx="23">
                  <c:v>37</c:v>
                </c:pt>
              </c:numCache>
            </c:numRef>
          </c:val>
          <c:extLst>
            <c:ext xmlns:c16="http://schemas.microsoft.com/office/drawing/2014/chart" uri="{C3380CC4-5D6E-409C-BE32-E72D297353CC}">
              <c16:uniqueId val="{00000004-E0C0-41D5-BD91-4D795893C59D}"/>
            </c:ext>
          </c:extLst>
        </c:ser>
        <c:dLbls>
          <c:showLegendKey val="0"/>
          <c:showVal val="0"/>
          <c:showCatName val="0"/>
          <c:showSerName val="0"/>
          <c:showPercent val="0"/>
          <c:showBubbleSize val="0"/>
        </c:dLbls>
        <c:gapWidth val="100"/>
        <c:overlap val="-24"/>
        <c:axId val="638043552"/>
        <c:axId val="638053120"/>
      </c:barChart>
      <c:catAx>
        <c:axId val="63804355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638053120"/>
        <c:crosses val="autoZero"/>
        <c:auto val="1"/>
        <c:lblAlgn val="ctr"/>
        <c:lblOffset val="100"/>
        <c:noMultiLvlLbl val="0"/>
      </c:catAx>
      <c:valAx>
        <c:axId val="63805312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638043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200"/>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Quarter 3</a:t>
            </a:r>
          </a:p>
        </c:rich>
      </c:tx>
      <c:overlay val="0"/>
      <c:spPr>
        <a:noFill/>
        <a:ln>
          <a:noFill/>
        </a:ln>
        <a:effectLst/>
      </c:spPr>
      <c:txPr>
        <a:bodyPr rot="0" spcFirstLastPara="1" vertOverflow="ellipsis" vert="horz" wrap="square" anchor="ctr" anchorCtr="1"/>
        <a:lstStyle/>
        <a:p>
          <a:pPr>
            <a:defRPr sz="144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Sheet2!$A$70</c:f>
              <c:strCache>
                <c:ptCount val="1"/>
                <c:pt idx="0">
                  <c:v>Grade 7</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Sheet2!$B$67:$Y$69</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Sheet2!$B$70:$Y$70</c:f>
              <c:numCache>
                <c:formatCode>General</c:formatCode>
                <c:ptCount val="24"/>
                <c:pt idx="0">
                  <c:v>7</c:v>
                </c:pt>
                <c:pt idx="1">
                  <c:v>1</c:v>
                </c:pt>
                <c:pt idx="2">
                  <c:v>8</c:v>
                </c:pt>
                <c:pt idx="3">
                  <c:v>5</c:v>
                </c:pt>
                <c:pt idx="4">
                  <c:v>1</c:v>
                </c:pt>
                <c:pt idx="5">
                  <c:v>6</c:v>
                </c:pt>
                <c:pt idx="6">
                  <c:v>7</c:v>
                </c:pt>
                <c:pt idx="7">
                  <c:v>1</c:v>
                </c:pt>
                <c:pt idx="8">
                  <c:v>8</c:v>
                </c:pt>
                <c:pt idx="9">
                  <c:v>5</c:v>
                </c:pt>
                <c:pt idx="10">
                  <c:v>0</c:v>
                </c:pt>
                <c:pt idx="11">
                  <c:v>5</c:v>
                </c:pt>
                <c:pt idx="12">
                  <c:v>5</c:v>
                </c:pt>
                <c:pt idx="13">
                  <c:v>1</c:v>
                </c:pt>
                <c:pt idx="14">
                  <c:v>6</c:v>
                </c:pt>
                <c:pt idx="15">
                  <c:v>5</c:v>
                </c:pt>
                <c:pt idx="16">
                  <c:v>1</c:v>
                </c:pt>
                <c:pt idx="17">
                  <c:v>6</c:v>
                </c:pt>
                <c:pt idx="18">
                  <c:v>6</c:v>
                </c:pt>
                <c:pt idx="19">
                  <c:v>2</c:v>
                </c:pt>
                <c:pt idx="20">
                  <c:v>8</c:v>
                </c:pt>
                <c:pt idx="21">
                  <c:v>24</c:v>
                </c:pt>
                <c:pt idx="22">
                  <c:v>11</c:v>
                </c:pt>
                <c:pt idx="23">
                  <c:v>35</c:v>
                </c:pt>
              </c:numCache>
            </c:numRef>
          </c:val>
          <c:extLst>
            <c:ext xmlns:c16="http://schemas.microsoft.com/office/drawing/2014/chart" uri="{C3380CC4-5D6E-409C-BE32-E72D297353CC}">
              <c16:uniqueId val="{00000000-65D9-407E-9980-041D76688CEB}"/>
            </c:ext>
          </c:extLst>
        </c:ser>
        <c:ser>
          <c:idx val="1"/>
          <c:order val="1"/>
          <c:tx>
            <c:strRef>
              <c:f>Sheet2!$A$71</c:f>
              <c:strCache>
                <c:ptCount val="1"/>
                <c:pt idx="0">
                  <c:v>Grade 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Sheet2!$B$67:$Y$69</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Sheet2!$B$71:$Y$71</c:f>
              <c:numCache>
                <c:formatCode>General</c:formatCode>
                <c:ptCount val="24"/>
                <c:pt idx="0">
                  <c:v>3</c:v>
                </c:pt>
                <c:pt idx="1">
                  <c:v>3</c:v>
                </c:pt>
                <c:pt idx="2">
                  <c:v>6</c:v>
                </c:pt>
                <c:pt idx="3">
                  <c:v>5</c:v>
                </c:pt>
                <c:pt idx="4">
                  <c:v>2</c:v>
                </c:pt>
                <c:pt idx="5">
                  <c:v>7</c:v>
                </c:pt>
                <c:pt idx="6">
                  <c:v>2</c:v>
                </c:pt>
                <c:pt idx="7">
                  <c:v>3</c:v>
                </c:pt>
                <c:pt idx="8">
                  <c:v>5</c:v>
                </c:pt>
                <c:pt idx="9">
                  <c:v>8</c:v>
                </c:pt>
                <c:pt idx="10">
                  <c:v>3</c:v>
                </c:pt>
                <c:pt idx="11">
                  <c:v>11</c:v>
                </c:pt>
                <c:pt idx="12">
                  <c:v>4</c:v>
                </c:pt>
                <c:pt idx="13">
                  <c:v>3</c:v>
                </c:pt>
                <c:pt idx="14">
                  <c:v>7</c:v>
                </c:pt>
                <c:pt idx="15">
                  <c:v>3</c:v>
                </c:pt>
                <c:pt idx="16">
                  <c:v>1</c:v>
                </c:pt>
                <c:pt idx="17">
                  <c:v>4</c:v>
                </c:pt>
                <c:pt idx="18">
                  <c:v>2</c:v>
                </c:pt>
                <c:pt idx="19">
                  <c:v>2</c:v>
                </c:pt>
                <c:pt idx="20">
                  <c:v>4</c:v>
                </c:pt>
                <c:pt idx="21">
                  <c:v>3</c:v>
                </c:pt>
                <c:pt idx="22">
                  <c:v>1</c:v>
                </c:pt>
                <c:pt idx="23">
                  <c:v>4</c:v>
                </c:pt>
              </c:numCache>
            </c:numRef>
          </c:val>
          <c:extLst>
            <c:ext xmlns:c16="http://schemas.microsoft.com/office/drawing/2014/chart" uri="{C3380CC4-5D6E-409C-BE32-E72D297353CC}">
              <c16:uniqueId val="{00000001-65D9-407E-9980-041D76688CEB}"/>
            </c:ext>
          </c:extLst>
        </c:ser>
        <c:ser>
          <c:idx val="2"/>
          <c:order val="2"/>
          <c:tx>
            <c:strRef>
              <c:f>Sheet2!$A$72</c:f>
              <c:strCache>
                <c:ptCount val="1"/>
                <c:pt idx="0">
                  <c:v>Grade 9</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Sheet2!$B$67:$Y$69</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Sheet2!$B$72:$Y$72</c:f>
              <c:numCache>
                <c:formatCode>General</c:formatCode>
                <c:ptCount val="24"/>
                <c:pt idx="0">
                  <c:v>4</c:v>
                </c:pt>
                <c:pt idx="1">
                  <c:v>0</c:v>
                </c:pt>
                <c:pt idx="2">
                  <c:v>4</c:v>
                </c:pt>
                <c:pt idx="3">
                  <c:v>5</c:v>
                </c:pt>
                <c:pt idx="4">
                  <c:v>1</c:v>
                </c:pt>
                <c:pt idx="5">
                  <c:v>6</c:v>
                </c:pt>
                <c:pt idx="6">
                  <c:v>2</c:v>
                </c:pt>
                <c:pt idx="7">
                  <c:v>1</c:v>
                </c:pt>
                <c:pt idx="8">
                  <c:v>3</c:v>
                </c:pt>
                <c:pt idx="9">
                  <c:v>2</c:v>
                </c:pt>
                <c:pt idx="10">
                  <c:v>1</c:v>
                </c:pt>
                <c:pt idx="11">
                  <c:v>3</c:v>
                </c:pt>
                <c:pt idx="12">
                  <c:v>8</c:v>
                </c:pt>
                <c:pt idx="13">
                  <c:v>3</c:v>
                </c:pt>
                <c:pt idx="14">
                  <c:v>11</c:v>
                </c:pt>
                <c:pt idx="17">
                  <c:v>0</c:v>
                </c:pt>
                <c:pt idx="18">
                  <c:v>2</c:v>
                </c:pt>
                <c:pt idx="19">
                  <c:v>0</c:v>
                </c:pt>
                <c:pt idx="20">
                  <c:v>2</c:v>
                </c:pt>
                <c:pt idx="21">
                  <c:v>0</c:v>
                </c:pt>
                <c:pt idx="22">
                  <c:v>0</c:v>
                </c:pt>
                <c:pt idx="23">
                  <c:v>0</c:v>
                </c:pt>
              </c:numCache>
            </c:numRef>
          </c:val>
          <c:extLst>
            <c:ext xmlns:c16="http://schemas.microsoft.com/office/drawing/2014/chart" uri="{C3380CC4-5D6E-409C-BE32-E72D297353CC}">
              <c16:uniqueId val="{00000002-65D9-407E-9980-041D76688CEB}"/>
            </c:ext>
          </c:extLst>
        </c:ser>
        <c:ser>
          <c:idx val="3"/>
          <c:order val="3"/>
          <c:tx>
            <c:strRef>
              <c:f>Sheet2!$A$73</c:f>
              <c:strCache>
                <c:ptCount val="1"/>
                <c:pt idx="0">
                  <c:v>Grade 10</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Sheet2!$B$67:$Y$69</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Sheet2!$B$73:$Y$73</c:f>
              <c:numCache>
                <c:formatCode>General</c:formatCode>
                <c:ptCount val="24"/>
                <c:pt idx="0">
                  <c:v>12</c:v>
                </c:pt>
                <c:pt idx="1">
                  <c:v>5</c:v>
                </c:pt>
                <c:pt idx="2">
                  <c:v>17</c:v>
                </c:pt>
                <c:pt idx="3">
                  <c:v>6</c:v>
                </c:pt>
                <c:pt idx="4">
                  <c:v>2</c:v>
                </c:pt>
                <c:pt idx="5">
                  <c:v>8</c:v>
                </c:pt>
                <c:pt idx="6">
                  <c:v>28</c:v>
                </c:pt>
                <c:pt idx="7">
                  <c:v>8</c:v>
                </c:pt>
                <c:pt idx="8">
                  <c:v>36</c:v>
                </c:pt>
                <c:pt idx="9">
                  <c:v>11</c:v>
                </c:pt>
                <c:pt idx="10">
                  <c:v>1</c:v>
                </c:pt>
                <c:pt idx="11">
                  <c:v>12</c:v>
                </c:pt>
                <c:pt idx="12">
                  <c:v>8</c:v>
                </c:pt>
                <c:pt idx="13">
                  <c:v>2</c:v>
                </c:pt>
                <c:pt idx="14">
                  <c:v>10</c:v>
                </c:pt>
                <c:pt idx="15">
                  <c:v>0</c:v>
                </c:pt>
                <c:pt idx="16">
                  <c:v>0</c:v>
                </c:pt>
                <c:pt idx="17">
                  <c:v>0</c:v>
                </c:pt>
                <c:pt idx="18">
                  <c:v>6</c:v>
                </c:pt>
                <c:pt idx="19">
                  <c:v>2</c:v>
                </c:pt>
                <c:pt idx="20">
                  <c:v>8</c:v>
                </c:pt>
                <c:pt idx="21">
                  <c:v>2</c:v>
                </c:pt>
                <c:pt idx="22">
                  <c:v>2</c:v>
                </c:pt>
                <c:pt idx="23">
                  <c:v>4</c:v>
                </c:pt>
              </c:numCache>
            </c:numRef>
          </c:val>
          <c:extLst>
            <c:ext xmlns:c16="http://schemas.microsoft.com/office/drawing/2014/chart" uri="{C3380CC4-5D6E-409C-BE32-E72D297353CC}">
              <c16:uniqueId val="{00000003-65D9-407E-9980-041D76688CEB}"/>
            </c:ext>
          </c:extLst>
        </c:ser>
        <c:ser>
          <c:idx val="4"/>
          <c:order val="4"/>
          <c:tx>
            <c:strRef>
              <c:f>Sheet2!$A$74</c:f>
              <c:strCache>
                <c:ptCount val="1"/>
                <c:pt idx="0">
                  <c:v>TOTAL</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Sheet2!$B$67:$Y$69</c:f>
              <c:multiLvlStrCache>
                <c:ptCount val="24"/>
                <c:lvl>
                  <c:pt idx="0">
                    <c:v>M</c:v>
                  </c:pt>
                  <c:pt idx="1">
                    <c:v>F</c:v>
                  </c:pt>
                  <c:pt idx="2">
                    <c:v>T</c:v>
                  </c:pt>
                  <c:pt idx="3">
                    <c:v>M</c:v>
                  </c:pt>
                  <c:pt idx="4">
                    <c:v>F</c:v>
                  </c:pt>
                  <c:pt idx="5">
                    <c:v>T</c:v>
                  </c:pt>
                  <c:pt idx="6">
                    <c:v>M</c:v>
                  </c:pt>
                  <c:pt idx="7">
                    <c:v>F</c:v>
                  </c:pt>
                  <c:pt idx="8">
                    <c:v>T</c:v>
                  </c:pt>
                  <c:pt idx="9">
                    <c:v>M</c:v>
                  </c:pt>
                  <c:pt idx="10">
                    <c:v>F</c:v>
                  </c:pt>
                  <c:pt idx="11">
                    <c:v>T</c:v>
                  </c:pt>
                  <c:pt idx="12">
                    <c:v>M</c:v>
                  </c:pt>
                  <c:pt idx="13">
                    <c:v>F</c:v>
                  </c:pt>
                  <c:pt idx="14">
                    <c:v>T</c:v>
                  </c:pt>
                  <c:pt idx="15">
                    <c:v>M</c:v>
                  </c:pt>
                  <c:pt idx="16">
                    <c:v>F</c:v>
                  </c:pt>
                  <c:pt idx="17">
                    <c:v>T</c:v>
                  </c:pt>
                  <c:pt idx="18">
                    <c:v>M</c:v>
                  </c:pt>
                  <c:pt idx="19">
                    <c:v>F</c:v>
                  </c:pt>
                  <c:pt idx="20">
                    <c:v>T</c:v>
                  </c:pt>
                  <c:pt idx="21">
                    <c:v>M</c:v>
                  </c:pt>
                  <c:pt idx="22">
                    <c:v>F</c:v>
                  </c:pt>
                  <c:pt idx="23">
                    <c:v>T</c:v>
                  </c:pt>
                </c:lvl>
                <c:lvl>
                  <c:pt idx="0">
                    <c:v>FILIPINO</c:v>
                  </c:pt>
                  <c:pt idx="3">
                    <c:v>ENGLISH</c:v>
                  </c:pt>
                  <c:pt idx="6">
                    <c:v>MATH</c:v>
                  </c:pt>
                  <c:pt idx="9">
                    <c:v>SCIENCE</c:v>
                  </c:pt>
                  <c:pt idx="12">
                    <c:v>ARALING PANLIPUNAN</c:v>
                  </c:pt>
                  <c:pt idx="15">
                    <c:v>EsP</c:v>
                  </c:pt>
                  <c:pt idx="18">
                    <c:v>TLE</c:v>
                  </c:pt>
                  <c:pt idx="21">
                    <c:v>MAPEH</c:v>
                  </c:pt>
                </c:lvl>
              </c:multiLvlStrCache>
            </c:multiLvlStrRef>
          </c:cat>
          <c:val>
            <c:numRef>
              <c:f>Sheet2!$B$74:$Y$74</c:f>
              <c:numCache>
                <c:formatCode>General</c:formatCode>
                <c:ptCount val="24"/>
                <c:pt idx="0">
                  <c:v>26</c:v>
                </c:pt>
                <c:pt idx="1">
                  <c:v>9</c:v>
                </c:pt>
                <c:pt idx="2">
                  <c:v>35</c:v>
                </c:pt>
                <c:pt idx="3">
                  <c:v>21</c:v>
                </c:pt>
                <c:pt idx="4">
                  <c:v>6</c:v>
                </c:pt>
                <c:pt idx="5">
                  <c:v>27</c:v>
                </c:pt>
                <c:pt idx="6">
                  <c:v>39</c:v>
                </c:pt>
                <c:pt idx="7">
                  <c:v>13</c:v>
                </c:pt>
                <c:pt idx="8">
                  <c:v>52</c:v>
                </c:pt>
                <c:pt idx="9">
                  <c:v>26</c:v>
                </c:pt>
                <c:pt idx="10">
                  <c:v>5</c:v>
                </c:pt>
                <c:pt idx="11">
                  <c:v>31</c:v>
                </c:pt>
                <c:pt idx="12">
                  <c:v>25</c:v>
                </c:pt>
                <c:pt idx="13">
                  <c:v>9</c:v>
                </c:pt>
                <c:pt idx="14">
                  <c:v>34</c:v>
                </c:pt>
                <c:pt idx="15">
                  <c:v>8</c:v>
                </c:pt>
                <c:pt idx="16">
                  <c:v>2</c:v>
                </c:pt>
                <c:pt idx="17">
                  <c:v>10</c:v>
                </c:pt>
                <c:pt idx="18">
                  <c:v>16</c:v>
                </c:pt>
                <c:pt idx="19">
                  <c:v>6</c:v>
                </c:pt>
                <c:pt idx="20">
                  <c:v>22</c:v>
                </c:pt>
                <c:pt idx="21">
                  <c:v>29</c:v>
                </c:pt>
                <c:pt idx="22">
                  <c:v>14</c:v>
                </c:pt>
                <c:pt idx="23">
                  <c:v>43</c:v>
                </c:pt>
              </c:numCache>
            </c:numRef>
          </c:val>
          <c:extLst>
            <c:ext xmlns:c16="http://schemas.microsoft.com/office/drawing/2014/chart" uri="{C3380CC4-5D6E-409C-BE32-E72D297353CC}">
              <c16:uniqueId val="{00000004-65D9-407E-9980-041D76688CEB}"/>
            </c:ext>
          </c:extLst>
        </c:ser>
        <c:dLbls>
          <c:showLegendKey val="0"/>
          <c:showVal val="0"/>
          <c:showCatName val="0"/>
          <c:showSerName val="0"/>
          <c:showPercent val="0"/>
          <c:showBubbleSize val="0"/>
        </c:dLbls>
        <c:gapWidth val="100"/>
        <c:overlap val="-24"/>
        <c:axId val="565652256"/>
        <c:axId val="565630208"/>
      </c:barChart>
      <c:catAx>
        <c:axId val="5656522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565630208"/>
        <c:crosses val="autoZero"/>
        <c:auto val="1"/>
        <c:lblAlgn val="ctr"/>
        <c:lblOffset val="100"/>
        <c:noMultiLvlLbl val="0"/>
      </c:catAx>
      <c:valAx>
        <c:axId val="56563020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565652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200"/>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Sheet1!$A$62</c:f>
              <c:strCache>
                <c:ptCount val="1"/>
                <c:pt idx="0">
                  <c:v>* Bullying</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multiLvlStrRef>
              <c:f>Sheet1!$B$60:$J$61</c:f>
              <c:multiLvlStrCache>
                <c:ptCount val="9"/>
                <c:lvl>
                  <c:pt idx="0">
                    <c:v>7</c:v>
                  </c:pt>
                  <c:pt idx="2">
                    <c:v>8</c:v>
                  </c:pt>
                  <c:pt idx="4">
                    <c:v>9</c:v>
                  </c:pt>
                  <c:pt idx="6">
                    <c:v>10</c:v>
                  </c:pt>
                  <c:pt idx="8">
                    <c:v>TOTAL</c:v>
                  </c:pt>
                </c:lvl>
                <c:lvl>
                  <c:pt idx="0">
                    <c:v>GRADE</c:v>
                  </c:pt>
                </c:lvl>
              </c:multiLvlStrCache>
            </c:multiLvlStrRef>
          </c:cat>
          <c:val>
            <c:numRef>
              <c:f>Sheet1!$B$62:$J$62</c:f>
              <c:numCache>
                <c:formatCode>General</c:formatCode>
                <c:ptCount val="9"/>
                <c:pt idx="0">
                  <c:v>0</c:v>
                </c:pt>
                <c:pt idx="1">
                  <c:v>0</c:v>
                </c:pt>
                <c:pt idx="2">
                  <c:v>0</c:v>
                </c:pt>
                <c:pt idx="3">
                  <c:v>0</c:v>
                </c:pt>
                <c:pt idx="4">
                  <c:v>0</c:v>
                </c:pt>
                <c:pt idx="5">
                  <c:v>0</c:v>
                </c:pt>
                <c:pt idx="6">
                  <c:v>0</c:v>
                </c:pt>
                <c:pt idx="7">
                  <c:v>0</c:v>
                </c:pt>
                <c:pt idx="8">
                  <c:v>0</c:v>
                </c:pt>
              </c:numCache>
            </c:numRef>
          </c:val>
          <c:extLst>
            <c:ext xmlns:c16="http://schemas.microsoft.com/office/drawing/2014/chart" uri="{C3380CC4-5D6E-409C-BE32-E72D297353CC}">
              <c16:uniqueId val="{00000000-8653-48EB-9373-0997C65D4CFD}"/>
            </c:ext>
          </c:extLst>
        </c:ser>
        <c:ser>
          <c:idx val="1"/>
          <c:order val="1"/>
          <c:tx>
            <c:strRef>
              <c:f>Sheet1!$A$63</c:f>
              <c:strCache>
                <c:ptCount val="1"/>
                <c:pt idx="0">
                  <c:v>* Child Abuse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Sheet1!$B$60:$J$61</c:f>
              <c:multiLvlStrCache>
                <c:ptCount val="9"/>
                <c:lvl>
                  <c:pt idx="0">
                    <c:v>7</c:v>
                  </c:pt>
                  <c:pt idx="2">
                    <c:v>8</c:v>
                  </c:pt>
                  <c:pt idx="4">
                    <c:v>9</c:v>
                  </c:pt>
                  <c:pt idx="6">
                    <c:v>10</c:v>
                  </c:pt>
                  <c:pt idx="8">
                    <c:v>TOTAL</c:v>
                  </c:pt>
                </c:lvl>
                <c:lvl>
                  <c:pt idx="0">
                    <c:v>GRADE</c:v>
                  </c:pt>
                </c:lvl>
              </c:multiLvlStrCache>
            </c:multiLvlStrRef>
          </c:cat>
          <c:val>
            <c:numRef>
              <c:f>Sheet1!$B$63:$J$63</c:f>
              <c:numCache>
                <c:formatCode>General</c:formatCode>
                <c:ptCount val="9"/>
                <c:pt idx="0">
                  <c:v>0</c:v>
                </c:pt>
                <c:pt idx="1">
                  <c:v>0</c:v>
                </c:pt>
                <c:pt idx="2">
                  <c:v>0</c:v>
                </c:pt>
                <c:pt idx="3">
                  <c:v>0</c:v>
                </c:pt>
                <c:pt idx="4">
                  <c:v>0</c:v>
                </c:pt>
                <c:pt idx="5">
                  <c:v>0</c:v>
                </c:pt>
                <c:pt idx="6">
                  <c:v>0</c:v>
                </c:pt>
                <c:pt idx="7">
                  <c:v>0</c:v>
                </c:pt>
                <c:pt idx="8">
                  <c:v>0</c:v>
                </c:pt>
              </c:numCache>
            </c:numRef>
          </c:val>
          <c:extLst>
            <c:ext xmlns:c16="http://schemas.microsoft.com/office/drawing/2014/chart" uri="{C3380CC4-5D6E-409C-BE32-E72D297353CC}">
              <c16:uniqueId val="{00000001-8653-48EB-9373-0997C65D4CFD}"/>
            </c:ext>
          </c:extLst>
        </c:ser>
        <c:dLbls>
          <c:dLblPos val="outEnd"/>
          <c:showLegendKey val="0"/>
          <c:showVal val="1"/>
          <c:showCatName val="0"/>
          <c:showSerName val="0"/>
          <c:showPercent val="0"/>
          <c:showBubbleSize val="0"/>
        </c:dLbls>
        <c:gapWidth val="100"/>
        <c:overlap val="-24"/>
        <c:axId val="2000222048"/>
        <c:axId val="2000224960"/>
      </c:barChart>
      <c:catAx>
        <c:axId val="200022204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800" b="0" i="0" u="none" strike="noStrike" kern="1200" baseline="0">
                <a:solidFill>
                  <a:schemeClr val="lt1">
                    <a:lumMod val="85000"/>
                  </a:schemeClr>
                </a:solidFill>
                <a:latin typeface="+mn-lt"/>
                <a:ea typeface="+mn-ea"/>
                <a:cs typeface="+mn-cs"/>
              </a:defRPr>
            </a:pPr>
            <a:endParaRPr lang="en-US"/>
          </a:p>
        </c:txPr>
        <c:crossAx val="2000224960"/>
        <c:crosses val="autoZero"/>
        <c:auto val="1"/>
        <c:lblAlgn val="ctr"/>
        <c:lblOffset val="100"/>
        <c:noMultiLvlLbl val="0"/>
      </c:catAx>
      <c:valAx>
        <c:axId val="200022496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lt1">
                    <a:lumMod val="85000"/>
                  </a:schemeClr>
                </a:solidFill>
                <a:latin typeface="+mn-lt"/>
                <a:ea typeface="+mn-ea"/>
                <a:cs typeface="+mn-cs"/>
              </a:defRPr>
            </a:pPr>
            <a:endParaRPr lang="en-US"/>
          </a:p>
        </c:txPr>
        <c:crossAx val="2000222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800"/>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NUTRITIONAL STATUS 2024-2025</a:t>
            </a:r>
          </a:p>
        </c:rich>
      </c:tx>
      <c:overlay val="0"/>
      <c:spPr>
        <a:noFill/>
        <a:ln>
          <a:noFill/>
        </a:ln>
        <a:effectLst/>
      </c:spPr>
      <c:txPr>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Sheet1!$W$4</c:f>
              <c:strCache>
                <c:ptCount val="1"/>
                <c:pt idx="0">
                  <c:v>1st Quarter</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Sheet1!$X$3:$AB$3</c:f>
              <c:strCache>
                <c:ptCount val="5"/>
                <c:pt idx="0">
                  <c:v>Severely Wasted</c:v>
                </c:pt>
                <c:pt idx="1">
                  <c:v>Wasted</c:v>
                </c:pt>
                <c:pt idx="2">
                  <c:v>Normal</c:v>
                </c:pt>
                <c:pt idx="3">
                  <c:v>Overweight</c:v>
                </c:pt>
                <c:pt idx="4">
                  <c:v>Obese</c:v>
                </c:pt>
              </c:strCache>
            </c:strRef>
          </c:cat>
          <c:val>
            <c:numRef>
              <c:f>Sheet1!$X$4:$AB$4</c:f>
              <c:numCache>
                <c:formatCode>General</c:formatCode>
                <c:ptCount val="5"/>
                <c:pt idx="0">
                  <c:v>12</c:v>
                </c:pt>
                <c:pt idx="1">
                  <c:v>68</c:v>
                </c:pt>
                <c:pt idx="2">
                  <c:v>565</c:v>
                </c:pt>
                <c:pt idx="3">
                  <c:v>25</c:v>
                </c:pt>
                <c:pt idx="4">
                  <c:v>4</c:v>
                </c:pt>
              </c:numCache>
            </c:numRef>
          </c:val>
          <c:extLst>
            <c:ext xmlns:c16="http://schemas.microsoft.com/office/drawing/2014/chart" uri="{C3380CC4-5D6E-409C-BE32-E72D297353CC}">
              <c16:uniqueId val="{00000000-DA6D-4F1F-B143-E79982631E93}"/>
            </c:ext>
          </c:extLst>
        </c:ser>
        <c:ser>
          <c:idx val="1"/>
          <c:order val="1"/>
          <c:tx>
            <c:strRef>
              <c:f>Sheet1!$W$5</c:f>
              <c:strCache>
                <c:ptCount val="1"/>
                <c:pt idx="0">
                  <c:v>2nd Quarter</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Sheet1!$X$3:$AB$3</c:f>
              <c:strCache>
                <c:ptCount val="5"/>
                <c:pt idx="0">
                  <c:v>Severely Wasted</c:v>
                </c:pt>
                <c:pt idx="1">
                  <c:v>Wasted</c:v>
                </c:pt>
                <c:pt idx="2">
                  <c:v>Normal</c:v>
                </c:pt>
                <c:pt idx="3">
                  <c:v>Overweight</c:v>
                </c:pt>
                <c:pt idx="4">
                  <c:v>Obese</c:v>
                </c:pt>
              </c:strCache>
            </c:strRef>
          </c:cat>
          <c:val>
            <c:numRef>
              <c:f>Sheet1!$X$5:$AB$5</c:f>
              <c:numCache>
                <c:formatCode>General</c:formatCode>
                <c:ptCount val="5"/>
                <c:pt idx="0">
                  <c:v>11</c:v>
                </c:pt>
                <c:pt idx="1">
                  <c:v>69</c:v>
                </c:pt>
                <c:pt idx="2">
                  <c:v>565</c:v>
                </c:pt>
                <c:pt idx="3">
                  <c:v>25</c:v>
                </c:pt>
                <c:pt idx="4">
                  <c:v>4</c:v>
                </c:pt>
              </c:numCache>
            </c:numRef>
          </c:val>
          <c:extLst>
            <c:ext xmlns:c16="http://schemas.microsoft.com/office/drawing/2014/chart" uri="{C3380CC4-5D6E-409C-BE32-E72D297353CC}">
              <c16:uniqueId val="{00000001-DA6D-4F1F-B143-E79982631E93}"/>
            </c:ext>
          </c:extLst>
        </c:ser>
        <c:ser>
          <c:idx val="2"/>
          <c:order val="2"/>
          <c:tx>
            <c:strRef>
              <c:f>Sheet1!$W$6</c:f>
              <c:strCache>
                <c:ptCount val="1"/>
                <c:pt idx="0">
                  <c:v>3rd Quarter</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Sheet1!$X$3:$AB$3</c:f>
              <c:strCache>
                <c:ptCount val="5"/>
                <c:pt idx="0">
                  <c:v>Severely Wasted</c:v>
                </c:pt>
                <c:pt idx="1">
                  <c:v>Wasted</c:v>
                </c:pt>
                <c:pt idx="2">
                  <c:v>Normal</c:v>
                </c:pt>
                <c:pt idx="3">
                  <c:v>Overweight</c:v>
                </c:pt>
                <c:pt idx="4">
                  <c:v>Obese</c:v>
                </c:pt>
              </c:strCache>
            </c:strRef>
          </c:cat>
          <c:val>
            <c:numRef>
              <c:f>Sheet1!$X$6:$AB$6</c:f>
              <c:numCache>
                <c:formatCode>General</c:formatCode>
                <c:ptCount val="5"/>
                <c:pt idx="0">
                  <c:v>10</c:v>
                </c:pt>
                <c:pt idx="1">
                  <c:v>62</c:v>
                </c:pt>
                <c:pt idx="2">
                  <c:v>577</c:v>
                </c:pt>
                <c:pt idx="3">
                  <c:v>21</c:v>
                </c:pt>
                <c:pt idx="4">
                  <c:v>4</c:v>
                </c:pt>
              </c:numCache>
            </c:numRef>
          </c:val>
          <c:extLst>
            <c:ext xmlns:c16="http://schemas.microsoft.com/office/drawing/2014/chart" uri="{C3380CC4-5D6E-409C-BE32-E72D297353CC}">
              <c16:uniqueId val="{00000002-DA6D-4F1F-B143-E79982631E93}"/>
            </c:ext>
          </c:extLst>
        </c:ser>
        <c:dLbls>
          <c:showLegendKey val="0"/>
          <c:showVal val="1"/>
          <c:showCatName val="0"/>
          <c:showSerName val="0"/>
          <c:showPercent val="0"/>
          <c:showBubbleSize val="0"/>
        </c:dLbls>
        <c:gapWidth val="150"/>
        <c:overlap val="-25"/>
        <c:axId val="1079456095"/>
        <c:axId val="1079478143"/>
      </c:barChart>
      <c:catAx>
        <c:axId val="107945609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1079478143"/>
        <c:crosses val="autoZero"/>
        <c:auto val="1"/>
        <c:lblAlgn val="ctr"/>
        <c:lblOffset val="100"/>
        <c:noMultiLvlLbl val="0"/>
      </c:catAx>
      <c:valAx>
        <c:axId val="1079478143"/>
        <c:scaling>
          <c:orientation val="minMax"/>
        </c:scaling>
        <c:delete val="1"/>
        <c:axPos val="l"/>
        <c:numFmt formatCode="General" sourceLinked="1"/>
        <c:majorTickMark val="none"/>
        <c:minorTickMark val="none"/>
        <c:tickLblPos val="nextTo"/>
        <c:crossAx val="107945609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400"/>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99A1-4FCE-AABC-EF34A40ACCE1}"/>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99A1-4FCE-AABC-EF34A40ACCE1}"/>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99A1-4FCE-AABC-EF34A40ACCE1}"/>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99A1-4FCE-AABC-EF34A40ACCE1}"/>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99A1-4FCE-AABC-EF34A40ACCE1}"/>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16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s>
          <c:cat>
            <c:strRef>
              <c:f>DPDS!$F$549:$F$553</c:f>
              <c:strCache>
                <c:ptCount val="5"/>
                <c:pt idx="0">
                  <c:v>Appliances Equipment</c:v>
                </c:pt>
                <c:pt idx="1">
                  <c:v>Disinfection and Cleaning Supplies and Equipment</c:v>
                </c:pt>
                <c:pt idx="2">
                  <c:v>Furniture</c:v>
                </c:pt>
                <c:pt idx="3">
                  <c:v>Infrastructure</c:v>
                </c:pt>
                <c:pt idx="4">
                  <c:v>Others</c:v>
                </c:pt>
              </c:strCache>
            </c:strRef>
          </c:cat>
          <c:val>
            <c:numRef>
              <c:f>DPDS!$G$549:$G$553</c:f>
              <c:numCache>
                <c:formatCode>0%</c:formatCode>
                <c:ptCount val="5"/>
                <c:pt idx="0">
                  <c:v>0.38</c:v>
                </c:pt>
                <c:pt idx="1">
                  <c:v>0.23</c:v>
                </c:pt>
                <c:pt idx="2">
                  <c:v>0.08</c:v>
                </c:pt>
                <c:pt idx="3">
                  <c:v>0.23</c:v>
                </c:pt>
                <c:pt idx="4">
                  <c:v>0.08</c:v>
                </c:pt>
              </c:numCache>
            </c:numRef>
          </c:val>
          <c:extLst>
            <c:ext xmlns:c16="http://schemas.microsoft.com/office/drawing/2014/chart" uri="{C3380CC4-5D6E-409C-BE32-E72D297353CC}">
              <c16:uniqueId val="{0000000A-99A1-4FCE-AABC-EF34A40ACCE1}"/>
            </c:ext>
          </c:extLst>
        </c:ser>
        <c:dLbls>
          <c:dLblPos val="inEnd"/>
          <c:showLegendKey val="0"/>
          <c:showVal val="0"/>
          <c:showCatName val="0"/>
          <c:showSerName val="0"/>
          <c:showPercent val="0"/>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600"/>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SEF 2024</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SEF 2025</c:v>
                </c:pt>
              </c:strCache>
            </c:strRef>
          </c:tx>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2-40FF-418E-BD04-8676F76C1761}"/>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3DC1-4828-88ED-744996DECA2E}"/>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3DC1-4828-88ED-744996DECA2E}"/>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Sheet1!$A$3:$A$5</c:f>
              <c:strCache>
                <c:ptCount val="3"/>
                <c:pt idx="0">
                  <c:v>Salary and Wages (EMERGENCY) Clerk</c:v>
                </c:pt>
                <c:pt idx="1">
                  <c:v>Purchase of Sound System and Portable Speaker</c:v>
                </c:pt>
                <c:pt idx="2">
                  <c:v>Purchase of Printer</c:v>
                </c:pt>
              </c:strCache>
            </c:strRef>
          </c:cat>
          <c:val>
            <c:numRef>
              <c:f>Sheet1!$B$3:$B$5</c:f>
              <c:numCache>
                <c:formatCode>#,##0.00</c:formatCode>
                <c:ptCount val="3"/>
                <c:pt idx="0">
                  <c:v>120000</c:v>
                </c:pt>
                <c:pt idx="1">
                  <c:v>49845.84</c:v>
                </c:pt>
                <c:pt idx="2">
                  <c:v>90000</c:v>
                </c:pt>
              </c:numCache>
            </c:numRef>
          </c:val>
          <c:extLst>
            <c:ext xmlns:c16="http://schemas.microsoft.com/office/drawing/2014/chart" uri="{C3380CC4-5D6E-409C-BE32-E72D297353CC}">
              <c16:uniqueId val="{00000000-40FF-418E-BD04-8676F76C1761}"/>
            </c:ext>
          </c:extLst>
        </c:ser>
        <c:dLbls>
          <c:dLblPos val="ctr"/>
          <c:showLegendKey val="0"/>
          <c:showVal val="0"/>
          <c:showCatName val="1"/>
          <c:showSerName val="0"/>
          <c:showPercent val="0"/>
          <c:showBubbleSize val="0"/>
          <c:showLeaderLines val="1"/>
        </c:dLbls>
        <c:firstSliceAng val="0"/>
      </c:pieChart>
      <c:spPr>
        <a:noFill/>
        <a:ln>
          <a:noFill/>
        </a:ln>
        <a:effectLst/>
      </c:spPr>
    </c:plotArea>
    <c:legend>
      <c:legendPos val="r"/>
      <c:layout>
        <c:manualLayout>
          <c:xMode val="edge"/>
          <c:yMode val="edge"/>
          <c:x val="0.66087914479550114"/>
          <c:y val="0.29504839981780329"/>
          <c:w val="0.32797562910559708"/>
          <c:h val="0.54543453605568626"/>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'3RD QRT'!$B$65</c:f>
              <c:strCache>
                <c:ptCount val="1"/>
                <c:pt idx="0">
                  <c:v>Amount</c:v>
                </c:pt>
              </c:strCache>
            </c:strRef>
          </c:tx>
          <c:explosion val="8"/>
          <c:dPt>
            <c:idx val="0"/>
            <c:bubble3D val="0"/>
            <c:spPr>
              <a:solidFill>
                <a:schemeClr val="accent2"/>
              </a:solidFill>
              <a:ln w="19050">
                <a:solidFill>
                  <a:schemeClr val="lt1"/>
                </a:solidFill>
              </a:ln>
              <a:effectLst/>
            </c:spPr>
            <c:extLst>
              <c:ext xmlns:c16="http://schemas.microsoft.com/office/drawing/2014/chart" uri="{C3380CC4-5D6E-409C-BE32-E72D297353CC}">
                <c16:uniqueId val="{00000001-24FB-44E6-9118-CC31DA87C073}"/>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24FB-44E6-9118-CC31DA87C073}"/>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24FB-44E6-9118-CC31DA87C073}"/>
              </c:ext>
            </c:extLst>
          </c:dPt>
          <c:dLbls>
            <c:dLbl>
              <c:idx val="1"/>
              <c:layout>
                <c:manualLayout>
                  <c:x val="0.24042564110520606"/>
                  <c:y val="5.652640960392821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4FB-44E6-9118-CC31DA87C073}"/>
                </c:ext>
              </c:extLst>
            </c:dLbl>
            <c:dLbl>
              <c:idx val="2"/>
              <c:layout>
                <c:manualLayout>
                  <c:x val="-0.24289756757756695"/>
                  <c:y val="4.5333061167506787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4FB-44E6-9118-CC31DA87C073}"/>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'3RD QRT'!$A$66:$A$68</c:f>
              <c:strCache>
                <c:ptCount val="3"/>
                <c:pt idx="0">
                  <c:v>Salary and Wages (EMERGENCY) Clerk</c:v>
                </c:pt>
                <c:pt idx="1">
                  <c:v>Repair of Electrical Wiring</c:v>
                </c:pt>
                <c:pt idx="2">
                  <c:v>Repair of Guidance Office</c:v>
                </c:pt>
              </c:strCache>
            </c:strRef>
          </c:cat>
          <c:val>
            <c:numRef>
              <c:f>'3RD QRT'!$B$66:$B$68</c:f>
              <c:numCache>
                <c:formatCode>_(* #,##0.00_);_(* \(#,##0.00\);_(* "-"??_);_(@_)</c:formatCode>
                <c:ptCount val="3"/>
                <c:pt idx="0">
                  <c:v>20000</c:v>
                </c:pt>
                <c:pt idx="1">
                  <c:v>0</c:v>
                </c:pt>
                <c:pt idx="2">
                  <c:v>0</c:v>
                </c:pt>
              </c:numCache>
            </c:numRef>
          </c:val>
          <c:extLst>
            <c:ext xmlns:c16="http://schemas.microsoft.com/office/drawing/2014/chart" uri="{C3380CC4-5D6E-409C-BE32-E72D297353CC}">
              <c16:uniqueId val="{00000006-24FB-44E6-9118-CC31DA87C073}"/>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227403431851103E-2"/>
          <c:y val="4.8284205369624703E-2"/>
          <c:w val="0.69691971078046056"/>
          <c:h val="0.90578411575639528"/>
        </c:manualLayout>
      </c:layout>
      <c:pieChart>
        <c:varyColors val="1"/>
        <c:ser>
          <c:idx val="0"/>
          <c:order val="0"/>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B1F-4719-B46A-2C92F63B8699}"/>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B1F-4719-B46A-2C92F63B8699}"/>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B1F-4719-B46A-2C92F63B8699}"/>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CB1F-4719-B46A-2C92F63B8699}"/>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CB1F-4719-B46A-2C92F63B8699}"/>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CB1F-4719-B46A-2C92F63B8699}"/>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CB1F-4719-B46A-2C92F63B8699}"/>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CB1F-4719-B46A-2C92F63B8699}"/>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1-CB1F-4719-B46A-2C92F63B8699}"/>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3-CB1F-4719-B46A-2C92F63B8699}"/>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5-CB1F-4719-B46A-2C92F63B8699}"/>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7-CB1F-4719-B46A-2C92F63B8699}"/>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9-CB1F-4719-B46A-2C92F63B8699}"/>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B-CB1F-4719-B46A-2C92F63B8699}"/>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D-CB1F-4719-B46A-2C92F63B8699}"/>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F-CB1F-4719-B46A-2C92F63B8699}"/>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1-CB1F-4719-B46A-2C92F63B8699}"/>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3-CB1F-4719-B46A-2C92F63B8699}"/>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5-CB1F-4719-B46A-2C92F63B8699}"/>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7-CB1F-4719-B46A-2C92F63B8699}"/>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9-CB1F-4719-B46A-2C92F63B8699}"/>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B-CB1F-4719-B46A-2C92F63B8699}"/>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D-CB1F-4719-B46A-2C92F63B8699}"/>
              </c:ext>
            </c:extLst>
          </c:dPt>
          <c:dLbls>
            <c:dLbl>
              <c:idx val="0"/>
              <c:layout>
                <c:manualLayout>
                  <c:x val="-7.1908227951128167E-2"/>
                  <c:y val="0.3529395132426628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B1F-4719-B46A-2C92F63B8699}"/>
                </c:ext>
              </c:extLst>
            </c:dLbl>
            <c:dLbl>
              <c:idx val="3"/>
              <c:layout>
                <c:manualLayout>
                  <c:x val="-0.10292803275899784"/>
                  <c:y val="-0.15537617012833979"/>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B1F-4719-B46A-2C92F63B8699}"/>
                </c:ext>
              </c:extLst>
            </c:dLbl>
            <c:dLbl>
              <c:idx val="4"/>
              <c:layout>
                <c:manualLayout>
                  <c:x val="-1.1576863443418789E-2"/>
                  <c:y val="-7.2587822784833708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B1F-4719-B46A-2C92F63B8699}"/>
                </c:ext>
              </c:extLst>
            </c:dLbl>
            <c:dLbl>
              <c:idx val="5"/>
              <c:layout>
                <c:manualLayout>
                  <c:x val="-1.7225950092580305E-2"/>
                  <c:y val="-1.2847422774079017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CB1F-4719-B46A-2C92F63B8699}"/>
                </c:ext>
              </c:extLst>
            </c:dLbl>
            <c:dLbl>
              <c:idx val="6"/>
              <c:layout>
                <c:manualLayout>
                  <c:x val="0.12816810140655291"/>
                  <c:y val="-0.11258727579010618"/>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CB1F-4719-B46A-2C92F63B8699}"/>
                </c:ext>
              </c:extLst>
            </c:dLbl>
            <c:dLbl>
              <c:idx val="7"/>
              <c:layout>
                <c:manualLayout>
                  <c:x val="-3.6240006082552699E-2"/>
                  <c:y val="-4.096503776581394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CB1F-4719-B46A-2C92F63B8699}"/>
                </c:ext>
              </c:extLst>
            </c:dLbl>
            <c:dLbl>
              <c:idx val="9"/>
              <c:layout>
                <c:manualLayout>
                  <c:x val="-4.1428318790477286E-2"/>
                  <c:y val="-0.1688957474404819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B1F-4719-B46A-2C92F63B8699}"/>
                </c:ext>
              </c:extLst>
            </c:dLbl>
            <c:dLbl>
              <c:idx val="12"/>
              <c:layout>
                <c:manualLayout>
                  <c:x val="0.16295250010464582"/>
                  <c:y val="-0.1284621808637557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9-CB1F-4719-B46A-2C92F63B8699}"/>
                </c:ext>
              </c:extLst>
            </c:dLbl>
            <c:dLbl>
              <c:idx val="13"/>
              <c:layout>
                <c:manualLayout>
                  <c:x val="0.22064024631297935"/>
                  <c:y val="-0.2062334764972561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B-CB1F-4719-B46A-2C92F63B8699}"/>
                </c:ext>
              </c:extLst>
            </c:dLbl>
            <c:dLbl>
              <c:idx val="16"/>
              <c:layout>
                <c:manualLayout>
                  <c:x val="5.8229593732426976E-2"/>
                  <c:y val="0.11635644030665081"/>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1-CB1F-4719-B46A-2C92F63B8699}"/>
                </c:ext>
              </c:extLst>
            </c:dLbl>
            <c:dLbl>
              <c:idx val="17"/>
              <c:layout>
                <c:manualLayout>
                  <c:x val="9.2628748534421837E-2"/>
                  <c:y val="0.19140666647506399"/>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3-CB1F-4719-B46A-2C92F63B8699}"/>
                </c:ext>
              </c:extLst>
            </c:dLbl>
            <c:dLbl>
              <c:idx val="18"/>
              <c:layout>
                <c:manualLayout>
                  <c:x val="-3.8142206603104779E-2"/>
                  <c:y val="6.5650029064889329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5-CB1F-4719-B46A-2C92F63B8699}"/>
                </c:ext>
              </c:extLst>
            </c:dLbl>
            <c:dLbl>
              <c:idx val="19"/>
              <c:layout>
                <c:manualLayout>
                  <c:x val="1.231015519767871E-2"/>
                  <c:y val="3.3858046524219351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7-CB1F-4719-B46A-2C92F63B8699}"/>
                </c:ext>
              </c:extLst>
            </c:dLbl>
            <c:dLbl>
              <c:idx val="20"/>
              <c:layout>
                <c:manualLayout>
                  <c:x val="0.10612333684875705"/>
                  <c:y val="0.13781462626817018"/>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9-CB1F-4719-B46A-2C92F63B8699}"/>
                </c:ext>
              </c:extLst>
            </c:dLbl>
            <c:dLbl>
              <c:idx val="21"/>
              <c:layout>
                <c:manualLayout>
                  <c:x val="6.1037350184173972E-2"/>
                  <c:y val="6.175385051839339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B-CB1F-4719-B46A-2C92F63B8699}"/>
                </c:ext>
              </c:extLst>
            </c:dLbl>
            <c:dLbl>
              <c:idx val="22"/>
              <c:layout>
                <c:manualLayout>
                  <c:x val="0.15915217968893131"/>
                  <c:y val="1.6171806408367715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D-CB1F-4719-B46A-2C92F63B8699}"/>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7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'2024'!$A$4:$A$26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'2024'!$H$4:$H$26</c:f>
              <c:numCache>
                <c:formatCode>#,##0.00_ ;[Red]\-#,##0.00\ </c:formatCode>
                <c:ptCount val="23"/>
                <c:pt idx="0">
                  <c:v>70103.75</c:v>
                </c:pt>
                <c:pt idx="1">
                  <c:v>97159.109999999986</c:v>
                </c:pt>
                <c:pt idx="2">
                  <c:v>105750.01999999999</c:v>
                </c:pt>
                <c:pt idx="3">
                  <c:v>180050.35</c:v>
                </c:pt>
                <c:pt idx="4">
                  <c:v>185616</c:v>
                </c:pt>
                <c:pt idx="5">
                  <c:v>0</c:v>
                </c:pt>
                <c:pt idx="6">
                  <c:v>28560</c:v>
                </c:pt>
                <c:pt idx="7">
                  <c:v>20515</c:v>
                </c:pt>
                <c:pt idx="8">
                  <c:v>0</c:v>
                </c:pt>
                <c:pt idx="9">
                  <c:v>0</c:v>
                </c:pt>
                <c:pt idx="12">
                  <c:v>18000</c:v>
                </c:pt>
                <c:pt idx="13">
                  <c:v>36000</c:v>
                </c:pt>
                <c:pt idx="14">
                  <c:v>145265</c:v>
                </c:pt>
                <c:pt idx="15">
                  <c:v>46131</c:v>
                </c:pt>
                <c:pt idx="16">
                  <c:v>113700</c:v>
                </c:pt>
                <c:pt idx="17">
                  <c:v>570</c:v>
                </c:pt>
                <c:pt idx="18">
                  <c:v>7500</c:v>
                </c:pt>
                <c:pt idx="19">
                  <c:v>0</c:v>
                </c:pt>
                <c:pt idx="20">
                  <c:v>61950</c:v>
                </c:pt>
                <c:pt idx="21">
                  <c:v>6838.65</c:v>
                </c:pt>
                <c:pt idx="22">
                  <c:v>0</c:v>
                </c:pt>
              </c:numCache>
            </c:numRef>
          </c:val>
          <c:extLst>
            <c:ext xmlns:c16="http://schemas.microsoft.com/office/drawing/2014/chart" uri="{C3380CC4-5D6E-409C-BE32-E72D297353CC}">
              <c16:uniqueId val="{0000002E-CB1F-4719-B46A-2C92F63B8699}"/>
            </c:ext>
          </c:extLst>
        </c:ser>
        <c:ser>
          <c:idx val="1"/>
          <c:order val="1"/>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0-CB1F-4719-B46A-2C92F63B8699}"/>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2-CB1F-4719-B46A-2C92F63B8699}"/>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4-CB1F-4719-B46A-2C92F63B8699}"/>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6-CB1F-4719-B46A-2C92F63B8699}"/>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8-CB1F-4719-B46A-2C92F63B8699}"/>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A-CB1F-4719-B46A-2C92F63B8699}"/>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C-CB1F-4719-B46A-2C92F63B8699}"/>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E-CB1F-4719-B46A-2C92F63B8699}"/>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0-CB1F-4719-B46A-2C92F63B8699}"/>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2-CB1F-4719-B46A-2C92F63B8699}"/>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4-CB1F-4719-B46A-2C92F63B8699}"/>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6-CB1F-4719-B46A-2C92F63B8699}"/>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8-CB1F-4719-B46A-2C92F63B8699}"/>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A-CB1F-4719-B46A-2C92F63B8699}"/>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C-CB1F-4719-B46A-2C92F63B8699}"/>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E-CB1F-4719-B46A-2C92F63B8699}"/>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0-CB1F-4719-B46A-2C92F63B8699}"/>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2-CB1F-4719-B46A-2C92F63B8699}"/>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4-CB1F-4719-B46A-2C92F63B8699}"/>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6-CB1F-4719-B46A-2C92F63B8699}"/>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8-CB1F-4719-B46A-2C92F63B8699}"/>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A-CB1F-4719-B46A-2C92F63B8699}"/>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C-CB1F-4719-B46A-2C92F63B869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'2024'!$A$4:$A$26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'2024'!$C$4:$C$26</c:f>
              <c:numCache>
                <c:formatCode>#,##0.00_ ;[Red]\-#,##0.00\ </c:formatCode>
                <c:ptCount val="23"/>
                <c:pt idx="0">
                  <c:v>8198</c:v>
                </c:pt>
                <c:pt idx="1">
                  <c:v>11454.55</c:v>
                </c:pt>
                <c:pt idx="2">
                  <c:v>11454.55</c:v>
                </c:pt>
                <c:pt idx="3">
                  <c:v>46488.76</c:v>
                </c:pt>
                <c:pt idx="4">
                  <c:v>39980</c:v>
                </c:pt>
                <c:pt idx="12">
                  <c:v>3000</c:v>
                </c:pt>
                <c:pt idx="13">
                  <c:v>6000</c:v>
                </c:pt>
                <c:pt idx="14">
                  <c:v>29975</c:v>
                </c:pt>
                <c:pt idx="15">
                  <c:v>4100</c:v>
                </c:pt>
                <c:pt idx="17">
                  <c:v>570</c:v>
                </c:pt>
                <c:pt idx="20">
                  <c:v>780</c:v>
                </c:pt>
              </c:numCache>
            </c:numRef>
          </c:val>
          <c:extLst>
            <c:ext xmlns:c16="http://schemas.microsoft.com/office/drawing/2014/chart" uri="{C3380CC4-5D6E-409C-BE32-E72D297353CC}">
              <c16:uniqueId val="{0000005D-CB1F-4719-B46A-2C92F63B8699}"/>
            </c:ext>
          </c:extLst>
        </c:ser>
        <c:ser>
          <c:idx val="2"/>
          <c:order val="2"/>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F-CB1F-4719-B46A-2C92F63B8699}"/>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1-CB1F-4719-B46A-2C92F63B8699}"/>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3-CB1F-4719-B46A-2C92F63B8699}"/>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5-CB1F-4719-B46A-2C92F63B8699}"/>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7-CB1F-4719-B46A-2C92F63B8699}"/>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9-CB1F-4719-B46A-2C92F63B8699}"/>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B-CB1F-4719-B46A-2C92F63B8699}"/>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D-CB1F-4719-B46A-2C92F63B8699}"/>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F-CB1F-4719-B46A-2C92F63B8699}"/>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1-CB1F-4719-B46A-2C92F63B8699}"/>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3-CB1F-4719-B46A-2C92F63B8699}"/>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5-CB1F-4719-B46A-2C92F63B8699}"/>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7-CB1F-4719-B46A-2C92F63B8699}"/>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9-CB1F-4719-B46A-2C92F63B8699}"/>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B-CB1F-4719-B46A-2C92F63B8699}"/>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D-CB1F-4719-B46A-2C92F63B8699}"/>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F-CB1F-4719-B46A-2C92F63B8699}"/>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1-CB1F-4719-B46A-2C92F63B8699}"/>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3-CB1F-4719-B46A-2C92F63B8699}"/>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5-CB1F-4719-B46A-2C92F63B8699}"/>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7-CB1F-4719-B46A-2C92F63B8699}"/>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9-CB1F-4719-B46A-2C92F63B8699}"/>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B-CB1F-4719-B46A-2C92F63B869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'2024'!$A$4:$A$26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'2024'!$D$4:$D$26</c:f>
              <c:numCache>
                <c:formatCode>#,##0.00_ ;[Red]\-#,##0.00\ </c:formatCode>
                <c:ptCount val="23"/>
                <c:pt idx="0">
                  <c:v>10396.01</c:v>
                </c:pt>
                <c:pt idx="1">
                  <c:v>17181.82</c:v>
                </c:pt>
                <c:pt idx="2">
                  <c:v>17181.82</c:v>
                </c:pt>
                <c:pt idx="3">
                  <c:v>31434.880000000001</c:v>
                </c:pt>
                <c:pt idx="4">
                  <c:v>39640</c:v>
                </c:pt>
                <c:pt idx="11">
                  <c:v>32998</c:v>
                </c:pt>
                <c:pt idx="12">
                  <c:v>3000</c:v>
                </c:pt>
                <c:pt idx="13">
                  <c:v>6000</c:v>
                </c:pt>
                <c:pt idx="14">
                  <c:v>30637</c:v>
                </c:pt>
                <c:pt idx="15">
                  <c:v>7110</c:v>
                </c:pt>
                <c:pt idx="20">
                  <c:v>640</c:v>
                </c:pt>
              </c:numCache>
            </c:numRef>
          </c:val>
          <c:extLst>
            <c:ext xmlns:c16="http://schemas.microsoft.com/office/drawing/2014/chart" uri="{C3380CC4-5D6E-409C-BE32-E72D297353CC}">
              <c16:uniqueId val="{0000008C-CB1F-4719-B46A-2C92F63B8699}"/>
            </c:ext>
          </c:extLst>
        </c:ser>
        <c:ser>
          <c:idx val="3"/>
          <c:order val="3"/>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E-CB1F-4719-B46A-2C92F63B8699}"/>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0-CB1F-4719-B46A-2C92F63B8699}"/>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2-CB1F-4719-B46A-2C92F63B8699}"/>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4-CB1F-4719-B46A-2C92F63B8699}"/>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6-CB1F-4719-B46A-2C92F63B8699}"/>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8-CB1F-4719-B46A-2C92F63B8699}"/>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A-CB1F-4719-B46A-2C92F63B8699}"/>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C-CB1F-4719-B46A-2C92F63B8699}"/>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E-CB1F-4719-B46A-2C92F63B8699}"/>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0-CB1F-4719-B46A-2C92F63B8699}"/>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2-CB1F-4719-B46A-2C92F63B8699}"/>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4-CB1F-4719-B46A-2C92F63B8699}"/>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6-CB1F-4719-B46A-2C92F63B8699}"/>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8-CB1F-4719-B46A-2C92F63B8699}"/>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A-CB1F-4719-B46A-2C92F63B8699}"/>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C-CB1F-4719-B46A-2C92F63B8699}"/>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E-CB1F-4719-B46A-2C92F63B8699}"/>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0-CB1F-4719-B46A-2C92F63B8699}"/>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2-CB1F-4719-B46A-2C92F63B8699}"/>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4-CB1F-4719-B46A-2C92F63B8699}"/>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6-CB1F-4719-B46A-2C92F63B8699}"/>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8-CB1F-4719-B46A-2C92F63B8699}"/>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A-CB1F-4719-B46A-2C92F63B869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'2024'!$A$4:$A$26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'2024'!$E$4:$E$26</c:f>
              <c:numCache>
                <c:formatCode>#,##0.00_ ;[Red]\-#,##0.00\ </c:formatCode>
                <c:ptCount val="23"/>
                <c:pt idx="0">
                  <c:v>12204.34</c:v>
                </c:pt>
                <c:pt idx="1">
                  <c:v>17181.82</c:v>
                </c:pt>
                <c:pt idx="2">
                  <c:v>17181.82</c:v>
                </c:pt>
                <c:pt idx="3">
                  <c:v>13162.66</c:v>
                </c:pt>
                <c:pt idx="4">
                  <c:v>44807</c:v>
                </c:pt>
                <c:pt idx="6">
                  <c:v>10260</c:v>
                </c:pt>
                <c:pt idx="10">
                  <c:v>17630</c:v>
                </c:pt>
                <c:pt idx="12">
                  <c:v>3000</c:v>
                </c:pt>
                <c:pt idx="13">
                  <c:v>6000</c:v>
                </c:pt>
                <c:pt idx="14">
                  <c:v>39984</c:v>
                </c:pt>
                <c:pt idx="15">
                  <c:v>12910</c:v>
                </c:pt>
                <c:pt idx="16">
                  <c:v>6000</c:v>
                </c:pt>
                <c:pt idx="20">
                  <c:v>2490</c:v>
                </c:pt>
              </c:numCache>
            </c:numRef>
          </c:val>
          <c:extLst>
            <c:ext xmlns:c16="http://schemas.microsoft.com/office/drawing/2014/chart" uri="{C3380CC4-5D6E-409C-BE32-E72D297353CC}">
              <c16:uniqueId val="{000000BB-CB1F-4719-B46A-2C92F63B8699}"/>
            </c:ext>
          </c:extLst>
        </c:ser>
        <c:ser>
          <c:idx val="4"/>
          <c:order val="4"/>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D-CB1F-4719-B46A-2C92F63B8699}"/>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F-CB1F-4719-B46A-2C92F63B8699}"/>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1-CB1F-4719-B46A-2C92F63B8699}"/>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3-CB1F-4719-B46A-2C92F63B8699}"/>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5-CB1F-4719-B46A-2C92F63B8699}"/>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7-CB1F-4719-B46A-2C92F63B8699}"/>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9-CB1F-4719-B46A-2C92F63B8699}"/>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B-CB1F-4719-B46A-2C92F63B8699}"/>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D-CB1F-4719-B46A-2C92F63B8699}"/>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F-CB1F-4719-B46A-2C92F63B8699}"/>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1-CB1F-4719-B46A-2C92F63B8699}"/>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3-CB1F-4719-B46A-2C92F63B8699}"/>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5-CB1F-4719-B46A-2C92F63B8699}"/>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7-CB1F-4719-B46A-2C92F63B8699}"/>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9-CB1F-4719-B46A-2C92F63B8699}"/>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B-CB1F-4719-B46A-2C92F63B8699}"/>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D-CB1F-4719-B46A-2C92F63B8699}"/>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F-CB1F-4719-B46A-2C92F63B8699}"/>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1-CB1F-4719-B46A-2C92F63B8699}"/>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3-CB1F-4719-B46A-2C92F63B8699}"/>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5-CB1F-4719-B46A-2C92F63B8699}"/>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7-CB1F-4719-B46A-2C92F63B8699}"/>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9-CB1F-4719-B46A-2C92F63B869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'2024'!$A$4:$A$26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'2024'!$H$4:$H$26</c:f>
              <c:numCache>
                <c:formatCode>#,##0.00_ ;[Red]\-#,##0.00\ </c:formatCode>
                <c:ptCount val="23"/>
                <c:pt idx="0">
                  <c:v>70103.75</c:v>
                </c:pt>
                <c:pt idx="1">
                  <c:v>97159.109999999986</c:v>
                </c:pt>
                <c:pt idx="2">
                  <c:v>105750.01999999999</c:v>
                </c:pt>
                <c:pt idx="3">
                  <c:v>180050.35</c:v>
                </c:pt>
                <c:pt idx="4">
                  <c:v>185616</c:v>
                </c:pt>
                <c:pt idx="5">
                  <c:v>0</c:v>
                </c:pt>
                <c:pt idx="6">
                  <c:v>28560</c:v>
                </c:pt>
                <c:pt idx="7">
                  <c:v>20515</c:v>
                </c:pt>
                <c:pt idx="8">
                  <c:v>0</c:v>
                </c:pt>
                <c:pt idx="9">
                  <c:v>0</c:v>
                </c:pt>
                <c:pt idx="12">
                  <c:v>18000</c:v>
                </c:pt>
                <c:pt idx="13">
                  <c:v>36000</c:v>
                </c:pt>
                <c:pt idx="14">
                  <c:v>145265</c:v>
                </c:pt>
                <c:pt idx="15">
                  <c:v>46131</c:v>
                </c:pt>
                <c:pt idx="16">
                  <c:v>113700</c:v>
                </c:pt>
                <c:pt idx="17">
                  <c:v>570</c:v>
                </c:pt>
                <c:pt idx="18">
                  <c:v>7500</c:v>
                </c:pt>
                <c:pt idx="19">
                  <c:v>0</c:v>
                </c:pt>
                <c:pt idx="20">
                  <c:v>61950</c:v>
                </c:pt>
                <c:pt idx="21">
                  <c:v>6838.65</c:v>
                </c:pt>
                <c:pt idx="22">
                  <c:v>0</c:v>
                </c:pt>
              </c:numCache>
            </c:numRef>
          </c:val>
          <c:extLst>
            <c:ext xmlns:c16="http://schemas.microsoft.com/office/drawing/2014/chart" uri="{C3380CC4-5D6E-409C-BE32-E72D297353CC}">
              <c16:uniqueId val="{000000EA-CB1F-4719-B46A-2C92F63B8699}"/>
            </c:ext>
          </c:extLst>
        </c:ser>
        <c:dLbls>
          <c:dLblPos val="ctr"/>
          <c:showLegendKey val="0"/>
          <c:showVal val="0"/>
          <c:showCatName val="1"/>
          <c:showSerName val="0"/>
          <c:showPercent val="1"/>
          <c:showBubbleSize val="0"/>
          <c:showLeaderLines val="1"/>
        </c:dLbls>
        <c:firstSliceAng val="0"/>
      </c:pieChart>
      <c:spPr>
        <a:noFill/>
        <a:ln>
          <a:noFill/>
        </a:ln>
        <a:effectLst/>
      </c:spPr>
    </c:plotArea>
    <c:legend>
      <c:legendPos val="r"/>
      <c:layout>
        <c:manualLayout>
          <c:xMode val="edge"/>
          <c:yMode val="edge"/>
          <c:x val="0.59451406866195711"/>
          <c:y val="3.381525226013414E-2"/>
          <c:w val="0.40067057711959531"/>
          <c:h val="0.92470569651015844"/>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309088222182221E-2"/>
          <c:y val="7.721795943036458E-2"/>
          <c:w val="0.67255217728061523"/>
          <c:h val="0.91785323464854829"/>
        </c:manualLayout>
      </c:layout>
      <c:pieChart>
        <c:varyColors val="1"/>
        <c:ser>
          <c:idx val="0"/>
          <c:order val="0"/>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9AB-4C5E-AE77-DCC6812377B5}"/>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9AB-4C5E-AE77-DCC6812377B5}"/>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49AB-4C5E-AE77-DCC6812377B5}"/>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49AB-4C5E-AE77-DCC6812377B5}"/>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49AB-4C5E-AE77-DCC6812377B5}"/>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49AB-4C5E-AE77-DCC6812377B5}"/>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49AB-4C5E-AE77-DCC6812377B5}"/>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49AB-4C5E-AE77-DCC6812377B5}"/>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1-49AB-4C5E-AE77-DCC6812377B5}"/>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3-49AB-4C5E-AE77-DCC6812377B5}"/>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5-49AB-4C5E-AE77-DCC6812377B5}"/>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7-49AB-4C5E-AE77-DCC6812377B5}"/>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9-49AB-4C5E-AE77-DCC6812377B5}"/>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B-49AB-4C5E-AE77-DCC6812377B5}"/>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D-49AB-4C5E-AE77-DCC6812377B5}"/>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F-49AB-4C5E-AE77-DCC6812377B5}"/>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1-49AB-4C5E-AE77-DCC6812377B5}"/>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3-49AB-4C5E-AE77-DCC6812377B5}"/>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5-49AB-4C5E-AE77-DCC6812377B5}"/>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7-49AB-4C5E-AE77-DCC6812377B5}"/>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9-49AB-4C5E-AE77-DCC6812377B5}"/>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B-49AB-4C5E-AE77-DCC6812377B5}"/>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2D-49AB-4C5E-AE77-DCC6812377B5}"/>
              </c:ext>
            </c:extLst>
          </c:dPt>
          <c:dLbls>
            <c:dLbl>
              <c:idx val="0"/>
              <c:layout>
                <c:manualLayout>
                  <c:x val="0.14945366911942051"/>
                  <c:y val="3.2905995086006661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9AB-4C5E-AE77-DCC6812377B5}"/>
                </c:ext>
              </c:extLst>
            </c:dLbl>
            <c:dLbl>
              <c:idx val="1"/>
              <c:layout>
                <c:manualLayout>
                  <c:x val="-7.2326032491483977E-2"/>
                  <c:y val="0.113266485011851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9AB-4C5E-AE77-DCC6812377B5}"/>
                </c:ext>
              </c:extLst>
            </c:dLbl>
            <c:dLbl>
              <c:idx val="2"/>
              <c:layout>
                <c:manualLayout>
                  <c:x val="-9.7812964122249713E-2"/>
                  <c:y val="0.1162755269110079"/>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9AB-4C5E-AE77-DCC6812377B5}"/>
                </c:ext>
              </c:extLst>
            </c:dLbl>
            <c:dLbl>
              <c:idx val="4"/>
              <c:layout>
                <c:manualLayout>
                  <c:x val="-8.1648543858019909E-2"/>
                  <c:y val="-0.14368966890727364"/>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9AB-4C5E-AE77-DCC6812377B5}"/>
                </c:ext>
              </c:extLst>
            </c:dLbl>
            <c:dLbl>
              <c:idx val="9"/>
              <c:layout>
                <c:manualLayout>
                  <c:x val="0.19616781461433466"/>
                  <c:y val="-0.24664100331576061"/>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3-49AB-4C5E-AE77-DCC6812377B5}"/>
                </c:ext>
              </c:extLst>
            </c:dLbl>
            <c:dLbl>
              <c:idx val="10"/>
              <c:layout>
                <c:manualLayout>
                  <c:x val="1.6991957243406598E-4"/>
                  <c:y val="6.8573787425589049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5-49AB-4C5E-AE77-DCC6812377B5}"/>
                </c:ext>
              </c:extLst>
            </c:dLbl>
            <c:dLbl>
              <c:idx val="11"/>
              <c:layout>
                <c:manualLayout>
                  <c:x val="1.5491618300366066E-3"/>
                  <c:y val="6.6687049382782818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7-49AB-4C5E-AE77-DCC6812377B5}"/>
                </c:ext>
              </c:extLst>
            </c:dLbl>
            <c:dLbl>
              <c:idx val="12"/>
              <c:layout>
                <c:manualLayout>
                  <c:x val="0.12223118532778023"/>
                  <c:y val="6.0614487465505823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9-49AB-4C5E-AE77-DCC6812377B5}"/>
                </c:ext>
              </c:extLst>
            </c:dLbl>
            <c:dLbl>
              <c:idx val="15"/>
              <c:layout>
                <c:manualLayout>
                  <c:x val="-0.16195600829299575"/>
                  <c:y val="0.22828587089119654"/>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F-49AB-4C5E-AE77-DCC6812377B5}"/>
                </c:ext>
              </c:extLst>
            </c:dLbl>
            <c:dLbl>
              <c:idx val="16"/>
              <c:layout>
                <c:manualLayout>
                  <c:x val="-0.19648833583546582"/>
                  <c:y val="0.15338433566282025"/>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1-49AB-4C5E-AE77-DCC6812377B5}"/>
                </c:ext>
              </c:extLst>
            </c:dLbl>
            <c:dLbl>
              <c:idx val="17"/>
              <c:layout>
                <c:manualLayout>
                  <c:x val="-0.24827167687953824"/>
                  <c:y val="6.665737038936248E-2"/>
                </c:manualLayout>
              </c:layout>
              <c:tx>
                <c:rich>
                  <a:bodyPr/>
                  <a:lstStyle/>
                  <a:p>
                    <a:fld id="{E0AF1852-89F8-4EE9-88D6-00421923C31F}" type="CATEGORYNAME">
                      <a:rPr lang="en-US"/>
                      <a:pPr/>
                      <a:t>[CATEGORY NAME]</a:t>
                    </a:fld>
                    <a:r>
                      <a:rPr lang="en-US" baseline="0"/>
                      <a:t>
0.003%</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23-49AB-4C5E-AE77-DCC6812377B5}"/>
                </c:ext>
              </c:extLst>
            </c:dLbl>
            <c:dLbl>
              <c:idx val="18"/>
              <c:layout>
                <c:manualLayout>
                  <c:x val="-0.13811573908675684"/>
                  <c:y val="-1.0457033901429314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5-49AB-4C5E-AE77-DCC6812377B5}"/>
                </c:ext>
              </c:extLst>
            </c:dLbl>
            <c:dLbl>
              <c:idx val="20"/>
              <c:layout>
                <c:manualLayout>
                  <c:x val="1.8844969297864108E-2"/>
                  <c:y val="-5.2041881807989489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9-49AB-4C5E-AE77-DCC6812377B5}"/>
                </c:ext>
              </c:extLst>
            </c:dLbl>
            <c:dLbl>
              <c:idx val="21"/>
              <c:layout>
                <c:manualLayout>
                  <c:x val="9.1115063406205454E-2"/>
                  <c:y val="0.1084782180918752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B-49AB-4C5E-AE77-DCC6812377B5}"/>
                </c:ext>
              </c:extLst>
            </c:dLbl>
            <c:dLbl>
              <c:idx val="22"/>
              <c:layout>
                <c:manualLayout>
                  <c:x val="-0.11169180897819743"/>
                  <c:y val="3.596102228491564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D-49AB-4C5E-AE77-DCC6812377B5}"/>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Machinery/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'2025'!$B$4:$B$26</c:f>
              <c:numCache>
                <c:formatCode>#,##0.00_ ;[Red]\-#,##0.00\ </c:formatCode>
                <c:ptCount val="23"/>
                <c:pt idx="0">
                  <c:v>4000</c:v>
                </c:pt>
                <c:pt idx="1">
                  <c:v>12272.73</c:v>
                </c:pt>
                <c:pt idx="2">
                  <c:v>12272.73</c:v>
                </c:pt>
                <c:pt idx="3">
                  <c:v>34762.910000000003</c:v>
                </c:pt>
                <c:pt idx="4">
                  <c:v>38072.5</c:v>
                </c:pt>
                <c:pt idx="9">
                  <c:v>29980</c:v>
                </c:pt>
                <c:pt idx="11">
                  <c:v>4850</c:v>
                </c:pt>
                <c:pt idx="13">
                  <c:v>9900</c:v>
                </c:pt>
                <c:pt idx="14">
                  <c:v>29725</c:v>
                </c:pt>
                <c:pt idx="15">
                  <c:v>6730</c:v>
                </c:pt>
                <c:pt idx="16">
                  <c:v>2000</c:v>
                </c:pt>
                <c:pt idx="17">
                  <c:v>570</c:v>
                </c:pt>
                <c:pt idx="18">
                  <c:v>3375</c:v>
                </c:pt>
                <c:pt idx="20">
                  <c:v>3170</c:v>
                </c:pt>
              </c:numCache>
            </c:numRef>
          </c:val>
          <c:extLst>
            <c:ext xmlns:c16="http://schemas.microsoft.com/office/drawing/2014/chart" uri="{C3380CC4-5D6E-409C-BE32-E72D297353CC}">
              <c16:uniqueId val="{0000002E-49AB-4C5E-AE77-DCC6812377B5}"/>
            </c:ext>
          </c:extLst>
        </c:ser>
        <c:ser>
          <c:idx val="1"/>
          <c:order val="1"/>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0-49AB-4C5E-AE77-DCC6812377B5}"/>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2-49AB-4C5E-AE77-DCC6812377B5}"/>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4-49AB-4C5E-AE77-DCC6812377B5}"/>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6-49AB-4C5E-AE77-DCC6812377B5}"/>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8-49AB-4C5E-AE77-DCC6812377B5}"/>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A-49AB-4C5E-AE77-DCC6812377B5}"/>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C-49AB-4C5E-AE77-DCC6812377B5}"/>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3E-49AB-4C5E-AE77-DCC6812377B5}"/>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0-49AB-4C5E-AE77-DCC6812377B5}"/>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2-49AB-4C5E-AE77-DCC6812377B5}"/>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4-49AB-4C5E-AE77-DCC6812377B5}"/>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6-49AB-4C5E-AE77-DCC6812377B5}"/>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8-49AB-4C5E-AE77-DCC6812377B5}"/>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A-49AB-4C5E-AE77-DCC6812377B5}"/>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C-49AB-4C5E-AE77-DCC6812377B5}"/>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4E-49AB-4C5E-AE77-DCC6812377B5}"/>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0-49AB-4C5E-AE77-DCC6812377B5}"/>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2-49AB-4C5E-AE77-DCC6812377B5}"/>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4-49AB-4C5E-AE77-DCC6812377B5}"/>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6-49AB-4C5E-AE77-DCC6812377B5}"/>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8-49AB-4C5E-AE77-DCC6812377B5}"/>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A-49AB-4C5E-AE77-DCC6812377B5}"/>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C-49AB-4C5E-AE77-DCC6812377B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Machinery/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'2025'!$C$4:$C$26</c:f>
              <c:numCache>
                <c:formatCode>General</c:formatCode>
                <c:ptCount val="23"/>
              </c:numCache>
            </c:numRef>
          </c:val>
          <c:extLst>
            <c:ext xmlns:c16="http://schemas.microsoft.com/office/drawing/2014/chart" uri="{C3380CC4-5D6E-409C-BE32-E72D297353CC}">
              <c16:uniqueId val="{0000005D-49AB-4C5E-AE77-DCC6812377B5}"/>
            </c:ext>
          </c:extLst>
        </c:ser>
        <c:ser>
          <c:idx val="2"/>
          <c:order val="2"/>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5F-49AB-4C5E-AE77-DCC6812377B5}"/>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1-49AB-4C5E-AE77-DCC6812377B5}"/>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3-49AB-4C5E-AE77-DCC6812377B5}"/>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5-49AB-4C5E-AE77-DCC6812377B5}"/>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7-49AB-4C5E-AE77-DCC6812377B5}"/>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9-49AB-4C5E-AE77-DCC6812377B5}"/>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B-49AB-4C5E-AE77-DCC6812377B5}"/>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D-49AB-4C5E-AE77-DCC6812377B5}"/>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6F-49AB-4C5E-AE77-DCC6812377B5}"/>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1-49AB-4C5E-AE77-DCC6812377B5}"/>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3-49AB-4C5E-AE77-DCC6812377B5}"/>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5-49AB-4C5E-AE77-DCC6812377B5}"/>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7-49AB-4C5E-AE77-DCC6812377B5}"/>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9-49AB-4C5E-AE77-DCC6812377B5}"/>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B-49AB-4C5E-AE77-DCC6812377B5}"/>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D-49AB-4C5E-AE77-DCC6812377B5}"/>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7F-49AB-4C5E-AE77-DCC6812377B5}"/>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1-49AB-4C5E-AE77-DCC6812377B5}"/>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3-49AB-4C5E-AE77-DCC6812377B5}"/>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5-49AB-4C5E-AE77-DCC6812377B5}"/>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7-49AB-4C5E-AE77-DCC6812377B5}"/>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9-49AB-4C5E-AE77-DCC6812377B5}"/>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B-49AB-4C5E-AE77-DCC6812377B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Machinery/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'2025'!$D$4:$D$26</c:f>
              <c:numCache>
                <c:formatCode>General</c:formatCode>
                <c:ptCount val="23"/>
              </c:numCache>
            </c:numRef>
          </c:val>
          <c:extLst>
            <c:ext xmlns:c16="http://schemas.microsoft.com/office/drawing/2014/chart" uri="{C3380CC4-5D6E-409C-BE32-E72D297353CC}">
              <c16:uniqueId val="{0000008C-49AB-4C5E-AE77-DCC6812377B5}"/>
            </c:ext>
          </c:extLst>
        </c:ser>
        <c:ser>
          <c:idx val="3"/>
          <c:order val="3"/>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8E-49AB-4C5E-AE77-DCC6812377B5}"/>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0-49AB-4C5E-AE77-DCC6812377B5}"/>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2-49AB-4C5E-AE77-DCC6812377B5}"/>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4-49AB-4C5E-AE77-DCC6812377B5}"/>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6-49AB-4C5E-AE77-DCC6812377B5}"/>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8-49AB-4C5E-AE77-DCC6812377B5}"/>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A-49AB-4C5E-AE77-DCC6812377B5}"/>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C-49AB-4C5E-AE77-DCC6812377B5}"/>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9E-49AB-4C5E-AE77-DCC6812377B5}"/>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0-49AB-4C5E-AE77-DCC6812377B5}"/>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2-49AB-4C5E-AE77-DCC6812377B5}"/>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4-49AB-4C5E-AE77-DCC6812377B5}"/>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6-49AB-4C5E-AE77-DCC6812377B5}"/>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8-49AB-4C5E-AE77-DCC6812377B5}"/>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A-49AB-4C5E-AE77-DCC6812377B5}"/>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C-49AB-4C5E-AE77-DCC6812377B5}"/>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AE-49AB-4C5E-AE77-DCC6812377B5}"/>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0-49AB-4C5E-AE77-DCC6812377B5}"/>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2-49AB-4C5E-AE77-DCC6812377B5}"/>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4-49AB-4C5E-AE77-DCC6812377B5}"/>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6-49AB-4C5E-AE77-DCC6812377B5}"/>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8-49AB-4C5E-AE77-DCC6812377B5}"/>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A-49AB-4C5E-AE77-DCC6812377B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Machinery/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'2025'!$E$4:$E$26</c:f>
              <c:numCache>
                <c:formatCode>General</c:formatCode>
                <c:ptCount val="23"/>
              </c:numCache>
            </c:numRef>
          </c:val>
          <c:extLst>
            <c:ext xmlns:c16="http://schemas.microsoft.com/office/drawing/2014/chart" uri="{C3380CC4-5D6E-409C-BE32-E72D297353CC}">
              <c16:uniqueId val="{000000BB-49AB-4C5E-AE77-DCC6812377B5}"/>
            </c:ext>
          </c:extLst>
        </c:ser>
        <c:ser>
          <c:idx val="4"/>
          <c:order val="4"/>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D-49AB-4C5E-AE77-DCC6812377B5}"/>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BF-49AB-4C5E-AE77-DCC6812377B5}"/>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1-49AB-4C5E-AE77-DCC6812377B5}"/>
              </c:ext>
            </c:extLst>
          </c:dPt>
          <c:dPt>
            <c:idx val="3"/>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3-49AB-4C5E-AE77-DCC6812377B5}"/>
              </c:ext>
            </c:extLst>
          </c:dPt>
          <c:dPt>
            <c:idx val="4"/>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5-49AB-4C5E-AE77-DCC6812377B5}"/>
              </c:ext>
            </c:extLst>
          </c:dPt>
          <c:dPt>
            <c:idx val="5"/>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7-49AB-4C5E-AE77-DCC6812377B5}"/>
              </c:ext>
            </c:extLst>
          </c:dPt>
          <c:dPt>
            <c:idx val="6"/>
            <c:bubble3D val="0"/>
            <c:spPr>
              <a:solidFill>
                <a:schemeClr val="accent2">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9-49AB-4C5E-AE77-DCC6812377B5}"/>
              </c:ext>
            </c:extLst>
          </c:dPt>
          <c:dPt>
            <c:idx val="7"/>
            <c:bubble3D val="0"/>
            <c:spPr>
              <a:solidFill>
                <a:schemeClr val="accent4">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B-49AB-4C5E-AE77-DCC6812377B5}"/>
              </c:ext>
            </c:extLst>
          </c:dPt>
          <c:dPt>
            <c:idx val="8"/>
            <c:bubble3D val="0"/>
            <c:spPr>
              <a:solidFill>
                <a:schemeClr val="accent6">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D-49AB-4C5E-AE77-DCC6812377B5}"/>
              </c:ext>
            </c:extLst>
          </c:dPt>
          <c:dPt>
            <c:idx val="9"/>
            <c:bubble3D val="0"/>
            <c:spPr>
              <a:solidFill>
                <a:schemeClr val="accent2">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CF-49AB-4C5E-AE77-DCC6812377B5}"/>
              </c:ext>
            </c:extLst>
          </c:dPt>
          <c:dPt>
            <c:idx val="10"/>
            <c:bubble3D val="0"/>
            <c:spPr>
              <a:solidFill>
                <a:schemeClr val="accent4">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1-49AB-4C5E-AE77-DCC6812377B5}"/>
              </c:ext>
            </c:extLst>
          </c:dPt>
          <c:dPt>
            <c:idx val="11"/>
            <c:bubble3D val="0"/>
            <c:spPr>
              <a:solidFill>
                <a:schemeClr val="accent6">
                  <a:lumMod val="8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3-49AB-4C5E-AE77-DCC6812377B5}"/>
              </c:ext>
            </c:extLst>
          </c:dPt>
          <c:dPt>
            <c:idx val="12"/>
            <c:bubble3D val="0"/>
            <c:spPr>
              <a:solidFill>
                <a:schemeClr val="accent2">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5-49AB-4C5E-AE77-DCC6812377B5}"/>
              </c:ext>
            </c:extLst>
          </c:dPt>
          <c:dPt>
            <c:idx val="13"/>
            <c:bubble3D val="0"/>
            <c:spPr>
              <a:solidFill>
                <a:schemeClr val="accent4">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7-49AB-4C5E-AE77-DCC6812377B5}"/>
              </c:ext>
            </c:extLst>
          </c:dPt>
          <c:dPt>
            <c:idx val="14"/>
            <c:bubble3D val="0"/>
            <c:spPr>
              <a:solidFill>
                <a:schemeClr val="accent6">
                  <a:lumMod val="60000"/>
                  <a:lumOff val="4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9-49AB-4C5E-AE77-DCC6812377B5}"/>
              </c:ext>
            </c:extLst>
          </c:dPt>
          <c:dPt>
            <c:idx val="15"/>
            <c:bubble3D val="0"/>
            <c:spPr>
              <a:solidFill>
                <a:schemeClr val="accent2">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B-49AB-4C5E-AE77-DCC6812377B5}"/>
              </c:ext>
            </c:extLst>
          </c:dPt>
          <c:dPt>
            <c:idx val="16"/>
            <c:bubble3D val="0"/>
            <c:spPr>
              <a:solidFill>
                <a:schemeClr val="accent4">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D-49AB-4C5E-AE77-DCC6812377B5}"/>
              </c:ext>
            </c:extLst>
          </c:dPt>
          <c:dPt>
            <c:idx val="17"/>
            <c:bubble3D val="0"/>
            <c:spPr>
              <a:solidFill>
                <a:schemeClr val="accent6">
                  <a:lumMod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DF-49AB-4C5E-AE77-DCC6812377B5}"/>
              </c:ext>
            </c:extLst>
          </c:dPt>
          <c:dPt>
            <c:idx val="18"/>
            <c:bubble3D val="0"/>
            <c:spPr>
              <a:solidFill>
                <a:schemeClr val="accent2">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1-49AB-4C5E-AE77-DCC6812377B5}"/>
              </c:ext>
            </c:extLst>
          </c:dPt>
          <c:dPt>
            <c:idx val="19"/>
            <c:bubble3D val="0"/>
            <c:spPr>
              <a:solidFill>
                <a:schemeClr val="accent4">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3-49AB-4C5E-AE77-DCC6812377B5}"/>
              </c:ext>
            </c:extLst>
          </c:dPt>
          <c:dPt>
            <c:idx val="20"/>
            <c:bubble3D val="0"/>
            <c:spPr>
              <a:solidFill>
                <a:schemeClr val="accent6">
                  <a:lumMod val="70000"/>
                  <a:lumOff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5-49AB-4C5E-AE77-DCC6812377B5}"/>
              </c:ext>
            </c:extLst>
          </c:dPt>
          <c:dPt>
            <c:idx val="21"/>
            <c:bubble3D val="0"/>
            <c:spPr>
              <a:solidFill>
                <a:schemeClr val="accent2">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7-49AB-4C5E-AE77-DCC6812377B5}"/>
              </c:ext>
            </c:extLst>
          </c:dPt>
          <c:dPt>
            <c:idx val="22"/>
            <c:bubble3D val="0"/>
            <c:spPr>
              <a:solidFill>
                <a:schemeClr val="accent4">
                  <a:lumMod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E9-49AB-4C5E-AE77-DCC6812377B5}"/>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'2025'!$A$4:$A$26</c:f>
              <c:strCache>
                <c:ptCount val="23"/>
                <c:pt idx="0">
                  <c:v>Internet Expense</c:v>
                </c:pt>
                <c:pt idx="1">
                  <c:v>Janitorial Services</c:v>
                </c:pt>
                <c:pt idx="2">
                  <c:v>Security Services</c:v>
                </c:pt>
                <c:pt idx="3">
                  <c:v>Electricity Expense</c:v>
                </c:pt>
                <c:pt idx="4">
                  <c:v>Office Supplies</c:v>
                </c:pt>
                <c:pt idx="5">
                  <c:v>Textbook and Instructional Materials Expense</c:v>
                </c:pt>
                <c:pt idx="6">
                  <c:v>Non Accountable Form Expense</c:v>
                </c:pt>
                <c:pt idx="7">
                  <c:v>Semi Expendable- Sports Equipment</c:v>
                </c:pt>
                <c:pt idx="8">
                  <c:v>Semi Expendable- ICT Equipment</c:v>
                </c:pt>
                <c:pt idx="9">
                  <c:v>Semi Expendable- Communications</c:v>
                </c:pt>
                <c:pt idx="10">
                  <c:v>Semi Expendable- Furniture &amp; Fixtures</c:v>
                </c:pt>
                <c:pt idx="11">
                  <c:v>Semi Expendable- Other Machinery/ Equipment</c:v>
                </c:pt>
                <c:pt idx="12">
                  <c:v>Telephone-Mobile Expense</c:v>
                </c:pt>
                <c:pt idx="13">
                  <c:v>Water Expense</c:v>
                </c:pt>
                <c:pt idx="14">
                  <c:v>Other Supplies Expense</c:v>
                </c:pt>
                <c:pt idx="15">
                  <c:v>Travelling Expense</c:v>
                </c:pt>
                <c:pt idx="16">
                  <c:v>Training Expense</c:v>
                </c:pt>
                <c:pt idx="17">
                  <c:v>Bank Transaction Fee</c:v>
                </c:pt>
                <c:pt idx="18">
                  <c:v>Fidelity Bond Premium</c:v>
                </c:pt>
                <c:pt idx="19">
                  <c:v>Drugs a nd Medicines Expense</c:v>
                </c:pt>
                <c:pt idx="20">
                  <c:v>Printing and Publication Expense</c:v>
                </c:pt>
                <c:pt idx="21">
                  <c:v>BTR Regular Fund</c:v>
                </c:pt>
                <c:pt idx="22">
                  <c:v>Due from Officers and Employees</c:v>
                </c:pt>
              </c:strCache>
            </c:strRef>
          </c:cat>
          <c:val>
            <c:numRef>
              <c:f>'2025'!$H$4:$H$26</c:f>
              <c:numCache>
                <c:formatCode>#,##0.00_ ;[Red]\-#,##0.00\ </c:formatCode>
                <c:ptCount val="23"/>
                <c:pt idx="0">
                  <c:v>4000</c:v>
                </c:pt>
                <c:pt idx="1">
                  <c:v>12272.73</c:v>
                </c:pt>
                <c:pt idx="2">
                  <c:v>12272.73</c:v>
                </c:pt>
                <c:pt idx="3">
                  <c:v>34762.910000000003</c:v>
                </c:pt>
                <c:pt idx="4">
                  <c:v>38072.5</c:v>
                </c:pt>
                <c:pt idx="5">
                  <c:v>0</c:v>
                </c:pt>
                <c:pt idx="6">
                  <c:v>0</c:v>
                </c:pt>
                <c:pt idx="7">
                  <c:v>0</c:v>
                </c:pt>
                <c:pt idx="8">
                  <c:v>0</c:v>
                </c:pt>
                <c:pt idx="9">
                  <c:v>29980</c:v>
                </c:pt>
                <c:pt idx="10">
                  <c:v>0</c:v>
                </c:pt>
                <c:pt idx="11">
                  <c:v>4850</c:v>
                </c:pt>
                <c:pt idx="12">
                  <c:v>0</c:v>
                </c:pt>
                <c:pt idx="13">
                  <c:v>9900</c:v>
                </c:pt>
                <c:pt idx="14">
                  <c:v>29725</c:v>
                </c:pt>
                <c:pt idx="15">
                  <c:v>6730</c:v>
                </c:pt>
                <c:pt idx="16">
                  <c:v>2000</c:v>
                </c:pt>
                <c:pt idx="17">
                  <c:v>570</c:v>
                </c:pt>
                <c:pt idx="18">
                  <c:v>3375</c:v>
                </c:pt>
                <c:pt idx="19">
                  <c:v>0</c:v>
                </c:pt>
                <c:pt idx="20">
                  <c:v>3170</c:v>
                </c:pt>
                <c:pt idx="21">
                  <c:v>0</c:v>
                </c:pt>
                <c:pt idx="22">
                  <c:v>0</c:v>
                </c:pt>
              </c:numCache>
            </c:numRef>
          </c:val>
          <c:extLst>
            <c:ext xmlns:c16="http://schemas.microsoft.com/office/drawing/2014/chart" uri="{C3380CC4-5D6E-409C-BE32-E72D297353CC}">
              <c16:uniqueId val="{000000EA-49AB-4C5E-AE77-DCC6812377B5}"/>
            </c:ext>
          </c:extLst>
        </c:ser>
        <c:dLbls>
          <c:dLblPos val="ctr"/>
          <c:showLegendKey val="0"/>
          <c:showVal val="0"/>
          <c:showCatName val="1"/>
          <c:showSerName val="0"/>
          <c:showPercent val="1"/>
          <c:showBubbleSize val="0"/>
          <c:showLeaderLines val="1"/>
        </c:dLbls>
        <c:firstSliceAng val="0"/>
      </c:pieChart>
      <c:spPr>
        <a:noFill/>
        <a:ln>
          <a:noFill/>
        </a:ln>
        <a:effectLst/>
      </c:spPr>
    </c:plotArea>
    <c:legend>
      <c:legendPos val="r"/>
      <c:layout>
        <c:manualLayout>
          <c:xMode val="edge"/>
          <c:yMode val="edge"/>
          <c:x val="0.61625536022618421"/>
          <c:y val="4.5669611089767886E-2"/>
          <c:w val="0.37661840183546458"/>
          <c:h val="0.90866054227289739"/>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1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1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1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1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245332DD-A8CD-4AD3-AFB2-1F72F80C0D2B}" type="datetimeFigureOut">
              <a:rPr lang="en-US" smtClean="0"/>
              <a:t>7/25/2026</a:t>
            </a:fld>
            <a:endParaRPr lang="en-US"/>
          </a:p>
        </p:txBody>
      </p:sp>
      <p:sp>
        <p:nvSpPr>
          <p:cNvPr id="4" name="Slide Image Placeholder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06" tIns="48303" rIns="96606" bIns="48303" rtlCol="0" anchor="ctr"/>
          <a:lstStyle/>
          <a:p>
            <a:endParaRPr lang="en-US"/>
          </a:p>
        </p:txBody>
      </p:sp>
      <p:sp>
        <p:nvSpPr>
          <p:cNvPr id="5" name="Notes Placeholder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en-US"/>
          </a:p>
        </p:txBody>
      </p:sp>
      <p:sp>
        <p:nvSpPr>
          <p:cNvPr id="7" name="Slide Number Placeholder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90F6DD94-B8CD-4C88-A0A8-E6DFFB570571}" type="slidenum">
              <a:rPr lang="en-US" smtClean="0"/>
              <a:t>‹#›</a:t>
            </a:fld>
            <a:endParaRPr lang="en-US"/>
          </a:p>
        </p:txBody>
      </p:sp>
    </p:spTree>
    <p:extLst>
      <p:ext uri="{BB962C8B-B14F-4D97-AF65-F5344CB8AC3E}">
        <p14:creationId xmlns:p14="http://schemas.microsoft.com/office/powerpoint/2010/main" val="3172240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8BEDA-8144-435B-A639-D27D689A4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06BFEF-0C4C-43A2-83FA-9103821FC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F7BC2F-794A-4D74-8FD1-68555020D29A}"/>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5" name="Footer Placeholder 4">
            <a:extLst>
              <a:ext uri="{FF2B5EF4-FFF2-40B4-BE49-F238E27FC236}">
                <a16:creationId xmlns:a16="http://schemas.microsoft.com/office/drawing/2014/main" id="{4E32ADF2-4620-4379-8DE1-12D13B7EA7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14FD0-5EF9-447A-BBE5-855B0454ECB5}"/>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21160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880A-3983-452A-91E4-EA80E747D0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374D4E-45E4-4383-8670-F2AB3A5EFA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5D1559-59FC-4EED-B2D3-518079F64EFF}"/>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5" name="Footer Placeholder 4">
            <a:extLst>
              <a:ext uri="{FF2B5EF4-FFF2-40B4-BE49-F238E27FC236}">
                <a16:creationId xmlns:a16="http://schemas.microsoft.com/office/drawing/2014/main" id="{23C40B64-574D-4AE3-BFD2-6F5351F50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2126FF-DFA7-4FDF-8C85-41A6FE686679}"/>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1672072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68E3-DF5F-4E98-901F-02499E298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EED49A-9C70-4A41-86CD-ADF5C7EB58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E64724-C0CD-453B-B6AD-7004025E5EE8}"/>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5" name="Footer Placeholder 4">
            <a:extLst>
              <a:ext uri="{FF2B5EF4-FFF2-40B4-BE49-F238E27FC236}">
                <a16:creationId xmlns:a16="http://schemas.microsoft.com/office/drawing/2014/main" id="{00710F42-084D-4C66-A98D-A3763192C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54C21D-6D15-4C87-B92B-4A42B71DAC21}"/>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76974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52113-188E-4127-9734-653957571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818A3F-08AC-4C3F-96B5-839891E0DE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03EEF8-967A-4DE6-B490-1C2EB1C535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F1D11C-48EC-4209-ACA4-5E304029DA58}"/>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6" name="Footer Placeholder 5">
            <a:extLst>
              <a:ext uri="{FF2B5EF4-FFF2-40B4-BE49-F238E27FC236}">
                <a16:creationId xmlns:a16="http://schemas.microsoft.com/office/drawing/2014/main" id="{E827272A-0661-44EF-A02A-8CC31CA648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CA7B2-FBFB-4EB2-9BD9-687422CCB1C1}"/>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2840440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1E131-0324-4D3E-B444-A19317E1FE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30943D-835B-4C08-B063-0104172FA6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8EEB1A-7284-4B6D-9AA1-69214F47DA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4CBE3A-4C97-49C6-BC68-89179FE0F1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FABEC2-4D9A-4257-A5F3-A01BFA9439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526DA7-FD9C-4EF3-99B1-C3E744535A5D}"/>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8" name="Footer Placeholder 7">
            <a:extLst>
              <a:ext uri="{FF2B5EF4-FFF2-40B4-BE49-F238E27FC236}">
                <a16:creationId xmlns:a16="http://schemas.microsoft.com/office/drawing/2014/main" id="{39B7196B-7ABA-40C2-B3B6-E5F3B195B7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87CF1D-6DCB-4755-A95A-8A4B557E6C65}"/>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3455064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AAEAC-EF36-4FC3-A754-F7F5EEA03A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63E1E7-9708-440A-8C69-CECD03CB9FA1}"/>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4" name="Footer Placeholder 3">
            <a:extLst>
              <a:ext uri="{FF2B5EF4-FFF2-40B4-BE49-F238E27FC236}">
                <a16:creationId xmlns:a16="http://schemas.microsoft.com/office/drawing/2014/main" id="{C2DD0081-63ED-490B-901A-9FCB4E396F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2308F2-4AE6-4C73-9DF4-CDD81F7DA8F4}"/>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8349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C8ADE3-16E4-4890-B437-9DEC5AC9F562}"/>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3" name="Footer Placeholder 2">
            <a:extLst>
              <a:ext uri="{FF2B5EF4-FFF2-40B4-BE49-F238E27FC236}">
                <a16:creationId xmlns:a16="http://schemas.microsoft.com/office/drawing/2014/main" id="{F7D5647E-F9CF-4723-9216-B98C3B5372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4D810C-1EF1-4CCA-BEA2-BB6FC2A0F056}"/>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4145307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1684-064D-46A2-BD98-BBAC3B54B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59FCEB-4EF2-48C3-B62C-450B3065A8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A3F6AD-F13A-49C8-91D6-96CEDD1C90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97F070-A55E-44C2-AD6B-E5A88D5E4CCF}"/>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6" name="Footer Placeholder 5">
            <a:extLst>
              <a:ext uri="{FF2B5EF4-FFF2-40B4-BE49-F238E27FC236}">
                <a16:creationId xmlns:a16="http://schemas.microsoft.com/office/drawing/2014/main" id="{88A23697-8419-43C2-AA2B-D581DC8E79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0D9CA1-BC84-46D9-B23A-C582204E3C1D}"/>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667563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25603-EDC9-40A2-B7FF-6E52EA70D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2ED6EC-DDC9-4695-8A3E-1A546DC72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4E3C6F-233E-4AD3-910C-4CFE7414A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99E417-93FA-45D8-834D-029D9A346159}"/>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6" name="Footer Placeholder 5">
            <a:extLst>
              <a:ext uri="{FF2B5EF4-FFF2-40B4-BE49-F238E27FC236}">
                <a16:creationId xmlns:a16="http://schemas.microsoft.com/office/drawing/2014/main" id="{F71D4E5A-4332-4A82-9AEE-C06151E66C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12C92C-AF70-4227-BB2A-343E444B74CB}"/>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1514418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84FD0-CA5B-40DE-A217-F69EDAD1E0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1D0944-80B2-44AF-B8F5-212BAF10C4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7E01CC-DE39-4137-949C-9002B5E91401}"/>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5" name="Footer Placeholder 4">
            <a:extLst>
              <a:ext uri="{FF2B5EF4-FFF2-40B4-BE49-F238E27FC236}">
                <a16:creationId xmlns:a16="http://schemas.microsoft.com/office/drawing/2014/main" id="{43888465-E076-45AD-BCDA-41E1E6658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1DAAB-10F3-4BF9-B791-A9758CC390F6}"/>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376660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9A4329-4E25-408D-BCE8-3A81412FBD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62FD65-6075-4B82-80CB-4D2619A88B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E0C62-1CA3-4DF0-97BE-E0A2B47D3B4D}"/>
              </a:ext>
            </a:extLst>
          </p:cNvPr>
          <p:cNvSpPr>
            <a:spLocks noGrp="1"/>
          </p:cNvSpPr>
          <p:nvPr>
            <p:ph type="dt" sz="half" idx="10"/>
          </p:nvPr>
        </p:nvSpPr>
        <p:spPr/>
        <p:txBody>
          <a:bodyPr/>
          <a:lstStyle/>
          <a:p>
            <a:fld id="{55CB9883-D8D1-4705-8488-13A72D188BD9}" type="datetimeFigureOut">
              <a:rPr lang="en-US" smtClean="0"/>
              <a:t>7/25/2026</a:t>
            </a:fld>
            <a:endParaRPr lang="en-US"/>
          </a:p>
        </p:txBody>
      </p:sp>
      <p:sp>
        <p:nvSpPr>
          <p:cNvPr id="5" name="Footer Placeholder 4">
            <a:extLst>
              <a:ext uri="{FF2B5EF4-FFF2-40B4-BE49-F238E27FC236}">
                <a16:creationId xmlns:a16="http://schemas.microsoft.com/office/drawing/2014/main" id="{B5A9172F-989B-4418-99B6-1B496D79B2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A1192-4B10-491B-A68C-CB15DB4C552D}"/>
              </a:ext>
            </a:extLst>
          </p:cNvPr>
          <p:cNvSpPr>
            <a:spLocks noGrp="1"/>
          </p:cNvSpPr>
          <p:nvPr>
            <p:ph type="sldNum" sz="quarter" idx="12"/>
          </p:nvPr>
        </p:nvSpPr>
        <p:spPr/>
        <p:txBody>
          <a:bodyPr/>
          <a:lstStyle/>
          <a:p>
            <a:fld id="{E3CBDFCE-A118-4402-8B64-5EAF24F7315E}" type="slidenum">
              <a:rPr lang="en-US" smtClean="0"/>
              <a:t>‹#›</a:t>
            </a:fld>
            <a:endParaRPr lang="en-US"/>
          </a:p>
        </p:txBody>
      </p:sp>
    </p:spTree>
    <p:extLst>
      <p:ext uri="{BB962C8B-B14F-4D97-AF65-F5344CB8AC3E}">
        <p14:creationId xmlns:p14="http://schemas.microsoft.com/office/powerpoint/2010/main" val="416290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867899-C9BD-4E54-9390-B883E369C4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6F441A-2129-4521-B186-F85B04F8FC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D9EB2-BA1D-4FE7-94BC-ACB7F063B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CB9883-D8D1-4705-8488-13A72D188BD9}" type="datetimeFigureOut">
              <a:rPr lang="en-US" smtClean="0"/>
              <a:t>7/25/2026</a:t>
            </a:fld>
            <a:endParaRPr lang="en-US"/>
          </a:p>
        </p:txBody>
      </p:sp>
      <p:sp>
        <p:nvSpPr>
          <p:cNvPr id="5" name="Footer Placeholder 4">
            <a:extLst>
              <a:ext uri="{FF2B5EF4-FFF2-40B4-BE49-F238E27FC236}">
                <a16:creationId xmlns:a16="http://schemas.microsoft.com/office/drawing/2014/main" id="{632EF9A4-5205-4712-A7EF-82F5C16585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E02B18E-4605-4F66-BF0C-C3F3BA4EE1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CBDFCE-A118-4402-8B64-5EAF24F7315E}" type="slidenum">
              <a:rPr lang="en-US" smtClean="0"/>
              <a:t>‹#›</a:t>
            </a:fld>
            <a:endParaRPr lang="en-US"/>
          </a:p>
        </p:txBody>
      </p:sp>
    </p:spTree>
    <p:extLst>
      <p:ext uri="{BB962C8B-B14F-4D97-AF65-F5344CB8AC3E}">
        <p14:creationId xmlns:p14="http://schemas.microsoft.com/office/powerpoint/2010/main" val="99546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9A6C-1CE4-40C8-968B-926CB14671C8}"/>
              </a:ext>
            </a:extLst>
          </p:cNvPr>
          <p:cNvSpPr>
            <a:spLocks noGrp="1"/>
          </p:cNvSpPr>
          <p:nvPr>
            <p:ph type="ctrTitle"/>
          </p:nvPr>
        </p:nvSpPr>
        <p:spPr>
          <a:xfrm>
            <a:off x="318782" y="2650678"/>
            <a:ext cx="8347045" cy="1493976"/>
          </a:xfrm>
        </p:spPr>
        <p:txBody>
          <a:bodyPr>
            <a:noAutofit/>
          </a:bodyPr>
          <a:lstStyle/>
          <a:p>
            <a:r>
              <a:rPr lang="en-US" sz="4400" b="1" dirty="0">
                <a:latin typeface="Arial" panose="020B0604020202020204" pitchFamily="34" charset="0"/>
                <a:cs typeface="Arial" panose="020B0604020202020204" pitchFamily="34" charset="0"/>
              </a:rPr>
              <a:t>School Monitoring Evaluation and Plan Adjustment (SMEPA)</a:t>
            </a:r>
          </a:p>
        </p:txBody>
      </p:sp>
      <p:sp>
        <p:nvSpPr>
          <p:cNvPr id="5" name="TextBox 4">
            <a:extLst>
              <a:ext uri="{FF2B5EF4-FFF2-40B4-BE49-F238E27FC236}">
                <a16:creationId xmlns:a16="http://schemas.microsoft.com/office/drawing/2014/main" id="{1E34F8C4-1654-49F9-901C-428A35BC0DAA}"/>
              </a:ext>
            </a:extLst>
          </p:cNvPr>
          <p:cNvSpPr txBox="1"/>
          <p:nvPr/>
        </p:nvSpPr>
        <p:spPr>
          <a:xfrm>
            <a:off x="1963024" y="5066950"/>
            <a:ext cx="5327009" cy="1323439"/>
          </a:xfrm>
          <a:prstGeom prst="rect">
            <a:avLst/>
          </a:prstGeom>
          <a:noFill/>
        </p:spPr>
        <p:txBody>
          <a:bodyPr wrap="square" rtlCol="0">
            <a:spAutoFit/>
          </a:bodyPr>
          <a:lstStyle/>
          <a:p>
            <a:pPr algn="ctr"/>
            <a:r>
              <a:rPr lang="en-US" sz="4000" b="1" dirty="0"/>
              <a:t>SANIATA G. HERNANDEZ</a:t>
            </a:r>
          </a:p>
          <a:p>
            <a:pPr algn="ctr"/>
            <a:r>
              <a:rPr lang="en-US" sz="4000" dirty="0"/>
              <a:t>Principal III</a:t>
            </a:r>
          </a:p>
        </p:txBody>
      </p:sp>
      <p:pic>
        <p:nvPicPr>
          <p:cNvPr id="6" name="Picture 5">
            <a:extLst>
              <a:ext uri="{FF2B5EF4-FFF2-40B4-BE49-F238E27FC236}">
                <a16:creationId xmlns:a16="http://schemas.microsoft.com/office/drawing/2014/main" id="{8A7B57CD-3A65-45DB-B0A3-9A2B93389153}"/>
              </a:ext>
            </a:extLst>
          </p:cNvPr>
          <p:cNvPicPr>
            <a:picLocks noChangeAspect="1"/>
          </p:cNvPicPr>
          <p:nvPr/>
        </p:nvPicPr>
        <p:blipFill rotWithShape="1">
          <a:blip r:embed="rId3">
            <a:extLst>
              <a:ext uri="{28A0092B-C50C-407E-A947-70E740481C1C}">
                <a14:useLocalDpi xmlns:a14="http://schemas.microsoft.com/office/drawing/2010/main" val="0"/>
              </a:ext>
            </a:extLst>
          </a:blip>
          <a:srcRect r="32277" b="61444"/>
          <a:stretch/>
        </p:blipFill>
        <p:spPr>
          <a:xfrm>
            <a:off x="3238501" y="1791051"/>
            <a:ext cx="8953499" cy="5066950"/>
          </a:xfrm>
          <a:prstGeom prst="rect">
            <a:avLst/>
          </a:prstGeom>
        </p:spPr>
      </p:pic>
    </p:spTree>
    <p:extLst>
      <p:ext uri="{BB962C8B-B14F-4D97-AF65-F5344CB8AC3E}">
        <p14:creationId xmlns:p14="http://schemas.microsoft.com/office/powerpoint/2010/main" val="29167418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301951"/>
            <a:ext cx="9879563" cy="1158843"/>
          </a:xfrm>
        </p:spPr>
        <p:txBody>
          <a:bodyPr/>
          <a:lstStyle/>
          <a:p>
            <a:r>
              <a:rPr lang="en-US" b="1" dirty="0"/>
              <a:t>Enrolment per Key Stage</a:t>
            </a:r>
          </a:p>
        </p:txBody>
      </p:sp>
      <p:sp>
        <p:nvSpPr>
          <p:cNvPr id="3" name="Rectangle 2">
            <a:extLst>
              <a:ext uri="{FF2B5EF4-FFF2-40B4-BE49-F238E27FC236}">
                <a16:creationId xmlns:a16="http://schemas.microsoft.com/office/drawing/2014/main" id="{FCBD5ED1-F4C3-4D3E-8777-B6FE673F58A3}"/>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Access</a:t>
            </a:r>
          </a:p>
        </p:txBody>
      </p:sp>
      <p:graphicFrame>
        <p:nvGraphicFramePr>
          <p:cNvPr id="7" name="Chart 6">
            <a:extLst>
              <a:ext uri="{FF2B5EF4-FFF2-40B4-BE49-F238E27FC236}">
                <a16:creationId xmlns:a16="http://schemas.microsoft.com/office/drawing/2014/main" id="{3F577AD6-912F-4A26-92C0-6919310103B2}"/>
              </a:ext>
            </a:extLst>
          </p:cNvPr>
          <p:cNvGraphicFramePr>
            <a:graphicFrameLocks/>
          </p:cNvGraphicFramePr>
          <p:nvPr>
            <p:extLst>
              <p:ext uri="{D42A27DB-BD31-4B8C-83A1-F6EECF244321}">
                <p14:modId xmlns:p14="http://schemas.microsoft.com/office/powerpoint/2010/main" val="461242753"/>
              </p:ext>
            </p:extLst>
          </p:nvPr>
        </p:nvGraphicFramePr>
        <p:xfrm>
          <a:off x="324904" y="1792633"/>
          <a:ext cx="5140867" cy="480151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A29AC12-4C1C-491A-A1B5-2D6AB21FBDF3}"/>
              </a:ext>
            </a:extLst>
          </p:cNvPr>
          <p:cNvGraphicFramePr>
            <a:graphicFrameLocks/>
          </p:cNvGraphicFramePr>
          <p:nvPr>
            <p:extLst>
              <p:ext uri="{D42A27DB-BD31-4B8C-83A1-F6EECF244321}">
                <p14:modId xmlns:p14="http://schemas.microsoft.com/office/powerpoint/2010/main" val="1271418429"/>
              </p:ext>
            </p:extLst>
          </p:nvPr>
        </p:nvGraphicFramePr>
        <p:xfrm>
          <a:off x="5681423" y="1792633"/>
          <a:ext cx="5140867" cy="480151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293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Drop-Out as of February 28, 2025</a:t>
            </a:r>
          </a:p>
        </p:txBody>
      </p:sp>
      <p:sp>
        <p:nvSpPr>
          <p:cNvPr id="3" name="Rectangle 2">
            <a:extLst>
              <a:ext uri="{FF2B5EF4-FFF2-40B4-BE49-F238E27FC236}">
                <a16:creationId xmlns:a16="http://schemas.microsoft.com/office/drawing/2014/main" id="{FCBD5ED1-F4C3-4D3E-8777-B6FE673F58A3}"/>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Access</a:t>
            </a:r>
          </a:p>
        </p:txBody>
      </p:sp>
      <p:graphicFrame>
        <p:nvGraphicFramePr>
          <p:cNvPr id="7" name="Chart 6">
            <a:extLst>
              <a:ext uri="{FF2B5EF4-FFF2-40B4-BE49-F238E27FC236}">
                <a16:creationId xmlns:a16="http://schemas.microsoft.com/office/drawing/2014/main" id="{BF6B8D0B-8D3F-44D6-BD20-1AC1E38160B4}"/>
              </a:ext>
            </a:extLst>
          </p:cNvPr>
          <p:cNvGraphicFramePr>
            <a:graphicFrameLocks/>
          </p:cNvGraphicFramePr>
          <p:nvPr>
            <p:extLst>
              <p:ext uri="{D42A27DB-BD31-4B8C-83A1-F6EECF244321}">
                <p14:modId xmlns:p14="http://schemas.microsoft.com/office/powerpoint/2010/main" val="1834616511"/>
              </p:ext>
            </p:extLst>
          </p:nvPr>
        </p:nvGraphicFramePr>
        <p:xfrm>
          <a:off x="471957" y="1767233"/>
          <a:ext cx="10349841" cy="499429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0287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normAutofit/>
          </a:bodyPr>
          <a:lstStyle/>
          <a:p>
            <a:r>
              <a:rPr lang="en-US" sz="4000" b="1" dirty="0"/>
              <a:t>PROGRAM, PROJECT and ACTIVITIES (PPA’S)</a:t>
            </a:r>
          </a:p>
        </p:txBody>
      </p:sp>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731366349"/>
              </p:ext>
            </p:extLst>
          </p:nvPr>
        </p:nvGraphicFramePr>
        <p:xfrm>
          <a:off x="362590" y="1810235"/>
          <a:ext cx="10375319" cy="368808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729220">
                  <a:extLst>
                    <a:ext uri="{9D8B030D-6E8A-4147-A177-3AD203B41FA5}">
                      <a16:colId xmlns:a16="http://schemas.microsoft.com/office/drawing/2014/main" val="1003207929"/>
                    </a:ext>
                  </a:extLst>
                </a:gridCol>
                <a:gridCol w="1430479">
                  <a:extLst>
                    <a:ext uri="{9D8B030D-6E8A-4147-A177-3AD203B41FA5}">
                      <a16:colId xmlns:a16="http://schemas.microsoft.com/office/drawing/2014/main" val="2700998931"/>
                    </a:ext>
                  </a:extLst>
                </a:gridCol>
                <a:gridCol w="1996580">
                  <a:extLst>
                    <a:ext uri="{9D8B030D-6E8A-4147-A177-3AD203B41FA5}">
                      <a16:colId xmlns:a16="http://schemas.microsoft.com/office/drawing/2014/main" val="3434829160"/>
                    </a:ext>
                  </a:extLst>
                </a:gridCol>
                <a:gridCol w="1375794">
                  <a:extLst>
                    <a:ext uri="{9D8B030D-6E8A-4147-A177-3AD203B41FA5}">
                      <a16:colId xmlns:a16="http://schemas.microsoft.com/office/drawing/2014/main" val="217078824"/>
                    </a:ext>
                  </a:extLst>
                </a:gridCol>
                <a:gridCol w="2114026">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1096554">
                <a:tc>
                  <a:txBody>
                    <a:bodyPr/>
                    <a:lstStyle/>
                    <a:p>
                      <a:pPr algn="ctr" rtl="0" fontAlgn="base"/>
                      <a:r>
                        <a:rPr lang="en-US" sz="1100" b="1" i="0" dirty="0">
                          <a:effectLst/>
                          <a:latin typeface="Bookman Old Style" panose="02050604050505020204" pitchFamily="18" charset="0"/>
                        </a:rPr>
                        <a:t>Dream- Believe- Survive</a:t>
                      </a:r>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1" i="0" dirty="0">
                          <a:effectLst/>
                          <a:latin typeface="Bookman Old Style" panose="02050604050505020204" pitchFamily="18" charset="0"/>
                        </a:rPr>
                        <a:t>Project AKAY (</a:t>
                      </a:r>
                      <a:r>
                        <a:rPr lang="en-US" sz="1100" b="1" i="0" dirty="0" err="1">
                          <a:effectLst/>
                          <a:latin typeface="Bookman Old Style" panose="02050604050505020204" pitchFamily="18" charset="0"/>
                        </a:rPr>
                        <a:t>Alalayan</a:t>
                      </a:r>
                      <a:r>
                        <a:rPr lang="en-US" sz="1100" b="1" i="0" dirty="0">
                          <a:effectLst/>
                          <a:latin typeface="Bookman Old Style" panose="02050604050505020204" pitchFamily="18" charset="0"/>
                        </a:rPr>
                        <a:t> Kabataan Ay </a:t>
                      </a:r>
                      <a:r>
                        <a:rPr lang="en-US" sz="1100" b="1" i="0" dirty="0" err="1">
                          <a:effectLst/>
                          <a:latin typeface="Bookman Old Style" panose="02050604050505020204" pitchFamily="18" charset="0"/>
                        </a:rPr>
                        <a:t>Yaman</a:t>
                      </a:r>
                      <a:r>
                        <a:rPr lang="en-US" sz="1100" b="1" i="0" dirty="0">
                          <a:effectLst/>
                          <a:latin typeface="Bookman Old Style" panose="02050604050505020204" pitchFamily="18" charset="0"/>
                        </a:rPr>
                        <a:t>)</a:t>
                      </a:r>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decrease the drop-out rate within 3 years from 0.39% to 0%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To sustain the number of enrolment from the previous school year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r>
                        <a:rPr lang="en-US" sz="1100" b="0" i="0" dirty="0">
                          <a:effectLst/>
                          <a:latin typeface="Bookman Old Style" panose="02050604050505020204" pitchFamily="18" charset="0"/>
                        </a:rPr>
                        <a:t>June 2024-February 2025 </a:t>
                      </a: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10 NLPA as of the third quarter period</a:t>
                      </a: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Increased enrolment</a:t>
                      </a:r>
                    </a:p>
                  </a:txBody>
                  <a:tcPr/>
                </a:tc>
                <a:tc>
                  <a:txBody>
                    <a:bodyPr/>
                    <a:lstStyle/>
                    <a:p>
                      <a:pPr algn="ctr" rtl="0" fontAlgn="base"/>
                      <a:r>
                        <a:rPr lang="en-US" sz="1100" b="0" i="0" dirty="0">
                          <a:effectLst/>
                          <a:latin typeface="Bookman Old Style" panose="02050604050505020204" pitchFamily="18" charset="0"/>
                        </a:rPr>
                        <a:t>Learners incapable of performing the given task                   Lack of interest                                    Teenage Pregnancy</a:t>
                      </a: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Change of residency</a:t>
                      </a:r>
                    </a:p>
                  </a:txBody>
                  <a:tcPr/>
                </a:tc>
                <a:tc>
                  <a:txBody>
                    <a:bodyPr/>
                    <a:lstStyle/>
                    <a:p>
                      <a:pPr algn="l" rtl="0" fontAlgn="base"/>
                      <a:r>
                        <a:rPr lang="en-US" sz="1100" b="0" i="0" dirty="0">
                          <a:effectLst/>
                          <a:latin typeface="Bookman Old Style" panose="02050604050505020204" pitchFamily="18" charset="0"/>
                        </a:rPr>
                        <a:t>Peer Tutorial                                                   Home Visitation                                               Encouragement and guidance of adviser, subject teacher, guidance designate and school head.</a:t>
                      </a: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endParaRPr lang="en-US" sz="1100" b="0" i="0" dirty="0">
                        <a:effectLst/>
                        <a:latin typeface="Bookman Old Style" panose="02050604050505020204" pitchFamily="18" charset="0"/>
                      </a:endParaRPr>
                    </a:p>
                    <a:p>
                      <a:pPr algn="l" rtl="0" fontAlgn="base"/>
                      <a:r>
                        <a:rPr lang="en-US" sz="1100" b="0" i="0" dirty="0">
                          <a:effectLst/>
                          <a:latin typeface="Bookman Old Style" panose="02050604050505020204" pitchFamily="18" charset="0"/>
                        </a:rPr>
                        <a:t>Conduct of early registration, Awareness campaign about enrolment process, distribution of flyers and posting of  </a:t>
                      </a:r>
                      <a:r>
                        <a:rPr lang="en-US" sz="1100" b="0" i="0" dirty="0" err="1">
                          <a:effectLst/>
                          <a:latin typeface="Bookman Old Style" panose="02050604050505020204" pitchFamily="18" charset="0"/>
                        </a:rPr>
                        <a:t>tarpapel</a:t>
                      </a:r>
                      <a:r>
                        <a:rPr lang="en-US" sz="1100" b="0" i="0" dirty="0">
                          <a:effectLst/>
                          <a:latin typeface="Bookman Old Style" panose="02050604050505020204" pitchFamily="18" charset="0"/>
                        </a:rPr>
                        <a:t> on barangay hall in catchment barangays</a:t>
                      </a:r>
                    </a:p>
                  </a:txBody>
                  <a:tcPr/>
                </a:tc>
                <a:extLst>
                  <a:ext uri="{0D108BD9-81ED-4DB2-BD59-A6C34878D82A}">
                    <a16:rowId xmlns:a16="http://schemas.microsoft.com/office/drawing/2014/main" val="1720475477"/>
                  </a:ext>
                </a:extLst>
              </a:tr>
            </a:tbl>
          </a:graphicData>
        </a:graphic>
      </p:graphicFrame>
      <p:sp>
        <p:nvSpPr>
          <p:cNvPr id="4" name="Rectangle 3">
            <a:extLst>
              <a:ext uri="{FF2B5EF4-FFF2-40B4-BE49-F238E27FC236}">
                <a16:creationId xmlns:a16="http://schemas.microsoft.com/office/drawing/2014/main" id="{6962EF9C-A890-4E9F-AD7D-F3E25990C95F}"/>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Access</a:t>
            </a:r>
          </a:p>
        </p:txBody>
      </p:sp>
    </p:spTree>
    <p:extLst>
      <p:ext uri="{BB962C8B-B14F-4D97-AF65-F5344CB8AC3E}">
        <p14:creationId xmlns:p14="http://schemas.microsoft.com/office/powerpoint/2010/main" val="3703247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1597802899"/>
              </p:ext>
            </p:extLst>
          </p:nvPr>
        </p:nvGraphicFramePr>
        <p:xfrm>
          <a:off x="362590" y="1810235"/>
          <a:ext cx="10375319" cy="318516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729220">
                  <a:extLst>
                    <a:ext uri="{9D8B030D-6E8A-4147-A177-3AD203B41FA5}">
                      <a16:colId xmlns:a16="http://schemas.microsoft.com/office/drawing/2014/main" val="1003207929"/>
                    </a:ext>
                  </a:extLst>
                </a:gridCol>
                <a:gridCol w="1430479">
                  <a:extLst>
                    <a:ext uri="{9D8B030D-6E8A-4147-A177-3AD203B41FA5}">
                      <a16:colId xmlns:a16="http://schemas.microsoft.com/office/drawing/2014/main" val="2700998931"/>
                    </a:ext>
                  </a:extLst>
                </a:gridCol>
                <a:gridCol w="1996580">
                  <a:extLst>
                    <a:ext uri="{9D8B030D-6E8A-4147-A177-3AD203B41FA5}">
                      <a16:colId xmlns:a16="http://schemas.microsoft.com/office/drawing/2014/main" val="3434829160"/>
                    </a:ext>
                  </a:extLst>
                </a:gridCol>
                <a:gridCol w="1375794">
                  <a:extLst>
                    <a:ext uri="{9D8B030D-6E8A-4147-A177-3AD203B41FA5}">
                      <a16:colId xmlns:a16="http://schemas.microsoft.com/office/drawing/2014/main" val="217078824"/>
                    </a:ext>
                  </a:extLst>
                </a:gridCol>
                <a:gridCol w="2114026">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1096554">
                <a:tc>
                  <a:txBody>
                    <a:bodyPr/>
                    <a:lstStyle/>
                    <a:p>
                      <a:pPr algn="ctr" rtl="0" fontAlgn="base"/>
                      <a:r>
                        <a:rPr lang="en-US" sz="1100" b="1" i="0" dirty="0">
                          <a:effectLst/>
                          <a:latin typeface="Bookman Old Style" panose="02050604050505020204" pitchFamily="18" charset="0"/>
                        </a:rPr>
                        <a:t>Project ASSESS (Acquire for Students with Special Education Sustenance and Support)</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practice their ability in Mathematics using instructional material ( </a:t>
                      </a:r>
                      <a:r>
                        <a:rPr lang="en-US" sz="1100" b="0" i="0" dirty="0" err="1">
                          <a:effectLst/>
                          <a:latin typeface="Bookman Old Style" panose="02050604050505020204" pitchFamily="18" charset="0"/>
                        </a:rPr>
                        <a:t>e.g</a:t>
                      </a:r>
                      <a:r>
                        <a:rPr lang="en-US" sz="1100" b="0" i="0" dirty="0">
                          <a:effectLst/>
                          <a:latin typeface="Bookman Old Style" panose="02050604050505020204" pitchFamily="18" charset="0"/>
                        </a:rPr>
                        <a:t> Multiplication turntable)                                                                                                                                                             Maintain safety of learners with disabilities during P.E. /outdoor activities using appropriate materials. (</a:t>
                      </a:r>
                      <a:r>
                        <a:rPr lang="en-US" sz="1100" b="0" i="0" dirty="0" err="1">
                          <a:effectLst/>
                          <a:latin typeface="Bookman Old Style" panose="02050604050505020204" pitchFamily="18" charset="0"/>
                        </a:rPr>
                        <a:t>e.g</a:t>
                      </a:r>
                      <a:r>
                        <a:rPr lang="en-US" sz="1100" b="0" i="0" dirty="0">
                          <a:effectLst/>
                          <a:latin typeface="Bookman Old Style" panose="02050604050505020204" pitchFamily="18" charset="0"/>
                        </a:rPr>
                        <a:t> Gymnast mat)</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95 % accomplished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Need one on one assistance on the LWDs while using the materials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Continuous support from the parents and assistance to the LWDs</a:t>
                      </a:r>
                      <a:endParaRPr lang="en-US" b="0" i="0" dirty="0">
                        <a:effectLst/>
                      </a:endParaRPr>
                    </a:p>
                  </a:txBody>
                  <a:tcPr/>
                </a:tc>
                <a:extLst>
                  <a:ext uri="{0D108BD9-81ED-4DB2-BD59-A6C34878D82A}">
                    <a16:rowId xmlns:a16="http://schemas.microsoft.com/office/drawing/2014/main" val="1720475477"/>
                  </a:ext>
                </a:extLst>
              </a:tr>
            </a:tbl>
          </a:graphicData>
        </a:graphic>
      </p:graphicFrame>
      <p:sp>
        <p:nvSpPr>
          <p:cNvPr id="4" name="Rectangle 3">
            <a:extLst>
              <a:ext uri="{FF2B5EF4-FFF2-40B4-BE49-F238E27FC236}">
                <a16:creationId xmlns:a16="http://schemas.microsoft.com/office/drawing/2014/main" id="{B424DEB2-218E-4EB1-86E1-8C0C46579E7E}"/>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Equity</a:t>
            </a:r>
          </a:p>
        </p:txBody>
      </p:sp>
      <p:sp>
        <p:nvSpPr>
          <p:cNvPr id="7" name="Title 1">
            <a:extLst>
              <a:ext uri="{FF2B5EF4-FFF2-40B4-BE49-F238E27FC236}">
                <a16:creationId xmlns:a16="http://schemas.microsoft.com/office/drawing/2014/main" id="{7A5F3D7E-71B4-4FF9-ACF1-35A277FB56EF}"/>
              </a:ext>
            </a:extLst>
          </p:cNvPr>
          <p:cNvSpPr txBox="1">
            <a:spLocks/>
          </p:cNvSpPr>
          <p:nvPr/>
        </p:nvSpPr>
        <p:spPr>
          <a:xfrm>
            <a:off x="1474236" y="289251"/>
            <a:ext cx="9879563" cy="1158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PROGRAM, PROJECT and ACTIVITIES (PPA’S)</a:t>
            </a:r>
            <a:endParaRPr lang="en-US" sz="4000" b="1" dirty="0"/>
          </a:p>
        </p:txBody>
      </p:sp>
    </p:spTree>
    <p:extLst>
      <p:ext uri="{BB962C8B-B14F-4D97-AF65-F5344CB8AC3E}">
        <p14:creationId xmlns:p14="http://schemas.microsoft.com/office/powerpoint/2010/main" val="70759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Non-Readers (English)</a:t>
            </a:r>
          </a:p>
        </p:txBody>
      </p:sp>
      <p:graphicFrame>
        <p:nvGraphicFramePr>
          <p:cNvPr id="3" name="Table 2">
            <a:extLst>
              <a:ext uri="{FF2B5EF4-FFF2-40B4-BE49-F238E27FC236}">
                <a16:creationId xmlns:a16="http://schemas.microsoft.com/office/drawing/2014/main" id="{B1A48857-58C0-4B1E-8FB1-1557DC3D0438}"/>
              </a:ext>
            </a:extLst>
          </p:cNvPr>
          <p:cNvGraphicFramePr>
            <a:graphicFrameLocks noGrp="1"/>
          </p:cNvGraphicFramePr>
          <p:nvPr>
            <p:extLst>
              <p:ext uri="{D42A27DB-BD31-4B8C-83A1-F6EECF244321}">
                <p14:modId xmlns:p14="http://schemas.microsoft.com/office/powerpoint/2010/main" val="2528577272"/>
              </p:ext>
            </p:extLst>
          </p:nvPr>
        </p:nvGraphicFramePr>
        <p:xfrm>
          <a:off x="358627" y="2695182"/>
          <a:ext cx="2787244" cy="1720405"/>
        </p:xfrm>
        <a:graphic>
          <a:graphicData uri="http://schemas.openxmlformats.org/drawingml/2006/table">
            <a:tbl>
              <a:tblPr>
                <a:tableStyleId>{5C22544A-7EE6-4342-B048-85BDC9FD1C3A}</a:tableStyleId>
              </a:tblPr>
              <a:tblGrid>
                <a:gridCol w="1393622">
                  <a:extLst>
                    <a:ext uri="{9D8B030D-6E8A-4147-A177-3AD203B41FA5}">
                      <a16:colId xmlns:a16="http://schemas.microsoft.com/office/drawing/2014/main" val="1385313224"/>
                    </a:ext>
                  </a:extLst>
                </a:gridCol>
                <a:gridCol w="1393622">
                  <a:extLst>
                    <a:ext uri="{9D8B030D-6E8A-4147-A177-3AD203B41FA5}">
                      <a16:colId xmlns:a16="http://schemas.microsoft.com/office/drawing/2014/main" val="1112017577"/>
                    </a:ext>
                  </a:extLst>
                </a:gridCol>
              </a:tblGrid>
              <a:tr h="411670">
                <a:tc gridSpan="2">
                  <a:txBody>
                    <a:bodyPr/>
                    <a:lstStyle/>
                    <a:p>
                      <a:pPr algn="ctr" fontAlgn="b"/>
                      <a:r>
                        <a:rPr lang="en-US" sz="2000" b="1" u="none" strike="noStrike" dirty="0">
                          <a:effectLst/>
                        </a:rPr>
                        <a:t>No. of Non-Readers</a:t>
                      </a:r>
                      <a:endParaRPr lang="en-US" sz="2000" b="1" i="0" u="none" strike="noStrike" dirty="0">
                        <a:solidFill>
                          <a:srgbClr val="000000"/>
                        </a:solidFill>
                        <a:effectLst/>
                        <a:latin typeface="Arial" panose="020B060402020202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497089983"/>
                  </a:ext>
                </a:extLst>
              </a:tr>
              <a:tr h="432253">
                <a:tc>
                  <a:txBody>
                    <a:bodyPr/>
                    <a:lstStyle/>
                    <a:p>
                      <a:pPr algn="l" fontAlgn="b"/>
                      <a:r>
                        <a:rPr lang="en-US" sz="2000" b="1" u="none" strike="noStrike" dirty="0">
                          <a:effectLst/>
                        </a:rPr>
                        <a:t>Pre-Reading</a:t>
                      </a:r>
                      <a:endParaRPr lang="en-US"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0" i="0" u="none" strike="noStrike" dirty="0">
                          <a:solidFill>
                            <a:srgbClr val="000000"/>
                          </a:solidFill>
                          <a:effectLst/>
                          <a:latin typeface="Arial" panose="020B0604020202020204" pitchFamily="34" charset="0"/>
                        </a:rPr>
                        <a:t>27</a:t>
                      </a:r>
                    </a:p>
                  </a:txBody>
                  <a:tcPr marL="9525" marR="9525" marT="9525" marB="0" anchor="b"/>
                </a:tc>
                <a:extLst>
                  <a:ext uri="{0D108BD9-81ED-4DB2-BD59-A6C34878D82A}">
                    <a16:rowId xmlns:a16="http://schemas.microsoft.com/office/drawing/2014/main" val="1919825647"/>
                  </a:ext>
                </a:extLst>
              </a:tr>
              <a:tr h="432253">
                <a:tc>
                  <a:txBody>
                    <a:bodyPr/>
                    <a:lstStyle/>
                    <a:p>
                      <a:pPr algn="l" fontAlgn="b"/>
                      <a:r>
                        <a:rPr lang="en-US" sz="2000" b="1" u="none" strike="noStrike" dirty="0">
                          <a:effectLst/>
                        </a:rPr>
                        <a:t>1st Semester</a:t>
                      </a:r>
                      <a:endParaRPr lang="en-US"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u="none" strike="noStrike" dirty="0">
                          <a:effectLst/>
                        </a:rPr>
                        <a:t>20</a:t>
                      </a:r>
                      <a:endParaRPr lang="en-US" sz="28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76222809"/>
                  </a:ext>
                </a:extLst>
              </a:tr>
              <a:tr h="432253">
                <a:tc>
                  <a:txBody>
                    <a:bodyPr/>
                    <a:lstStyle/>
                    <a:p>
                      <a:pPr algn="l" fontAlgn="b"/>
                      <a:r>
                        <a:rPr lang="en-US" sz="2000" b="1" i="0" u="none" strike="noStrike" dirty="0">
                          <a:solidFill>
                            <a:srgbClr val="000000"/>
                          </a:solidFill>
                          <a:effectLst/>
                          <a:latin typeface="+mn-lt"/>
                        </a:rPr>
                        <a:t>2</a:t>
                      </a:r>
                      <a:r>
                        <a:rPr lang="en-US" sz="2000" b="1" i="0" u="none" strike="noStrike" baseline="30000" dirty="0">
                          <a:solidFill>
                            <a:srgbClr val="000000"/>
                          </a:solidFill>
                          <a:effectLst/>
                          <a:latin typeface="+mn-lt"/>
                        </a:rPr>
                        <a:t>nd</a:t>
                      </a:r>
                      <a:r>
                        <a:rPr lang="en-US" sz="2000" b="1" i="0" u="none" strike="noStrike" dirty="0">
                          <a:solidFill>
                            <a:srgbClr val="000000"/>
                          </a:solidFill>
                          <a:effectLst/>
                          <a:latin typeface="+mn-lt"/>
                        </a:rPr>
                        <a:t> Semester</a:t>
                      </a:r>
                    </a:p>
                  </a:txBody>
                  <a:tcPr marL="9525" marR="9525" marT="9525" marB="0" anchor="b"/>
                </a:tc>
                <a:tc>
                  <a:txBody>
                    <a:bodyPr/>
                    <a:lstStyle/>
                    <a:p>
                      <a:pPr algn="ctr" fontAlgn="b"/>
                      <a:r>
                        <a:rPr lang="en-US" sz="2800" b="0" i="0" u="none" strike="noStrike" dirty="0">
                          <a:solidFill>
                            <a:srgbClr val="000000"/>
                          </a:solidFill>
                          <a:effectLst/>
                          <a:latin typeface="Arial" panose="020B0604020202020204" pitchFamily="34" charset="0"/>
                        </a:rPr>
                        <a:t>3</a:t>
                      </a:r>
                    </a:p>
                  </a:txBody>
                  <a:tcPr marL="9525" marR="9525" marT="9525" marB="0" anchor="b"/>
                </a:tc>
                <a:extLst>
                  <a:ext uri="{0D108BD9-81ED-4DB2-BD59-A6C34878D82A}">
                    <a16:rowId xmlns:a16="http://schemas.microsoft.com/office/drawing/2014/main" val="228546265"/>
                  </a:ext>
                </a:extLst>
              </a:tr>
            </a:tbl>
          </a:graphicData>
        </a:graphic>
      </p:graphicFrame>
      <p:sp>
        <p:nvSpPr>
          <p:cNvPr id="5" name="Rectangle 4">
            <a:extLst>
              <a:ext uri="{FF2B5EF4-FFF2-40B4-BE49-F238E27FC236}">
                <a16:creationId xmlns:a16="http://schemas.microsoft.com/office/drawing/2014/main" id="{A7DC53EB-9114-434D-9BA0-4302284BA20C}"/>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7" name="Chart 6">
            <a:extLst>
              <a:ext uri="{FF2B5EF4-FFF2-40B4-BE49-F238E27FC236}">
                <a16:creationId xmlns:a16="http://schemas.microsoft.com/office/drawing/2014/main" id="{724A71AC-152C-4546-8744-AC965084662F}"/>
              </a:ext>
            </a:extLst>
          </p:cNvPr>
          <p:cNvGraphicFramePr/>
          <p:nvPr>
            <p:extLst>
              <p:ext uri="{D42A27DB-BD31-4B8C-83A1-F6EECF244321}">
                <p14:modId xmlns:p14="http://schemas.microsoft.com/office/powerpoint/2010/main" val="1911377378"/>
              </p:ext>
            </p:extLst>
          </p:nvPr>
        </p:nvGraphicFramePr>
        <p:xfrm>
          <a:off x="3881534" y="1767232"/>
          <a:ext cx="6858001" cy="49414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2272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Non-Readers (Filipino)</a:t>
            </a:r>
          </a:p>
        </p:txBody>
      </p:sp>
      <p:graphicFrame>
        <p:nvGraphicFramePr>
          <p:cNvPr id="3" name="Table 2">
            <a:extLst>
              <a:ext uri="{FF2B5EF4-FFF2-40B4-BE49-F238E27FC236}">
                <a16:creationId xmlns:a16="http://schemas.microsoft.com/office/drawing/2014/main" id="{B1A48857-58C0-4B1E-8FB1-1557DC3D0438}"/>
              </a:ext>
            </a:extLst>
          </p:cNvPr>
          <p:cNvGraphicFramePr>
            <a:graphicFrameLocks noGrp="1"/>
          </p:cNvGraphicFramePr>
          <p:nvPr>
            <p:extLst>
              <p:ext uri="{D42A27DB-BD31-4B8C-83A1-F6EECF244321}">
                <p14:modId xmlns:p14="http://schemas.microsoft.com/office/powerpoint/2010/main" val="1366556098"/>
              </p:ext>
            </p:extLst>
          </p:nvPr>
        </p:nvGraphicFramePr>
        <p:xfrm>
          <a:off x="358627" y="2695182"/>
          <a:ext cx="2787244" cy="1720405"/>
        </p:xfrm>
        <a:graphic>
          <a:graphicData uri="http://schemas.openxmlformats.org/drawingml/2006/table">
            <a:tbl>
              <a:tblPr>
                <a:tableStyleId>{5C22544A-7EE6-4342-B048-85BDC9FD1C3A}</a:tableStyleId>
              </a:tblPr>
              <a:tblGrid>
                <a:gridCol w="1393622">
                  <a:extLst>
                    <a:ext uri="{9D8B030D-6E8A-4147-A177-3AD203B41FA5}">
                      <a16:colId xmlns:a16="http://schemas.microsoft.com/office/drawing/2014/main" val="1385313224"/>
                    </a:ext>
                  </a:extLst>
                </a:gridCol>
                <a:gridCol w="1393622">
                  <a:extLst>
                    <a:ext uri="{9D8B030D-6E8A-4147-A177-3AD203B41FA5}">
                      <a16:colId xmlns:a16="http://schemas.microsoft.com/office/drawing/2014/main" val="1112017577"/>
                    </a:ext>
                  </a:extLst>
                </a:gridCol>
              </a:tblGrid>
              <a:tr h="411670">
                <a:tc gridSpan="2">
                  <a:txBody>
                    <a:bodyPr/>
                    <a:lstStyle/>
                    <a:p>
                      <a:pPr algn="ctr" fontAlgn="b"/>
                      <a:r>
                        <a:rPr lang="en-US" sz="2000" b="1" u="none" strike="noStrike" dirty="0">
                          <a:effectLst/>
                        </a:rPr>
                        <a:t>No. of Non-Readers</a:t>
                      </a:r>
                      <a:endParaRPr lang="en-US" sz="2000" b="1" i="0" u="none" strike="noStrike" dirty="0">
                        <a:solidFill>
                          <a:srgbClr val="000000"/>
                        </a:solidFill>
                        <a:effectLst/>
                        <a:latin typeface="Arial" panose="020B060402020202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497089983"/>
                  </a:ext>
                </a:extLst>
              </a:tr>
              <a:tr h="432253">
                <a:tc>
                  <a:txBody>
                    <a:bodyPr/>
                    <a:lstStyle/>
                    <a:p>
                      <a:pPr algn="l" fontAlgn="b"/>
                      <a:r>
                        <a:rPr lang="en-US" sz="2000" b="1" u="none" strike="noStrike" dirty="0">
                          <a:effectLst/>
                        </a:rPr>
                        <a:t>Pre-Reading</a:t>
                      </a:r>
                      <a:endParaRPr lang="en-US"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0" i="0" u="none" strike="noStrike" dirty="0">
                          <a:solidFill>
                            <a:srgbClr val="000000"/>
                          </a:solidFill>
                          <a:effectLst/>
                          <a:latin typeface="Arial" panose="020B0604020202020204" pitchFamily="34" charset="0"/>
                        </a:rPr>
                        <a:t>0</a:t>
                      </a:r>
                    </a:p>
                  </a:txBody>
                  <a:tcPr marL="9525" marR="9525" marT="9525" marB="0" anchor="b"/>
                </a:tc>
                <a:extLst>
                  <a:ext uri="{0D108BD9-81ED-4DB2-BD59-A6C34878D82A}">
                    <a16:rowId xmlns:a16="http://schemas.microsoft.com/office/drawing/2014/main" val="1919825647"/>
                  </a:ext>
                </a:extLst>
              </a:tr>
              <a:tr h="432253">
                <a:tc>
                  <a:txBody>
                    <a:bodyPr/>
                    <a:lstStyle/>
                    <a:p>
                      <a:pPr algn="l" fontAlgn="b"/>
                      <a:r>
                        <a:rPr lang="en-US" sz="2000" b="1" u="none" strike="noStrike" dirty="0">
                          <a:effectLst/>
                        </a:rPr>
                        <a:t>1st Semester</a:t>
                      </a:r>
                      <a:endParaRPr lang="en-US"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u="none" strike="noStrike" dirty="0">
                          <a:effectLst/>
                        </a:rPr>
                        <a:t>0</a:t>
                      </a:r>
                      <a:endParaRPr lang="en-US" sz="28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76222809"/>
                  </a:ext>
                </a:extLst>
              </a:tr>
              <a:tr h="432253">
                <a:tc>
                  <a:txBody>
                    <a:bodyPr/>
                    <a:lstStyle/>
                    <a:p>
                      <a:pPr algn="l" fontAlgn="b"/>
                      <a:r>
                        <a:rPr lang="en-US" sz="2000" b="1" i="0" u="none" strike="noStrike" dirty="0">
                          <a:solidFill>
                            <a:srgbClr val="000000"/>
                          </a:solidFill>
                          <a:effectLst/>
                          <a:latin typeface="+mn-lt"/>
                        </a:rPr>
                        <a:t>2</a:t>
                      </a:r>
                      <a:r>
                        <a:rPr lang="en-US" sz="2000" b="1" i="0" u="none" strike="noStrike" baseline="30000" dirty="0">
                          <a:solidFill>
                            <a:srgbClr val="000000"/>
                          </a:solidFill>
                          <a:effectLst/>
                          <a:latin typeface="+mn-lt"/>
                        </a:rPr>
                        <a:t>nd</a:t>
                      </a:r>
                      <a:r>
                        <a:rPr lang="en-US" sz="2000" b="1" i="0" u="none" strike="noStrike" dirty="0">
                          <a:solidFill>
                            <a:srgbClr val="000000"/>
                          </a:solidFill>
                          <a:effectLst/>
                          <a:latin typeface="+mn-lt"/>
                        </a:rPr>
                        <a:t> Semester</a:t>
                      </a:r>
                    </a:p>
                  </a:txBody>
                  <a:tcPr marL="9525" marR="9525" marT="9525" marB="0" anchor="b"/>
                </a:tc>
                <a:tc>
                  <a:txBody>
                    <a:bodyPr/>
                    <a:lstStyle/>
                    <a:p>
                      <a:pPr algn="ctr" fontAlgn="b"/>
                      <a:r>
                        <a:rPr lang="en-US" sz="2800" b="0" i="0" u="none" strike="noStrike" dirty="0">
                          <a:solidFill>
                            <a:srgbClr val="000000"/>
                          </a:solidFill>
                          <a:effectLst/>
                          <a:latin typeface="+mn-lt"/>
                        </a:rPr>
                        <a:t>0</a:t>
                      </a:r>
                    </a:p>
                  </a:txBody>
                  <a:tcPr marL="9525" marR="9525" marT="9525" marB="0" anchor="b"/>
                </a:tc>
                <a:extLst>
                  <a:ext uri="{0D108BD9-81ED-4DB2-BD59-A6C34878D82A}">
                    <a16:rowId xmlns:a16="http://schemas.microsoft.com/office/drawing/2014/main" val="2534737144"/>
                  </a:ext>
                </a:extLst>
              </a:tr>
            </a:tbl>
          </a:graphicData>
        </a:graphic>
      </p:graphicFrame>
      <p:sp>
        <p:nvSpPr>
          <p:cNvPr id="5" name="Rectangle 4">
            <a:extLst>
              <a:ext uri="{FF2B5EF4-FFF2-40B4-BE49-F238E27FC236}">
                <a16:creationId xmlns:a16="http://schemas.microsoft.com/office/drawing/2014/main" id="{20D7F8CB-DD16-41D1-BF9B-BF889E25B29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7" name="Chart 6">
            <a:extLst>
              <a:ext uri="{FF2B5EF4-FFF2-40B4-BE49-F238E27FC236}">
                <a16:creationId xmlns:a16="http://schemas.microsoft.com/office/drawing/2014/main" id="{36DA067D-43A8-4387-B0D3-54C4CFD56ADD}"/>
              </a:ext>
            </a:extLst>
          </p:cNvPr>
          <p:cNvGraphicFramePr/>
          <p:nvPr>
            <p:extLst>
              <p:ext uri="{D42A27DB-BD31-4B8C-83A1-F6EECF244321}">
                <p14:modId xmlns:p14="http://schemas.microsoft.com/office/powerpoint/2010/main" val="3918302796"/>
              </p:ext>
            </p:extLst>
          </p:nvPr>
        </p:nvGraphicFramePr>
        <p:xfrm>
          <a:off x="3881534" y="1767232"/>
          <a:ext cx="6858001" cy="49414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468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326575"/>
            <a:ext cx="9879563" cy="1158843"/>
          </a:xfrm>
        </p:spPr>
        <p:txBody>
          <a:bodyPr/>
          <a:lstStyle/>
          <a:p>
            <a:r>
              <a:rPr lang="en-US" b="1" dirty="0"/>
              <a:t>Non Numerates (8%)</a:t>
            </a:r>
          </a:p>
        </p:txBody>
      </p:sp>
      <p:sp>
        <p:nvSpPr>
          <p:cNvPr id="5" name="Rectangle 4">
            <a:extLst>
              <a:ext uri="{FF2B5EF4-FFF2-40B4-BE49-F238E27FC236}">
                <a16:creationId xmlns:a16="http://schemas.microsoft.com/office/drawing/2014/main" id="{20D7F8CB-DD16-41D1-BF9B-BF889E25B29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8" name="Chart 7">
            <a:extLst>
              <a:ext uri="{FF2B5EF4-FFF2-40B4-BE49-F238E27FC236}">
                <a16:creationId xmlns:a16="http://schemas.microsoft.com/office/drawing/2014/main" id="{5F8DC608-382D-4469-B636-94952263AA81}"/>
              </a:ext>
            </a:extLst>
          </p:cNvPr>
          <p:cNvGraphicFramePr>
            <a:graphicFrameLocks/>
          </p:cNvGraphicFramePr>
          <p:nvPr>
            <p:extLst>
              <p:ext uri="{D42A27DB-BD31-4B8C-83A1-F6EECF244321}">
                <p14:modId xmlns:p14="http://schemas.microsoft.com/office/powerpoint/2010/main" val="240887069"/>
              </p:ext>
            </p:extLst>
          </p:nvPr>
        </p:nvGraphicFramePr>
        <p:xfrm>
          <a:off x="191593" y="1654045"/>
          <a:ext cx="10678570" cy="51410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1296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normAutofit/>
          </a:bodyPr>
          <a:lstStyle/>
          <a:p>
            <a:r>
              <a:rPr lang="en-US" sz="4000" b="1" dirty="0"/>
              <a:t>MPS Result – 1</a:t>
            </a:r>
            <a:r>
              <a:rPr lang="en-US" sz="4000" b="1" baseline="30000" dirty="0"/>
              <a:t>st</a:t>
            </a:r>
            <a:r>
              <a:rPr lang="en-US" sz="4000" b="1" dirty="0"/>
              <a:t> Grading and 2</a:t>
            </a:r>
            <a:r>
              <a:rPr lang="en-US" sz="4000" b="1" baseline="30000" dirty="0"/>
              <a:t>nd</a:t>
            </a:r>
            <a:r>
              <a:rPr lang="en-US" sz="4000" b="1" dirty="0"/>
              <a:t> Grading</a:t>
            </a:r>
          </a:p>
        </p:txBody>
      </p:sp>
      <p:graphicFrame>
        <p:nvGraphicFramePr>
          <p:cNvPr id="5" name="Chart 4">
            <a:extLst>
              <a:ext uri="{FF2B5EF4-FFF2-40B4-BE49-F238E27FC236}">
                <a16:creationId xmlns:a16="http://schemas.microsoft.com/office/drawing/2014/main" id="{4BABA0EC-67BB-4B29-A5FF-11E663485C51}"/>
              </a:ext>
            </a:extLst>
          </p:cNvPr>
          <p:cNvGraphicFramePr>
            <a:graphicFrameLocks/>
          </p:cNvGraphicFramePr>
          <p:nvPr>
            <p:extLst>
              <p:ext uri="{D42A27DB-BD31-4B8C-83A1-F6EECF244321}">
                <p14:modId xmlns:p14="http://schemas.microsoft.com/office/powerpoint/2010/main" val="1239680364"/>
              </p:ext>
            </p:extLst>
          </p:nvPr>
        </p:nvGraphicFramePr>
        <p:xfrm>
          <a:off x="228687" y="1661326"/>
          <a:ext cx="5157045" cy="50902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EC62A847-9EA1-4918-BDFE-8FED40716F3F}"/>
              </a:ext>
            </a:extLst>
          </p:cNvPr>
          <p:cNvGraphicFramePr>
            <a:graphicFrameLocks/>
          </p:cNvGraphicFramePr>
          <p:nvPr>
            <p:extLst>
              <p:ext uri="{D42A27DB-BD31-4B8C-83A1-F6EECF244321}">
                <p14:modId xmlns:p14="http://schemas.microsoft.com/office/powerpoint/2010/main" val="2206007014"/>
              </p:ext>
            </p:extLst>
          </p:nvPr>
        </p:nvGraphicFramePr>
        <p:xfrm>
          <a:off x="5595456" y="1661327"/>
          <a:ext cx="5259897" cy="5076232"/>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A2504562-55A6-4051-BE8D-5E031F2D42C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Tree>
    <p:extLst>
      <p:ext uri="{BB962C8B-B14F-4D97-AF65-F5344CB8AC3E}">
        <p14:creationId xmlns:p14="http://schemas.microsoft.com/office/powerpoint/2010/main" val="288246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normAutofit/>
          </a:bodyPr>
          <a:lstStyle/>
          <a:p>
            <a:r>
              <a:rPr lang="en-US" sz="4000" b="1" dirty="0"/>
              <a:t>MPS Result – 3</a:t>
            </a:r>
            <a:r>
              <a:rPr lang="en-US" sz="4000" b="1" baseline="30000" dirty="0"/>
              <a:t>rd</a:t>
            </a:r>
            <a:r>
              <a:rPr lang="en-US" sz="4000" b="1" dirty="0"/>
              <a:t>Grading</a:t>
            </a:r>
          </a:p>
        </p:txBody>
      </p:sp>
      <p:sp>
        <p:nvSpPr>
          <p:cNvPr id="7" name="Rectangle 6">
            <a:extLst>
              <a:ext uri="{FF2B5EF4-FFF2-40B4-BE49-F238E27FC236}">
                <a16:creationId xmlns:a16="http://schemas.microsoft.com/office/drawing/2014/main" id="{A2504562-55A6-4051-BE8D-5E031F2D42C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5" name="Chart 4">
            <a:extLst>
              <a:ext uri="{FF2B5EF4-FFF2-40B4-BE49-F238E27FC236}">
                <a16:creationId xmlns:a16="http://schemas.microsoft.com/office/drawing/2014/main" id="{EE98C9C5-8049-4584-B46A-115561756C06}"/>
              </a:ext>
            </a:extLst>
          </p:cNvPr>
          <p:cNvGraphicFramePr>
            <a:graphicFrameLocks/>
          </p:cNvGraphicFramePr>
          <p:nvPr>
            <p:extLst>
              <p:ext uri="{D42A27DB-BD31-4B8C-83A1-F6EECF244321}">
                <p14:modId xmlns:p14="http://schemas.microsoft.com/office/powerpoint/2010/main" val="2585797459"/>
              </p:ext>
            </p:extLst>
          </p:nvPr>
        </p:nvGraphicFramePr>
        <p:xfrm>
          <a:off x="338093" y="1632697"/>
          <a:ext cx="10131368" cy="513721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17239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7" y="289251"/>
            <a:ext cx="9258772" cy="1158843"/>
          </a:xfrm>
        </p:spPr>
        <p:txBody>
          <a:bodyPr>
            <a:normAutofit/>
          </a:bodyPr>
          <a:lstStyle/>
          <a:p>
            <a:r>
              <a:rPr lang="en-US" sz="3200" b="1" dirty="0"/>
              <a:t>Number of learner with failing grades (Quarter 1)</a:t>
            </a:r>
          </a:p>
        </p:txBody>
      </p:sp>
      <p:sp>
        <p:nvSpPr>
          <p:cNvPr id="7" name="Rectangle 6">
            <a:extLst>
              <a:ext uri="{FF2B5EF4-FFF2-40B4-BE49-F238E27FC236}">
                <a16:creationId xmlns:a16="http://schemas.microsoft.com/office/drawing/2014/main" id="{A2504562-55A6-4051-BE8D-5E031F2D42C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6" name="Table 5">
            <a:extLst>
              <a:ext uri="{FF2B5EF4-FFF2-40B4-BE49-F238E27FC236}">
                <a16:creationId xmlns:a16="http://schemas.microsoft.com/office/drawing/2014/main" id="{159D80AE-2059-40EF-ABCD-16BDD089A193}"/>
              </a:ext>
            </a:extLst>
          </p:cNvPr>
          <p:cNvGraphicFramePr>
            <a:graphicFrameLocks noGrp="1"/>
          </p:cNvGraphicFramePr>
          <p:nvPr>
            <p:extLst>
              <p:ext uri="{D42A27DB-BD31-4B8C-83A1-F6EECF244321}">
                <p14:modId xmlns:p14="http://schemas.microsoft.com/office/powerpoint/2010/main" val="3886664775"/>
              </p:ext>
            </p:extLst>
          </p:nvPr>
        </p:nvGraphicFramePr>
        <p:xfrm>
          <a:off x="292921" y="1739930"/>
          <a:ext cx="10515588" cy="1521373"/>
        </p:xfrm>
        <a:graphic>
          <a:graphicData uri="http://schemas.openxmlformats.org/drawingml/2006/table">
            <a:tbl>
              <a:tblPr/>
              <a:tblGrid>
                <a:gridCol w="619044">
                  <a:extLst>
                    <a:ext uri="{9D8B030D-6E8A-4147-A177-3AD203B41FA5}">
                      <a16:colId xmlns:a16="http://schemas.microsoft.com/office/drawing/2014/main" val="30655164"/>
                    </a:ext>
                  </a:extLst>
                </a:gridCol>
                <a:gridCol w="274904">
                  <a:extLst>
                    <a:ext uri="{9D8B030D-6E8A-4147-A177-3AD203B41FA5}">
                      <a16:colId xmlns:a16="http://schemas.microsoft.com/office/drawing/2014/main" val="2565134545"/>
                    </a:ext>
                  </a:extLst>
                </a:gridCol>
                <a:gridCol w="274904">
                  <a:extLst>
                    <a:ext uri="{9D8B030D-6E8A-4147-A177-3AD203B41FA5}">
                      <a16:colId xmlns:a16="http://schemas.microsoft.com/office/drawing/2014/main" val="1097521961"/>
                    </a:ext>
                  </a:extLst>
                </a:gridCol>
                <a:gridCol w="274904">
                  <a:extLst>
                    <a:ext uri="{9D8B030D-6E8A-4147-A177-3AD203B41FA5}">
                      <a16:colId xmlns:a16="http://schemas.microsoft.com/office/drawing/2014/main" val="3922120431"/>
                    </a:ext>
                  </a:extLst>
                </a:gridCol>
                <a:gridCol w="274904">
                  <a:extLst>
                    <a:ext uri="{9D8B030D-6E8A-4147-A177-3AD203B41FA5}">
                      <a16:colId xmlns:a16="http://schemas.microsoft.com/office/drawing/2014/main" val="1937739249"/>
                    </a:ext>
                  </a:extLst>
                </a:gridCol>
                <a:gridCol w="274904">
                  <a:extLst>
                    <a:ext uri="{9D8B030D-6E8A-4147-A177-3AD203B41FA5}">
                      <a16:colId xmlns:a16="http://schemas.microsoft.com/office/drawing/2014/main" val="542749039"/>
                    </a:ext>
                  </a:extLst>
                </a:gridCol>
                <a:gridCol w="274904">
                  <a:extLst>
                    <a:ext uri="{9D8B030D-6E8A-4147-A177-3AD203B41FA5}">
                      <a16:colId xmlns:a16="http://schemas.microsoft.com/office/drawing/2014/main" val="1840859818"/>
                    </a:ext>
                  </a:extLst>
                </a:gridCol>
                <a:gridCol w="274904">
                  <a:extLst>
                    <a:ext uri="{9D8B030D-6E8A-4147-A177-3AD203B41FA5}">
                      <a16:colId xmlns:a16="http://schemas.microsoft.com/office/drawing/2014/main" val="476660699"/>
                    </a:ext>
                  </a:extLst>
                </a:gridCol>
                <a:gridCol w="274904">
                  <a:extLst>
                    <a:ext uri="{9D8B030D-6E8A-4147-A177-3AD203B41FA5}">
                      <a16:colId xmlns:a16="http://schemas.microsoft.com/office/drawing/2014/main" val="352861339"/>
                    </a:ext>
                  </a:extLst>
                </a:gridCol>
                <a:gridCol w="274904">
                  <a:extLst>
                    <a:ext uri="{9D8B030D-6E8A-4147-A177-3AD203B41FA5}">
                      <a16:colId xmlns:a16="http://schemas.microsoft.com/office/drawing/2014/main" val="706746720"/>
                    </a:ext>
                  </a:extLst>
                </a:gridCol>
                <a:gridCol w="274904">
                  <a:extLst>
                    <a:ext uri="{9D8B030D-6E8A-4147-A177-3AD203B41FA5}">
                      <a16:colId xmlns:a16="http://schemas.microsoft.com/office/drawing/2014/main" val="3784843993"/>
                    </a:ext>
                  </a:extLst>
                </a:gridCol>
                <a:gridCol w="274904">
                  <a:extLst>
                    <a:ext uri="{9D8B030D-6E8A-4147-A177-3AD203B41FA5}">
                      <a16:colId xmlns:a16="http://schemas.microsoft.com/office/drawing/2014/main" val="1306344739"/>
                    </a:ext>
                  </a:extLst>
                </a:gridCol>
                <a:gridCol w="274904">
                  <a:extLst>
                    <a:ext uri="{9D8B030D-6E8A-4147-A177-3AD203B41FA5}">
                      <a16:colId xmlns:a16="http://schemas.microsoft.com/office/drawing/2014/main" val="1206912546"/>
                    </a:ext>
                  </a:extLst>
                </a:gridCol>
                <a:gridCol w="274904">
                  <a:extLst>
                    <a:ext uri="{9D8B030D-6E8A-4147-A177-3AD203B41FA5}">
                      <a16:colId xmlns:a16="http://schemas.microsoft.com/office/drawing/2014/main" val="3933674303"/>
                    </a:ext>
                  </a:extLst>
                </a:gridCol>
                <a:gridCol w="274904">
                  <a:extLst>
                    <a:ext uri="{9D8B030D-6E8A-4147-A177-3AD203B41FA5}">
                      <a16:colId xmlns:a16="http://schemas.microsoft.com/office/drawing/2014/main" val="4138219715"/>
                    </a:ext>
                  </a:extLst>
                </a:gridCol>
                <a:gridCol w="274904">
                  <a:extLst>
                    <a:ext uri="{9D8B030D-6E8A-4147-A177-3AD203B41FA5}">
                      <a16:colId xmlns:a16="http://schemas.microsoft.com/office/drawing/2014/main" val="2582194580"/>
                    </a:ext>
                  </a:extLst>
                </a:gridCol>
                <a:gridCol w="274904">
                  <a:extLst>
                    <a:ext uri="{9D8B030D-6E8A-4147-A177-3AD203B41FA5}">
                      <a16:colId xmlns:a16="http://schemas.microsoft.com/office/drawing/2014/main" val="2565587348"/>
                    </a:ext>
                  </a:extLst>
                </a:gridCol>
                <a:gridCol w="274904">
                  <a:extLst>
                    <a:ext uri="{9D8B030D-6E8A-4147-A177-3AD203B41FA5}">
                      <a16:colId xmlns:a16="http://schemas.microsoft.com/office/drawing/2014/main" val="1489264429"/>
                    </a:ext>
                  </a:extLst>
                </a:gridCol>
                <a:gridCol w="274904">
                  <a:extLst>
                    <a:ext uri="{9D8B030D-6E8A-4147-A177-3AD203B41FA5}">
                      <a16:colId xmlns:a16="http://schemas.microsoft.com/office/drawing/2014/main" val="268289132"/>
                    </a:ext>
                  </a:extLst>
                </a:gridCol>
                <a:gridCol w="274904">
                  <a:extLst>
                    <a:ext uri="{9D8B030D-6E8A-4147-A177-3AD203B41FA5}">
                      <a16:colId xmlns:a16="http://schemas.microsoft.com/office/drawing/2014/main" val="845957742"/>
                    </a:ext>
                  </a:extLst>
                </a:gridCol>
                <a:gridCol w="274904">
                  <a:extLst>
                    <a:ext uri="{9D8B030D-6E8A-4147-A177-3AD203B41FA5}">
                      <a16:colId xmlns:a16="http://schemas.microsoft.com/office/drawing/2014/main" val="573696630"/>
                    </a:ext>
                  </a:extLst>
                </a:gridCol>
                <a:gridCol w="274904">
                  <a:extLst>
                    <a:ext uri="{9D8B030D-6E8A-4147-A177-3AD203B41FA5}">
                      <a16:colId xmlns:a16="http://schemas.microsoft.com/office/drawing/2014/main" val="3612023126"/>
                    </a:ext>
                  </a:extLst>
                </a:gridCol>
                <a:gridCol w="274904">
                  <a:extLst>
                    <a:ext uri="{9D8B030D-6E8A-4147-A177-3AD203B41FA5}">
                      <a16:colId xmlns:a16="http://schemas.microsoft.com/office/drawing/2014/main" val="551211482"/>
                    </a:ext>
                  </a:extLst>
                </a:gridCol>
                <a:gridCol w="274904">
                  <a:extLst>
                    <a:ext uri="{9D8B030D-6E8A-4147-A177-3AD203B41FA5}">
                      <a16:colId xmlns:a16="http://schemas.microsoft.com/office/drawing/2014/main" val="190178384"/>
                    </a:ext>
                  </a:extLst>
                </a:gridCol>
                <a:gridCol w="274904">
                  <a:extLst>
                    <a:ext uri="{9D8B030D-6E8A-4147-A177-3AD203B41FA5}">
                      <a16:colId xmlns:a16="http://schemas.microsoft.com/office/drawing/2014/main" val="2347722006"/>
                    </a:ext>
                  </a:extLst>
                </a:gridCol>
                <a:gridCol w="274904">
                  <a:extLst>
                    <a:ext uri="{9D8B030D-6E8A-4147-A177-3AD203B41FA5}">
                      <a16:colId xmlns:a16="http://schemas.microsoft.com/office/drawing/2014/main" val="2429855656"/>
                    </a:ext>
                  </a:extLst>
                </a:gridCol>
                <a:gridCol w="274904">
                  <a:extLst>
                    <a:ext uri="{9D8B030D-6E8A-4147-A177-3AD203B41FA5}">
                      <a16:colId xmlns:a16="http://schemas.microsoft.com/office/drawing/2014/main" val="2630428640"/>
                    </a:ext>
                  </a:extLst>
                </a:gridCol>
                <a:gridCol w="274904">
                  <a:extLst>
                    <a:ext uri="{9D8B030D-6E8A-4147-A177-3AD203B41FA5}">
                      <a16:colId xmlns:a16="http://schemas.microsoft.com/office/drawing/2014/main" val="2255244414"/>
                    </a:ext>
                  </a:extLst>
                </a:gridCol>
                <a:gridCol w="274904">
                  <a:extLst>
                    <a:ext uri="{9D8B030D-6E8A-4147-A177-3AD203B41FA5}">
                      <a16:colId xmlns:a16="http://schemas.microsoft.com/office/drawing/2014/main" val="99399298"/>
                    </a:ext>
                  </a:extLst>
                </a:gridCol>
                <a:gridCol w="274904">
                  <a:extLst>
                    <a:ext uri="{9D8B030D-6E8A-4147-A177-3AD203B41FA5}">
                      <a16:colId xmlns:a16="http://schemas.microsoft.com/office/drawing/2014/main" val="345978734"/>
                    </a:ext>
                  </a:extLst>
                </a:gridCol>
                <a:gridCol w="274904">
                  <a:extLst>
                    <a:ext uri="{9D8B030D-6E8A-4147-A177-3AD203B41FA5}">
                      <a16:colId xmlns:a16="http://schemas.microsoft.com/office/drawing/2014/main" val="3429955976"/>
                    </a:ext>
                  </a:extLst>
                </a:gridCol>
                <a:gridCol w="274904">
                  <a:extLst>
                    <a:ext uri="{9D8B030D-6E8A-4147-A177-3AD203B41FA5}">
                      <a16:colId xmlns:a16="http://schemas.microsoft.com/office/drawing/2014/main" val="686323820"/>
                    </a:ext>
                  </a:extLst>
                </a:gridCol>
                <a:gridCol w="274904">
                  <a:extLst>
                    <a:ext uri="{9D8B030D-6E8A-4147-A177-3AD203B41FA5}">
                      <a16:colId xmlns:a16="http://schemas.microsoft.com/office/drawing/2014/main" val="2778995011"/>
                    </a:ext>
                  </a:extLst>
                </a:gridCol>
                <a:gridCol w="274904">
                  <a:extLst>
                    <a:ext uri="{9D8B030D-6E8A-4147-A177-3AD203B41FA5}">
                      <a16:colId xmlns:a16="http://schemas.microsoft.com/office/drawing/2014/main" val="2478463039"/>
                    </a:ext>
                  </a:extLst>
                </a:gridCol>
                <a:gridCol w="274904">
                  <a:extLst>
                    <a:ext uri="{9D8B030D-6E8A-4147-A177-3AD203B41FA5}">
                      <a16:colId xmlns:a16="http://schemas.microsoft.com/office/drawing/2014/main" val="724927487"/>
                    </a:ext>
                  </a:extLst>
                </a:gridCol>
                <a:gridCol w="274904">
                  <a:extLst>
                    <a:ext uri="{9D8B030D-6E8A-4147-A177-3AD203B41FA5}">
                      <a16:colId xmlns:a16="http://schemas.microsoft.com/office/drawing/2014/main" val="1813621820"/>
                    </a:ext>
                  </a:extLst>
                </a:gridCol>
                <a:gridCol w="274904">
                  <a:extLst>
                    <a:ext uri="{9D8B030D-6E8A-4147-A177-3AD203B41FA5}">
                      <a16:colId xmlns:a16="http://schemas.microsoft.com/office/drawing/2014/main" val="1235996642"/>
                    </a:ext>
                  </a:extLst>
                </a:gridCol>
              </a:tblGrid>
              <a:tr h="142950">
                <a:tc rowSpan="4">
                  <a:txBody>
                    <a:bodyPr/>
                    <a:lstStyle/>
                    <a:p>
                      <a:pPr algn="ctr" fontAlgn="ctr"/>
                      <a:r>
                        <a:rPr lang="en-US" sz="900" b="1" i="0" u="none" strike="noStrike">
                          <a:solidFill>
                            <a:srgbClr val="000000"/>
                          </a:solidFill>
                          <a:effectLst/>
                          <a:latin typeface="Bookman Old Style" panose="02050604050505020204" pitchFamily="18" charset="0"/>
                        </a:rPr>
                        <a:t>JUNIOR HS</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6">
                  <a:txBody>
                    <a:bodyPr/>
                    <a:lstStyle/>
                    <a:p>
                      <a:pPr algn="ctr" fontAlgn="b"/>
                      <a:r>
                        <a:rPr lang="en-US" sz="800" b="1" i="0" u="none" strike="noStrike">
                          <a:solidFill>
                            <a:srgbClr val="000000"/>
                          </a:solidFill>
                          <a:effectLst/>
                          <a:latin typeface="Calibri" panose="020F0502020204030204" pitchFamily="34" charset="0"/>
                        </a:rPr>
                        <a:t>QUARTER 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8178171"/>
                  </a:ext>
                </a:extLst>
              </a:tr>
              <a:tr h="142950">
                <a:tc v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FILIPINO</a:t>
                      </a:r>
                    </a:p>
                  </a:txBody>
                  <a:tcPr marL="6109" marR="6109" marT="6109" marB="2932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ENGLISH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MATH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SCIENCE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ARALING PANLIPUNAN</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EsP</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TLE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MAPEH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gridSpan="12">
                  <a:txBody>
                    <a:bodyPr/>
                    <a:lstStyle/>
                    <a:p>
                      <a:pPr algn="ctr" fontAlgn="ctr"/>
                      <a:r>
                        <a:rPr lang="en-US" sz="800" b="1" i="0" u="none" strike="noStrike">
                          <a:solidFill>
                            <a:srgbClr val="000000"/>
                          </a:solidFill>
                          <a:effectLst/>
                          <a:latin typeface="Times New Roman" panose="02020603050405020304" pitchFamily="18" charset="0"/>
                        </a:rPr>
                        <a:t>MAPEH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69481381"/>
                  </a:ext>
                </a:extLst>
              </a:tr>
              <a:tr h="142950">
                <a:tc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MUSIC</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ARTS</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PE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HEALTH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2184770"/>
                  </a:ext>
                </a:extLst>
              </a:tr>
              <a:tr h="201597">
                <a:tc vMerge="1">
                  <a:txBody>
                    <a:bodyPr/>
                    <a:lstStyle/>
                    <a:p>
                      <a:endParaRPr lang="en-US"/>
                    </a:p>
                  </a:txBody>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9589937"/>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4537192"/>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95431"/>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9502908"/>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878949"/>
                  </a:ext>
                </a:extLst>
              </a:tr>
              <a:tr h="142950">
                <a:tc>
                  <a:txBody>
                    <a:bodyPr/>
                    <a:lstStyle/>
                    <a:p>
                      <a:pPr algn="l" fontAlgn="b"/>
                      <a:r>
                        <a:rPr lang="en-US" sz="800" b="1" i="0" u="none" strike="noStrike">
                          <a:solidFill>
                            <a:srgbClr val="000000"/>
                          </a:solidFill>
                          <a:effectLst/>
                          <a:latin typeface="Times New Roman" panose="02020603050405020304" pitchFamily="18" charset="0"/>
                        </a:rPr>
                        <a:t>TOTAL</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r>
                        <a:rPr lang="en-US" sz="800" b="0" i="0" u="none" strike="noStrike" dirty="0">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49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49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67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dirty="0">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8301771"/>
                  </a:ext>
                </a:extLst>
              </a:tr>
            </a:tbl>
          </a:graphicData>
        </a:graphic>
      </p:graphicFrame>
      <p:graphicFrame>
        <p:nvGraphicFramePr>
          <p:cNvPr id="11" name="Chart 10">
            <a:extLst>
              <a:ext uri="{FF2B5EF4-FFF2-40B4-BE49-F238E27FC236}">
                <a16:creationId xmlns:a16="http://schemas.microsoft.com/office/drawing/2014/main" id="{4F42785A-A801-4A72-94C5-DF4321138787}"/>
              </a:ext>
            </a:extLst>
          </p:cNvPr>
          <p:cNvGraphicFramePr>
            <a:graphicFrameLocks/>
          </p:cNvGraphicFramePr>
          <p:nvPr>
            <p:extLst>
              <p:ext uri="{D42A27DB-BD31-4B8C-83A1-F6EECF244321}">
                <p14:modId xmlns:p14="http://schemas.microsoft.com/office/powerpoint/2010/main" val="2858944649"/>
              </p:ext>
            </p:extLst>
          </p:nvPr>
        </p:nvGraphicFramePr>
        <p:xfrm>
          <a:off x="386218" y="3429000"/>
          <a:ext cx="10346791" cy="322620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44863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7" y="289251"/>
            <a:ext cx="9258772" cy="1158843"/>
          </a:xfrm>
        </p:spPr>
        <p:txBody>
          <a:bodyPr>
            <a:normAutofit/>
          </a:bodyPr>
          <a:lstStyle/>
          <a:p>
            <a:r>
              <a:rPr lang="en-US" sz="3200" b="1" dirty="0"/>
              <a:t>Number of learner with failing grades (Quarter 2)</a:t>
            </a:r>
          </a:p>
        </p:txBody>
      </p:sp>
      <p:sp>
        <p:nvSpPr>
          <p:cNvPr id="7" name="Rectangle 6">
            <a:extLst>
              <a:ext uri="{FF2B5EF4-FFF2-40B4-BE49-F238E27FC236}">
                <a16:creationId xmlns:a16="http://schemas.microsoft.com/office/drawing/2014/main" id="{A2504562-55A6-4051-BE8D-5E031F2D42C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9" name="Table 8">
            <a:extLst>
              <a:ext uri="{FF2B5EF4-FFF2-40B4-BE49-F238E27FC236}">
                <a16:creationId xmlns:a16="http://schemas.microsoft.com/office/drawing/2014/main" id="{A2B897E4-8181-4184-B059-925A00CCF9E6}"/>
              </a:ext>
            </a:extLst>
          </p:cNvPr>
          <p:cNvGraphicFramePr>
            <a:graphicFrameLocks noGrp="1"/>
          </p:cNvGraphicFramePr>
          <p:nvPr>
            <p:extLst>
              <p:ext uri="{D42A27DB-BD31-4B8C-83A1-F6EECF244321}">
                <p14:modId xmlns:p14="http://schemas.microsoft.com/office/powerpoint/2010/main" val="764749302"/>
              </p:ext>
            </p:extLst>
          </p:nvPr>
        </p:nvGraphicFramePr>
        <p:xfrm>
          <a:off x="292921" y="1782785"/>
          <a:ext cx="10515588" cy="1518350"/>
        </p:xfrm>
        <a:graphic>
          <a:graphicData uri="http://schemas.openxmlformats.org/drawingml/2006/table">
            <a:tbl>
              <a:tblPr/>
              <a:tblGrid>
                <a:gridCol w="619044">
                  <a:extLst>
                    <a:ext uri="{9D8B030D-6E8A-4147-A177-3AD203B41FA5}">
                      <a16:colId xmlns:a16="http://schemas.microsoft.com/office/drawing/2014/main" val="2917818171"/>
                    </a:ext>
                  </a:extLst>
                </a:gridCol>
                <a:gridCol w="274904">
                  <a:extLst>
                    <a:ext uri="{9D8B030D-6E8A-4147-A177-3AD203B41FA5}">
                      <a16:colId xmlns:a16="http://schemas.microsoft.com/office/drawing/2014/main" val="2120390125"/>
                    </a:ext>
                  </a:extLst>
                </a:gridCol>
                <a:gridCol w="274904">
                  <a:extLst>
                    <a:ext uri="{9D8B030D-6E8A-4147-A177-3AD203B41FA5}">
                      <a16:colId xmlns:a16="http://schemas.microsoft.com/office/drawing/2014/main" val="4099163415"/>
                    </a:ext>
                  </a:extLst>
                </a:gridCol>
                <a:gridCol w="274904">
                  <a:extLst>
                    <a:ext uri="{9D8B030D-6E8A-4147-A177-3AD203B41FA5}">
                      <a16:colId xmlns:a16="http://schemas.microsoft.com/office/drawing/2014/main" val="757409423"/>
                    </a:ext>
                  </a:extLst>
                </a:gridCol>
                <a:gridCol w="274904">
                  <a:extLst>
                    <a:ext uri="{9D8B030D-6E8A-4147-A177-3AD203B41FA5}">
                      <a16:colId xmlns:a16="http://schemas.microsoft.com/office/drawing/2014/main" val="872572725"/>
                    </a:ext>
                  </a:extLst>
                </a:gridCol>
                <a:gridCol w="274904">
                  <a:extLst>
                    <a:ext uri="{9D8B030D-6E8A-4147-A177-3AD203B41FA5}">
                      <a16:colId xmlns:a16="http://schemas.microsoft.com/office/drawing/2014/main" val="3613979157"/>
                    </a:ext>
                  </a:extLst>
                </a:gridCol>
                <a:gridCol w="274904">
                  <a:extLst>
                    <a:ext uri="{9D8B030D-6E8A-4147-A177-3AD203B41FA5}">
                      <a16:colId xmlns:a16="http://schemas.microsoft.com/office/drawing/2014/main" val="2520768103"/>
                    </a:ext>
                  </a:extLst>
                </a:gridCol>
                <a:gridCol w="274904">
                  <a:extLst>
                    <a:ext uri="{9D8B030D-6E8A-4147-A177-3AD203B41FA5}">
                      <a16:colId xmlns:a16="http://schemas.microsoft.com/office/drawing/2014/main" val="1068637160"/>
                    </a:ext>
                  </a:extLst>
                </a:gridCol>
                <a:gridCol w="274904">
                  <a:extLst>
                    <a:ext uri="{9D8B030D-6E8A-4147-A177-3AD203B41FA5}">
                      <a16:colId xmlns:a16="http://schemas.microsoft.com/office/drawing/2014/main" val="3558909158"/>
                    </a:ext>
                  </a:extLst>
                </a:gridCol>
                <a:gridCol w="274904">
                  <a:extLst>
                    <a:ext uri="{9D8B030D-6E8A-4147-A177-3AD203B41FA5}">
                      <a16:colId xmlns:a16="http://schemas.microsoft.com/office/drawing/2014/main" val="901228954"/>
                    </a:ext>
                  </a:extLst>
                </a:gridCol>
                <a:gridCol w="274904">
                  <a:extLst>
                    <a:ext uri="{9D8B030D-6E8A-4147-A177-3AD203B41FA5}">
                      <a16:colId xmlns:a16="http://schemas.microsoft.com/office/drawing/2014/main" val="4165776405"/>
                    </a:ext>
                  </a:extLst>
                </a:gridCol>
                <a:gridCol w="274904">
                  <a:extLst>
                    <a:ext uri="{9D8B030D-6E8A-4147-A177-3AD203B41FA5}">
                      <a16:colId xmlns:a16="http://schemas.microsoft.com/office/drawing/2014/main" val="2194359896"/>
                    </a:ext>
                  </a:extLst>
                </a:gridCol>
                <a:gridCol w="274904">
                  <a:extLst>
                    <a:ext uri="{9D8B030D-6E8A-4147-A177-3AD203B41FA5}">
                      <a16:colId xmlns:a16="http://schemas.microsoft.com/office/drawing/2014/main" val="2943797816"/>
                    </a:ext>
                  </a:extLst>
                </a:gridCol>
                <a:gridCol w="274904">
                  <a:extLst>
                    <a:ext uri="{9D8B030D-6E8A-4147-A177-3AD203B41FA5}">
                      <a16:colId xmlns:a16="http://schemas.microsoft.com/office/drawing/2014/main" val="965644808"/>
                    </a:ext>
                  </a:extLst>
                </a:gridCol>
                <a:gridCol w="274904">
                  <a:extLst>
                    <a:ext uri="{9D8B030D-6E8A-4147-A177-3AD203B41FA5}">
                      <a16:colId xmlns:a16="http://schemas.microsoft.com/office/drawing/2014/main" val="697105064"/>
                    </a:ext>
                  </a:extLst>
                </a:gridCol>
                <a:gridCol w="274904">
                  <a:extLst>
                    <a:ext uri="{9D8B030D-6E8A-4147-A177-3AD203B41FA5}">
                      <a16:colId xmlns:a16="http://schemas.microsoft.com/office/drawing/2014/main" val="1559911271"/>
                    </a:ext>
                  </a:extLst>
                </a:gridCol>
                <a:gridCol w="274904">
                  <a:extLst>
                    <a:ext uri="{9D8B030D-6E8A-4147-A177-3AD203B41FA5}">
                      <a16:colId xmlns:a16="http://schemas.microsoft.com/office/drawing/2014/main" val="3948349673"/>
                    </a:ext>
                  </a:extLst>
                </a:gridCol>
                <a:gridCol w="274904">
                  <a:extLst>
                    <a:ext uri="{9D8B030D-6E8A-4147-A177-3AD203B41FA5}">
                      <a16:colId xmlns:a16="http://schemas.microsoft.com/office/drawing/2014/main" val="3514309200"/>
                    </a:ext>
                  </a:extLst>
                </a:gridCol>
                <a:gridCol w="274904">
                  <a:extLst>
                    <a:ext uri="{9D8B030D-6E8A-4147-A177-3AD203B41FA5}">
                      <a16:colId xmlns:a16="http://schemas.microsoft.com/office/drawing/2014/main" val="2912537654"/>
                    </a:ext>
                  </a:extLst>
                </a:gridCol>
                <a:gridCol w="274904">
                  <a:extLst>
                    <a:ext uri="{9D8B030D-6E8A-4147-A177-3AD203B41FA5}">
                      <a16:colId xmlns:a16="http://schemas.microsoft.com/office/drawing/2014/main" val="2279086578"/>
                    </a:ext>
                  </a:extLst>
                </a:gridCol>
                <a:gridCol w="274904">
                  <a:extLst>
                    <a:ext uri="{9D8B030D-6E8A-4147-A177-3AD203B41FA5}">
                      <a16:colId xmlns:a16="http://schemas.microsoft.com/office/drawing/2014/main" val="454787216"/>
                    </a:ext>
                  </a:extLst>
                </a:gridCol>
                <a:gridCol w="274904">
                  <a:extLst>
                    <a:ext uri="{9D8B030D-6E8A-4147-A177-3AD203B41FA5}">
                      <a16:colId xmlns:a16="http://schemas.microsoft.com/office/drawing/2014/main" val="4269699217"/>
                    </a:ext>
                  </a:extLst>
                </a:gridCol>
                <a:gridCol w="274904">
                  <a:extLst>
                    <a:ext uri="{9D8B030D-6E8A-4147-A177-3AD203B41FA5}">
                      <a16:colId xmlns:a16="http://schemas.microsoft.com/office/drawing/2014/main" val="1391331539"/>
                    </a:ext>
                  </a:extLst>
                </a:gridCol>
                <a:gridCol w="274904">
                  <a:extLst>
                    <a:ext uri="{9D8B030D-6E8A-4147-A177-3AD203B41FA5}">
                      <a16:colId xmlns:a16="http://schemas.microsoft.com/office/drawing/2014/main" val="26489435"/>
                    </a:ext>
                  </a:extLst>
                </a:gridCol>
                <a:gridCol w="274904">
                  <a:extLst>
                    <a:ext uri="{9D8B030D-6E8A-4147-A177-3AD203B41FA5}">
                      <a16:colId xmlns:a16="http://schemas.microsoft.com/office/drawing/2014/main" val="2865078355"/>
                    </a:ext>
                  </a:extLst>
                </a:gridCol>
                <a:gridCol w="274904">
                  <a:extLst>
                    <a:ext uri="{9D8B030D-6E8A-4147-A177-3AD203B41FA5}">
                      <a16:colId xmlns:a16="http://schemas.microsoft.com/office/drawing/2014/main" val="3588944914"/>
                    </a:ext>
                  </a:extLst>
                </a:gridCol>
                <a:gridCol w="274904">
                  <a:extLst>
                    <a:ext uri="{9D8B030D-6E8A-4147-A177-3AD203B41FA5}">
                      <a16:colId xmlns:a16="http://schemas.microsoft.com/office/drawing/2014/main" val="4051558154"/>
                    </a:ext>
                  </a:extLst>
                </a:gridCol>
                <a:gridCol w="274904">
                  <a:extLst>
                    <a:ext uri="{9D8B030D-6E8A-4147-A177-3AD203B41FA5}">
                      <a16:colId xmlns:a16="http://schemas.microsoft.com/office/drawing/2014/main" val="2019807240"/>
                    </a:ext>
                  </a:extLst>
                </a:gridCol>
                <a:gridCol w="274904">
                  <a:extLst>
                    <a:ext uri="{9D8B030D-6E8A-4147-A177-3AD203B41FA5}">
                      <a16:colId xmlns:a16="http://schemas.microsoft.com/office/drawing/2014/main" val="4265874895"/>
                    </a:ext>
                  </a:extLst>
                </a:gridCol>
                <a:gridCol w="274904">
                  <a:extLst>
                    <a:ext uri="{9D8B030D-6E8A-4147-A177-3AD203B41FA5}">
                      <a16:colId xmlns:a16="http://schemas.microsoft.com/office/drawing/2014/main" val="1197762209"/>
                    </a:ext>
                  </a:extLst>
                </a:gridCol>
                <a:gridCol w="274904">
                  <a:extLst>
                    <a:ext uri="{9D8B030D-6E8A-4147-A177-3AD203B41FA5}">
                      <a16:colId xmlns:a16="http://schemas.microsoft.com/office/drawing/2014/main" val="3858443421"/>
                    </a:ext>
                  </a:extLst>
                </a:gridCol>
                <a:gridCol w="274904">
                  <a:extLst>
                    <a:ext uri="{9D8B030D-6E8A-4147-A177-3AD203B41FA5}">
                      <a16:colId xmlns:a16="http://schemas.microsoft.com/office/drawing/2014/main" val="198830378"/>
                    </a:ext>
                  </a:extLst>
                </a:gridCol>
                <a:gridCol w="274904">
                  <a:extLst>
                    <a:ext uri="{9D8B030D-6E8A-4147-A177-3AD203B41FA5}">
                      <a16:colId xmlns:a16="http://schemas.microsoft.com/office/drawing/2014/main" val="1729184013"/>
                    </a:ext>
                  </a:extLst>
                </a:gridCol>
                <a:gridCol w="274904">
                  <a:extLst>
                    <a:ext uri="{9D8B030D-6E8A-4147-A177-3AD203B41FA5}">
                      <a16:colId xmlns:a16="http://schemas.microsoft.com/office/drawing/2014/main" val="714133783"/>
                    </a:ext>
                  </a:extLst>
                </a:gridCol>
                <a:gridCol w="274904">
                  <a:extLst>
                    <a:ext uri="{9D8B030D-6E8A-4147-A177-3AD203B41FA5}">
                      <a16:colId xmlns:a16="http://schemas.microsoft.com/office/drawing/2014/main" val="1245513613"/>
                    </a:ext>
                  </a:extLst>
                </a:gridCol>
                <a:gridCol w="274904">
                  <a:extLst>
                    <a:ext uri="{9D8B030D-6E8A-4147-A177-3AD203B41FA5}">
                      <a16:colId xmlns:a16="http://schemas.microsoft.com/office/drawing/2014/main" val="3404607296"/>
                    </a:ext>
                  </a:extLst>
                </a:gridCol>
                <a:gridCol w="274904">
                  <a:extLst>
                    <a:ext uri="{9D8B030D-6E8A-4147-A177-3AD203B41FA5}">
                      <a16:colId xmlns:a16="http://schemas.microsoft.com/office/drawing/2014/main" val="427277383"/>
                    </a:ext>
                  </a:extLst>
                </a:gridCol>
              </a:tblGrid>
              <a:tr h="142950">
                <a:tc rowSpan="4">
                  <a:txBody>
                    <a:bodyPr/>
                    <a:lstStyle/>
                    <a:p>
                      <a:pPr algn="ctr" fontAlgn="ctr"/>
                      <a:r>
                        <a:rPr lang="en-US" sz="900" b="1" i="0" u="none" strike="noStrike">
                          <a:solidFill>
                            <a:srgbClr val="000000"/>
                          </a:solidFill>
                          <a:effectLst/>
                          <a:latin typeface="Bookman Old Style" panose="02050604050505020204" pitchFamily="18" charset="0"/>
                        </a:rPr>
                        <a:t>JUNIOR HS</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6">
                  <a:txBody>
                    <a:bodyPr/>
                    <a:lstStyle/>
                    <a:p>
                      <a:pPr algn="ctr" fontAlgn="b"/>
                      <a:r>
                        <a:rPr lang="en-US" sz="800" b="1" i="0" u="none" strike="noStrike" dirty="0">
                          <a:solidFill>
                            <a:srgbClr val="000000"/>
                          </a:solidFill>
                          <a:effectLst/>
                          <a:latin typeface="Calibri" panose="020F0502020204030204" pitchFamily="34" charset="0"/>
                        </a:rPr>
                        <a:t>QUARTER 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4228036"/>
                  </a:ext>
                </a:extLst>
              </a:tr>
              <a:tr h="142950">
                <a:tc v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FILIPINO</a:t>
                      </a:r>
                    </a:p>
                  </a:txBody>
                  <a:tcPr marL="6109" marR="6109" marT="6109" marB="2932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ENGLISH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MATH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SCIENCE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ARALING PANLIPUNAN</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EsP</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TLE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MAPEH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gridSpan="12">
                  <a:txBody>
                    <a:bodyPr/>
                    <a:lstStyle/>
                    <a:p>
                      <a:pPr algn="ctr" fontAlgn="ctr"/>
                      <a:r>
                        <a:rPr lang="en-US" sz="800" b="1" i="0" u="none" strike="noStrike">
                          <a:solidFill>
                            <a:srgbClr val="000000"/>
                          </a:solidFill>
                          <a:effectLst/>
                          <a:latin typeface="Times New Roman" panose="02020603050405020304" pitchFamily="18" charset="0"/>
                        </a:rPr>
                        <a:t>MAPEH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9018437"/>
                  </a:ext>
                </a:extLst>
              </a:tr>
              <a:tr h="142950">
                <a:tc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MUSIC</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ARTS</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PE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HEALTH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18950454"/>
                  </a:ext>
                </a:extLst>
              </a:tr>
              <a:tr h="142950">
                <a:tc vMerge="1">
                  <a:txBody>
                    <a:bodyPr/>
                    <a:lstStyle/>
                    <a:p>
                      <a:endParaRPr lang="en-US"/>
                    </a:p>
                  </a:txBody>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1180115"/>
                  </a:ext>
                </a:extLst>
              </a:tr>
              <a:tr h="213814">
                <a:tc>
                  <a:txBody>
                    <a:bodyPr/>
                    <a:lstStyle/>
                    <a:p>
                      <a:pPr algn="l" fontAlgn="b"/>
                      <a:r>
                        <a:rPr lang="en-US" sz="900" b="0" i="0" u="none" strike="noStrike">
                          <a:solidFill>
                            <a:srgbClr val="000000"/>
                          </a:solidFill>
                          <a:effectLst/>
                          <a:latin typeface="Bookman Old Style" panose="02050604050505020204" pitchFamily="18" charset="0"/>
                        </a:rPr>
                        <a:t>Grade 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849264"/>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7841621"/>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Times New Roman" panose="02020603050405020304" pitchFamily="18" charset="0"/>
                      </a:endParaRP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Times New Roman" panose="02020603050405020304" pitchFamily="18" charset="0"/>
                      </a:endParaRP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Times New Roman" panose="02020603050405020304" pitchFamily="18" charset="0"/>
                      </a:endParaRP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Times New Roman" panose="02020603050405020304" pitchFamily="18" charset="0"/>
                      </a:endParaRP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1532884"/>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6561434"/>
                  </a:ext>
                </a:extLst>
              </a:tr>
              <a:tr h="142950">
                <a:tc>
                  <a:txBody>
                    <a:bodyPr/>
                    <a:lstStyle/>
                    <a:p>
                      <a:pPr algn="l" fontAlgn="b"/>
                      <a:r>
                        <a:rPr lang="en-US" sz="800" b="1" i="0" u="none" strike="noStrike">
                          <a:solidFill>
                            <a:srgbClr val="000000"/>
                          </a:solidFill>
                          <a:effectLst/>
                          <a:latin typeface="Times New Roman" panose="02020603050405020304" pitchFamily="18" charset="0"/>
                        </a:rPr>
                        <a:t>TOTAL</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r>
                        <a:rPr lang="en-US" sz="8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46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64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dirty="0">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9983720"/>
                  </a:ext>
                </a:extLst>
              </a:tr>
            </a:tbl>
          </a:graphicData>
        </a:graphic>
      </p:graphicFrame>
      <p:graphicFrame>
        <p:nvGraphicFramePr>
          <p:cNvPr id="8" name="Chart 7">
            <a:extLst>
              <a:ext uri="{FF2B5EF4-FFF2-40B4-BE49-F238E27FC236}">
                <a16:creationId xmlns:a16="http://schemas.microsoft.com/office/drawing/2014/main" id="{C3693364-28AF-4523-AA52-FED06BA37913}"/>
              </a:ext>
            </a:extLst>
          </p:cNvPr>
          <p:cNvGraphicFramePr>
            <a:graphicFrameLocks/>
          </p:cNvGraphicFramePr>
          <p:nvPr>
            <p:extLst>
              <p:ext uri="{D42A27DB-BD31-4B8C-83A1-F6EECF244321}">
                <p14:modId xmlns:p14="http://schemas.microsoft.com/office/powerpoint/2010/main" val="2763820131"/>
              </p:ext>
            </p:extLst>
          </p:nvPr>
        </p:nvGraphicFramePr>
        <p:xfrm>
          <a:off x="469090" y="3479334"/>
          <a:ext cx="10203443" cy="3215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38820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7" y="289251"/>
            <a:ext cx="9258772" cy="1158843"/>
          </a:xfrm>
        </p:spPr>
        <p:txBody>
          <a:bodyPr>
            <a:normAutofit/>
          </a:bodyPr>
          <a:lstStyle/>
          <a:p>
            <a:r>
              <a:rPr lang="en-US" sz="3200" b="1" dirty="0"/>
              <a:t>Number of learner with failing grades (Quarter 3)</a:t>
            </a:r>
          </a:p>
        </p:txBody>
      </p:sp>
      <p:sp>
        <p:nvSpPr>
          <p:cNvPr id="7" name="Rectangle 6">
            <a:extLst>
              <a:ext uri="{FF2B5EF4-FFF2-40B4-BE49-F238E27FC236}">
                <a16:creationId xmlns:a16="http://schemas.microsoft.com/office/drawing/2014/main" id="{A2504562-55A6-4051-BE8D-5E031F2D42C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graphicFrame>
        <p:nvGraphicFramePr>
          <p:cNvPr id="10" name="Table 9">
            <a:extLst>
              <a:ext uri="{FF2B5EF4-FFF2-40B4-BE49-F238E27FC236}">
                <a16:creationId xmlns:a16="http://schemas.microsoft.com/office/drawing/2014/main" id="{81EC339B-002D-49E1-96B7-2EDE0E4D8F76}"/>
              </a:ext>
            </a:extLst>
          </p:cNvPr>
          <p:cNvGraphicFramePr>
            <a:graphicFrameLocks noGrp="1"/>
          </p:cNvGraphicFramePr>
          <p:nvPr>
            <p:extLst>
              <p:ext uri="{D42A27DB-BD31-4B8C-83A1-F6EECF244321}">
                <p14:modId xmlns:p14="http://schemas.microsoft.com/office/powerpoint/2010/main" val="3703674560"/>
              </p:ext>
            </p:extLst>
          </p:nvPr>
        </p:nvGraphicFramePr>
        <p:xfrm>
          <a:off x="292921" y="1767233"/>
          <a:ext cx="10515588" cy="1536677"/>
        </p:xfrm>
        <a:graphic>
          <a:graphicData uri="http://schemas.openxmlformats.org/drawingml/2006/table">
            <a:tbl>
              <a:tblPr/>
              <a:tblGrid>
                <a:gridCol w="619044">
                  <a:extLst>
                    <a:ext uri="{9D8B030D-6E8A-4147-A177-3AD203B41FA5}">
                      <a16:colId xmlns:a16="http://schemas.microsoft.com/office/drawing/2014/main" val="352763511"/>
                    </a:ext>
                  </a:extLst>
                </a:gridCol>
                <a:gridCol w="274904">
                  <a:extLst>
                    <a:ext uri="{9D8B030D-6E8A-4147-A177-3AD203B41FA5}">
                      <a16:colId xmlns:a16="http://schemas.microsoft.com/office/drawing/2014/main" val="1978987827"/>
                    </a:ext>
                  </a:extLst>
                </a:gridCol>
                <a:gridCol w="274904">
                  <a:extLst>
                    <a:ext uri="{9D8B030D-6E8A-4147-A177-3AD203B41FA5}">
                      <a16:colId xmlns:a16="http://schemas.microsoft.com/office/drawing/2014/main" val="3550726528"/>
                    </a:ext>
                  </a:extLst>
                </a:gridCol>
                <a:gridCol w="274904">
                  <a:extLst>
                    <a:ext uri="{9D8B030D-6E8A-4147-A177-3AD203B41FA5}">
                      <a16:colId xmlns:a16="http://schemas.microsoft.com/office/drawing/2014/main" val="408705943"/>
                    </a:ext>
                  </a:extLst>
                </a:gridCol>
                <a:gridCol w="274904">
                  <a:extLst>
                    <a:ext uri="{9D8B030D-6E8A-4147-A177-3AD203B41FA5}">
                      <a16:colId xmlns:a16="http://schemas.microsoft.com/office/drawing/2014/main" val="1220091231"/>
                    </a:ext>
                  </a:extLst>
                </a:gridCol>
                <a:gridCol w="274904">
                  <a:extLst>
                    <a:ext uri="{9D8B030D-6E8A-4147-A177-3AD203B41FA5}">
                      <a16:colId xmlns:a16="http://schemas.microsoft.com/office/drawing/2014/main" val="2237790483"/>
                    </a:ext>
                  </a:extLst>
                </a:gridCol>
                <a:gridCol w="274904">
                  <a:extLst>
                    <a:ext uri="{9D8B030D-6E8A-4147-A177-3AD203B41FA5}">
                      <a16:colId xmlns:a16="http://schemas.microsoft.com/office/drawing/2014/main" val="45741484"/>
                    </a:ext>
                  </a:extLst>
                </a:gridCol>
                <a:gridCol w="274904">
                  <a:extLst>
                    <a:ext uri="{9D8B030D-6E8A-4147-A177-3AD203B41FA5}">
                      <a16:colId xmlns:a16="http://schemas.microsoft.com/office/drawing/2014/main" val="3958317317"/>
                    </a:ext>
                  </a:extLst>
                </a:gridCol>
                <a:gridCol w="274904">
                  <a:extLst>
                    <a:ext uri="{9D8B030D-6E8A-4147-A177-3AD203B41FA5}">
                      <a16:colId xmlns:a16="http://schemas.microsoft.com/office/drawing/2014/main" val="368256682"/>
                    </a:ext>
                  </a:extLst>
                </a:gridCol>
                <a:gridCol w="274904">
                  <a:extLst>
                    <a:ext uri="{9D8B030D-6E8A-4147-A177-3AD203B41FA5}">
                      <a16:colId xmlns:a16="http://schemas.microsoft.com/office/drawing/2014/main" val="2775817092"/>
                    </a:ext>
                  </a:extLst>
                </a:gridCol>
                <a:gridCol w="274904">
                  <a:extLst>
                    <a:ext uri="{9D8B030D-6E8A-4147-A177-3AD203B41FA5}">
                      <a16:colId xmlns:a16="http://schemas.microsoft.com/office/drawing/2014/main" val="1483571611"/>
                    </a:ext>
                  </a:extLst>
                </a:gridCol>
                <a:gridCol w="274904">
                  <a:extLst>
                    <a:ext uri="{9D8B030D-6E8A-4147-A177-3AD203B41FA5}">
                      <a16:colId xmlns:a16="http://schemas.microsoft.com/office/drawing/2014/main" val="1604569398"/>
                    </a:ext>
                  </a:extLst>
                </a:gridCol>
                <a:gridCol w="274904">
                  <a:extLst>
                    <a:ext uri="{9D8B030D-6E8A-4147-A177-3AD203B41FA5}">
                      <a16:colId xmlns:a16="http://schemas.microsoft.com/office/drawing/2014/main" val="1059791032"/>
                    </a:ext>
                  </a:extLst>
                </a:gridCol>
                <a:gridCol w="274904">
                  <a:extLst>
                    <a:ext uri="{9D8B030D-6E8A-4147-A177-3AD203B41FA5}">
                      <a16:colId xmlns:a16="http://schemas.microsoft.com/office/drawing/2014/main" val="1052453133"/>
                    </a:ext>
                  </a:extLst>
                </a:gridCol>
                <a:gridCol w="274904">
                  <a:extLst>
                    <a:ext uri="{9D8B030D-6E8A-4147-A177-3AD203B41FA5}">
                      <a16:colId xmlns:a16="http://schemas.microsoft.com/office/drawing/2014/main" val="593908454"/>
                    </a:ext>
                  </a:extLst>
                </a:gridCol>
                <a:gridCol w="274904">
                  <a:extLst>
                    <a:ext uri="{9D8B030D-6E8A-4147-A177-3AD203B41FA5}">
                      <a16:colId xmlns:a16="http://schemas.microsoft.com/office/drawing/2014/main" val="2349749678"/>
                    </a:ext>
                  </a:extLst>
                </a:gridCol>
                <a:gridCol w="274904">
                  <a:extLst>
                    <a:ext uri="{9D8B030D-6E8A-4147-A177-3AD203B41FA5}">
                      <a16:colId xmlns:a16="http://schemas.microsoft.com/office/drawing/2014/main" val="1409412332"/>
                    </a:ext>
                  </a:extLst>
                </a:gridCol>
                <a:gridCol w="274904">
                  <a:extLst>
                    <a:ext uri="{9D8B030D-6E8A-4147-A177-3AD203B41FA5}">
                      <a16:colId xmlns:a16="http://schemas.microsoft.com/office/drawing/2014/main" val="159707314"/>
                    </a:ext>
                  </a:extLst>
                </a:gridCol>
                <a:gridCol w="274904">
                  <a:extLst>
                    <a:ext uri="{9D8B030D-6E8A-4147-A177-3AD203B41FA5}">
                      <a16:colId xmlns:a16="http://schemas.microsoft.com/office/drawing/2014/main" val="3469751398"/>
                    </a:ext>
                  </a:extLst>
                </a:gridCol>
                <a:gridCol w="274904">
                  <a:extLst>
                    <a:ext uri="{9D8B030D-6E8A-4147-A177-3AD203B41FA5}">
                      <a16:colId xmlns:a16="http://schemas.microsoft.com/office/drawing/2014/main" val="1777564093"/>
                    </a:ext>
                  </a:extLst>
                </a:gridCol>
                <a:gridCol w="274904">
                  <a:extLst>
                    <a:ext uri="{9D8B030D-6E8A-4147-A177-3AD203B41FA5}">
                      <a16:colId xmlns:a16="http://schemas.microsoft.com/office/drawing/2014/main" val="747724804"/>
                    </a:ext>
                  </a:extLst>
                </a:gridCol>
                <a:gridCol w="274904">
                  <a:extLst>
                    <a:ext uri="{9D8B030D-6E8A-4147-A177-3AD203B41FA5}">
                      <a16:colId xmlns:a16="http://schemas.microsoft.com/office/drawing/2014/main" val="2742121291"/>
                    </a:ext>
                  </a:extLst>
                </a:gridCol>
                <a:gridCol w="274904">
                  <a:extLst>
                    <a:ext uri="{9D8B030D-6E8A-4147-A177-3AD203B41FA5}">
                      <a16:colId xmlns:a16="http://schemas.microsoft.com/office/drawing/2014/main" val="2685529893"/>
                    </a:ext>
                  </a:extLst>
                </a:gridCol>
                <a:gridCol w="274904">
                  <a:extLst>
                    <a:ext uri="{9D8B030D-6E8A-4147-A177-3AD203B41FA5}">
                      <a16:colId xmlns:a16="http://schemas.microsoft.com/office/drawing/2014/main" val="693328210"/>
                    </a:ext>
                  </a:extLst>
                </a:gridCol>
                <a:gridCol w="274904">
                  <a:extLst>
                    <a:ext uri="{9D8B030D-6E8A-4147-A177-3AD203B41FA5}">
                      <a16:colId xmlns:a16="http://schemas.microsoft.com/office/drawing/2014/main" val="649830187"/>
                    </a:ext>
                  </a:extLst>
                </a:gridCol>
                <a:gridCol w="274904">
                  <a:extLst>
                    <a:ext uri="{9D8B030D-6E8A-4147-A177-3AD203B41FA5}">
                      <a16:colId xmlns:a16="http://schemas.microsoft.com/office/drawing/2014/main" val="1812567742"/>
                    </a:ext>
                  </a:extLst>
                </a:gridCol>
                <a:gridCol w="274904">
                  <a:extLst>
                    <a:ext uri="{9D8B030D-6E8A-4147-A177-3AD203B41FA5}">
                      <a16:colId xmlns:a16="http://schemas.microsoft.com/office/drawing/2014/main" val="1152712253"/>
                    </a:ext>
                  </a:extLst>
                </a:gridCol>
                <a:gridCol w="274904">
                  <a:extLst>
                    <a:ext uri="{9D8B030D-6E8A-4147-A177-3AD203B41FA5}">
                      <a16:colId xmlns:a16="http://schemas.microsoft.com/office/drawing/2014/main" val="1068447432"/>
                    </a:ext>
                  </a:extLst>
                </a:gridCol>
                <a:gridCol w="274904">
                  <a:extLst>
                    <a:ext uri="{9D8B030D-6E8A-4147-A177-3AD203B41FA5}">
                      <a16:colId xmlns:a16="http://schemas.microsoft.com/office/drawing/2014/main" val="505527884"/>
                    </a:ext>
                  </a:extLst>
                </a:gridCol>
                <a:gridCol w="274904">
                  <a:extLst>
                    <a:ext uri="{9D8B030D-6E8A-4147-A177-3AD203B41FA5}">
                      <a16:colId xmlns:a16="http://schemas.microsoft.com/office/drawing/2014/main" val="3824524041"/>
                    </a:ext>
                  </a:extLst>
                </a:gridCol>
                <a:gridCol w="274904">
                  <a:extLst>
                    <a:ext uri="{9D8B030D-6E8A-4147-A177-3AD203B41FA5}">
                      <a16:colId xmlns:a16="http://schemas.microsoft.com/office/drawing/2014/main" val="1973172014"/>
                    </a:ext>
                  </a:extLst>
                </a:gridCol>
                <a:gridCol w="274904">
                  <a:extLst>
                    <a:ext uri="{9D8B030D-6E8A-4147-A177-3AD203B41FA5}">
                      <a16:colId xmlns:a16="http://schemas.microsoft.com/office/drawing/2014/main" val="2390351271"/>
                    </a:ext>
                  </a:extLst>
                </a:gridCol>
                <a:gridCol w="274904">
                  <a:extLst>
                    <a:ext uri="{9D8B030D-6E8A-4147-A177-3AD203B41FA5}">
                      <a16:colId xmlns:a16="http://schemas.microsoft.com/office/drawing/2014/main" val="548878530"/>
                    </a:ext>
                  </a:extLst>
                </a:gridCol>
                <a:gridCol w="274904">
                  <a:extLst>
                    <a:ext uri="{9D8B030D-6E8A-4147-A177-3AD203B41FA5}">
                      <a16:colId xmlns:a16="http://schemas.microsoft.com/office/drawing/2014/main" val="3992585236"/>
                    </a:ext>
                  </a:extLst>
                </a:gridCol>
                <a:gridCol w="274904">
                  <a:extLst>
                    <a:ext uri="{9D8B030D-6E8A-4147-A177-3AD203B41FA5}">
                      <a16:colId xmlns:a16="http://schemas.microsoft.com/office/drawing/2014/main" val="2580349906"/>
                    </a:ext>
                  </a:extLst>
                </a:gridCol>
                <a:gridCol w="274904">
                  <a:extLst>
                    <a:ext uri="{9D8B030D-6E8A-4147-A177-3AD203B41FA5}">
                      <a16:colId xmlns:a16="http://schemas.microsoft.com/office/drawing/2014/main" val="3943515230"/>
                    </a:ext>
                  </a:extLst>
                </a:gridCol>
                <a:gridCol w="274904">
                  <a:extLst>
                    <a:ext uri="{9D8B030D-6E8A-4147-A177-3AD203B41FA5}">
                      <a16:colId xmlns:a16="http://schemas.microsoft.com/office/drawing/2014/main" val="2723412543"/>
                    </a:ext>
                  </a:extLst>
                </a:gridCol>
              </a:tblGrid>
              <a:tr h="142950">
                <a:tc rowSpan="4">
                  <a:txBody>
                    <a:bodyPr/>
                    <a:lstStyle/>
                    <a:p>
                      <a:pPr algn="ctr" fontAlgn="ctr"/>
                      <a:r>
                        <a:rPr lang="en-US" sz="900" b="1" i="0" u="none" strike="noStrike">
                          <a:solidFill>
                            <a:srgbClr val="000000"/>
                          </a:solidFill>
                          <a:effectLst/>
                          <a:latin typeface="Bookman Old Style" panose="02050604050505020204" pitchFamily="18" charset="0"/>
                        </a:rPr>
                        <a:t>JUNIOR HS</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6">
                  <a:txBody>
                    <a:bodyPr/>
                    <a:lstStyle/>
                    <a:p>
                      <a:pPr algn="ctr" fontAlgn="b"/>
                      <a:r>
                        <a:rPr lang="en-US" sz="800" b="1" i="0" u="none" strike="noStrike" dirty="0">
                          <a:solidFill>
                            <a:srgbClr val="000000"/>
                          </a:solidFill>
                          <a:effectLst/>
                          <a:latin typeface="Calibri" panose="020F0502020204030204" pitchFamily="34" charset="0"/>
                        </a:rPr>
                        <a:t>QUARTER 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44251363"/>
                  </a:ext>
                </a:extLst>
              </a:tr>
              <a:tr h="142950">
                <a:tc v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FILIPINO</a:t>
                      </a:r>
                    </a:p>
                  </a:txBody>
                  <a:tcPr marL="6109" marR="6109" marT="6109" marB="2932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dirty="0">
                          <a:solidFill>
                            <a:srgbClr val="000000"/>
                          </a:solidFill>
                          <a:effectLst/>
                          <a:latin typeface="Calibri" panose="020F0502020204030204" pitchFamily="34" charset="0"/>
                        </a:rPr>
                        <a:t>ENGLISH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MATH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SCIENCE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ARALING PANLIPUNAN</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EsP</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TLE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rowSpan="2" gridSpan="3">
                  <a:txBody>
                    <a:bodyPr/>
                    <a:lstStyle/>
                    <a:p>
                      <a:pPr algn="ctr" fontAlgn="ctr"/>
                      <a:r>
                        <a:rPr lang="en-US" sz="800" b="1" i="0" u="none" strike="noStrike">
                          <a:solidFill>
                            <a:srgbClr val="000000"/>
                          </a:solidFill>
                          <a:effectLst/>
                          <a:latin typeface="Calibri" panose="020F0502020204030204" pitchFamily="34" charset="0"/>
                        </a:rPr>
                        <a:t>MAPEH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6D7A8"/>
                    </a:solidFill>
                  </a:tcPr>
                </a:tc>
                <a:tc rowSpan="2" hMerge="1">
                  <a:txBody>
                    <a:bodyPr/>
                    <a:lstStyle/>
                    <a:p>
                      <a:endParaRPr lang="en-US"/>
                    </a:p>
                  </a:txBody>
                  <a:tcPr/>
                </a:tc>
                <a:tc rowSpan="2" hMerge="1">
                  <a:txBody>
                    <a:bodyPr/>
                    <a:lstStyle/>
                    <a:p>
                      <a:endParaRPr lang="en-US"/>
                    </a:p>
                  </a:txBody>
                  <a:tcPr/>
                </a:tc>
                <a:tc gridSpan="12">
                  <a:txBody>
                    <a:bodyPr/>
                    <a:lstStyle/>
                    <a:p>
                      <a:pPr algn="ctr" fontAlgn="ctr"/>
                      <a:r>
                        <a:rPr lang="en-US" sz="800" b="1" i="0" u="none" strike="noStrike">
                          <a:solidFill>
                            <a:srgbClr val="000000"/>
                          </a:solidFill>
                          <a:effectLst/>
                          <a:latin typeface="Times New Roman" panose="02020603050405020304" pitchFamily="18" charset="0"/>
                        </a:rPr>
                        <a:t>MAPEH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40184697"/>
                  </a:ext>
                </a:extLst>
              </a:tr>
              <a:tr h="142950">
                <a:tc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MUSIC</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ARTS</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PE</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000000"/>
                          </a:solidFill>
                          <a:effectLst/>
                          <a:latin typeface="Times New Roman" panose="02020603050405020304" pitchFamily="18" charset="0"/>
                        </a:rPr>
                        <a:t>HEALTH</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19679176"/>
                  </a:ext>
                </a:extLst>
              </a:tr>
              <a:tr h="142950">
                <a:tc vMerge="1">
                  <a:txBody>
                    <a:bodyPr/>
                    <a:lstStyle/>
                    <a:p>
                      <a:endParaRPr lang="en-US"/>
                    </a:p>
                  </a:txBody>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M</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F</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T</a:t>
                      </a:r>
                    </a:p>
                  </a:txBody>
                  <a:tcPr marL="6109" marR="6109" marT="6109" marB="2932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615588"/>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0940575"/>
                  </a:ext>
                </a:extLst>
              </a:tr>
              <a:tr h="232141">
                <a:tc>
                  <a:txBody>
                    <a:bodyPr/>
                    <a:lstStyle/>
                    <a:p>
                      <a:pPr algn="l" fontAlgn="b"/>
                      <a:r>
                        <a:rPr lang="en-US" sz="900" b="0" i="0" u="none" strike="noStrike">
                          <a:solidFill>
                            <a:srgbClr val="000000"/>
                          </a:solidFill>
                          <a:effectLst/>
                          <a:latin typeface="Bookman Old Style" panose="02050604050505020204" pitchFamily="18" charset="0"/>
                        </a:rPr>
                        <a:t>Grade 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8807385"/>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Times New Roman" panose="02020603050405020304" pitchFamily="18" charset="0"/>
                      </a:endParaRP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Times New Roman" panose="02020603050405020304" pitchFamily="18" charset="0"/>
                      </a:endParaRP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6002942"/>
                  </a:ext>
                </a:extLst>
              </a:tr>
              <a:tr h="152725">
                <a:tc>
                  <a:txBody>
                    <a:bodyPr/>
                    <a:lstStyle/>
                    <a:p>
                      <a:pPr algn="l" fontAlgn="b"/>
                      <a:r>
                        <a:rPr lang="en-US" sz="900" b="0" i="0" u="none" strike="noStrike">
                          <a:solidFill>
                            <a:srgbClr val="000000"/>
                          </a:solidFill>
                          <a:effectLst/>
                          <a:latin typeface="Bookman Old Style" panose="02050604050505020204" pitchFamily="18" charset="0"/>
                        </a:rPr>
                        <a:t>Grade 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36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900" b="0" i="0" u="none" strike="noStrike">
                          <a:solidFill>
                            <a:srgbClr val="000000"/>
                          </a:solidFill>
                          <a:effectLst/>
                          <a:latin typeface="Times New Roman" panose="02020603050405020304" pitchFamily="18" charset="0"/>
                        </a:rPr>
                        <a:t>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8301818"/>
                  </a:ext>
                </a:extLst>
              </a:tr>
              <a:tr h="142950">
                <a:tc>
                  <a:txBody>
                    <a:bodyPr/>
                    <a:lstStyle/>
                    <a:p>
                      <a:pPr algn="l" fontAlgn="b"/>
                      <a:r>
                        <a:rPr lang="en-US" sz="800" b="1" i="0" u="none" strike="noStrike">
                          <a:solidFill>
                            <a:srgbClr val="000000"/>
                          </a:solidFill>
                          <a:effectLst/>
                          <a:latin typeface="Times New Roman" panose="02020603050405020304" pitchFamily="18" charset="0"/>
                        </a:rPr>
                        <a:t>TOTAL</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r>
                        <a:rPr lang="en-US" sz="800" b="0" i="0" u="none" strike="noStrike">
                          <a:solidFill>
                            <a:srgbClr val="000000"/>
                          </a:solidFill>
                          <a:effectLst/>
                          <a:latin typeface="Times New Roman" panose="02020603050405020304" pitchFamily="18" charset="0"/>
                        </a:rPr>
                        <a:t>26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dirty="0">
                          <a:solidFill>
                            <a:srgbClr val="000000"/>
                          </a:solidFill>
                          <a:effectLst/>
                          <a:latin typeface="Times New Roman" panose="02020603050405020304" pitchFamily="18" charset="0"/>
                        </a:rPr>
                        <a:t>21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dirty="0">
                          <a:solidFill>
                            <a:srgbClr val="000000"/>
                          </a:solidFill>
                          <a:effectLst/>
                          <a:latin typeface="Times New Roman" panose="02020603050405020304" pitchFamily="18" charset="0"/>
                        </a:rPr>
                        <a:t>27</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31</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10</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22</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14</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43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16</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9</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25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5</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a:solidFill>
                            <a:srgbClr val="000000"/>
                          </a:solidFill>
                          <a:effectLst/>
                          <a:latin typeface="Times New Roman" panose="02020603050405020304" pitchFamily="18" charset="0"/>
                        </a:rPr>
                        <a:t>3</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800" b="0" i="0" u="none" strike="noStrike" dirty="0">
                          <a:solidFill>
                            <a:srgbClr val="000000"/>
                          </a:solidFill>
                          <a:effectLst/>
                          <a:latin typeface="Times New Roman" panose="02020603050405020304" pitchFamily="18" charset="0"/>
                        </a:rPr>
                        <a:t>8</a:t>
                      </a:r>
                    </a:p>
                  </a:txBody>
                  <a:tcPr marL="6109" marR="6109" marT="6109" marB="29323"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4831914"/>
                  </a:ext>
                </a:extLst>
              </a:tr>
            </a:tbl>
          </a:graphicData>
        </a:graphic>
      </p:graphicFrame>
      <p:graphicFrame>
        <p:nvGraphicFramePr>
          <p:cNvPr id="11" name="Chart 10">
            <a:extLst>
              <a:ext uri="{FF2B5EF4-FFF2-40B4-BE49-F238E27FC236}">
                <a16:creationId xmlns:a16="http://schemas.microsoft.com/office/drawing/2014/main" id="{6049D116-4355-4811-A911-301A316DCD96}"/>
              </a:ext>
            </a:extLst>
          </p:cNvPr>
          <p:cNvGraphicFramePr>
            <a:graphicFrameLocks/>
          </p:cNvGraphicFramePr>
          <p:nvPr>
            <p:extLst>
              <p:ext uri="{D42A27DB-BD31-4B8C-83A1-F6EECF244321}">
                <p14:modId xmlns:p14="http://schemas.microsoft.com/office/powerpoint/2010/main" val="446133301"/>
              </p:ext>
            </p:extLst>
          </p:nvPr>
        </p:nvGraphicFramePr>
        <p:xfrm>
          <a:off x="407458" y="3495368"/>
          <a:ext cx="10291995" cy="329132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03560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694891044"/>
              </p:ext>
            </p:extLst>
          </p:nvPr>
        </p:nvGraphicFramePr>
        <p:xfrm>
          <a:off x="354201" y="1371697"/>
          <a:ext cx="10375319" cy="5431506"/>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191624">
                  <a:extLst>
                    <a:ext uri="{9D8B030D-6E8A-4147-A177-3AD203B41FA5}">
                      <a16:colId xmlns:a16="http://schemas.microsoft.com/office/drawing/2014/main" val="1003207929"/>
                    </a:ext>
                  </a:extLst>
                </a:gridCol>
                <a:gridCol w="783771">
                  <a:extLst>
                    <a:ext uri="{9D8B030D-6E8A-4147-A177-3AD203B41FA5}">
                      <a16:colId xmlns:a16="http://schemas.microsoft.com/office/drawing/2014/main" val="2700998931"/>
                    </a:ext>
                  </a:extLst>
                </a:gridCol>
                <a:gridCol w="2442652">
                  <a:extLst>
                    <a:ext uri="{9D8B030D-6E8A-4147-A177-3AD203B41FA5}">
                      <a16:colId xmlns:a16="http://schemas.microsoft.com/office/drawing/2014/main" val="3434829160"/>
                    </a:ext>
                  </a:extLst>
                </a:gridCol>
                <a:gridCol w="1606834">
                  <a:extLst>
                    <a:ext uri="{9D8B030D-6E8A-4147-A177-3AD203B41FA5}">
                      <a16:colId xmlns:a16="http://schemas.microsoft.com/office/drawing/2014/main" val="217078824"/>
                    </a:ext>
                  </a:extLst>
                </a:gridCol>
                <a:gridCol w="2621218">
                  <a:extLst>
                    <a:ext uri="{9D8B030D-6E8A-4147-A177-3AD203B41FA5}">
                      <a16:colId xmlns:a16="http://schemas.microsoft.com/office/drawing/2014/main" val="1743231350"/>
                    </a:ext>
                  </a:extLst>
                </a:gridCol>
              </a:tblGrid>
              <a:tr h="768066">
                <a:tc>
                  <a:txBody>
                    <a:bodyPr/>
                    <a:lstStyle/>
                    <a:p>
                      <a:pPr algn="ctr" rtl="0" fontAlgn="base"/>
                      <a:r>
                        <a:rPr lang="en-US" sz="1400" b="1" dirty="0">
                          <a:effectLst/>
                        </a:rPr>
                        <a:t>Name of Project</a:t>
                      </a:r>
                      <a:r>
                        <a:rPr lang="en-US" sz="1400" b="0" dirty="0">
                          <a:effectLst/>
                        </a:rPr>
                        <a:t> </a:t>
                      </a:r>
                      <a:endParaRPr lang="en-US" sz="2400" b="0" i="0" dirty="0">
                        <a:effectLst/>
                      </a:endParaRPr>
                    </a:p>
                  </a:txBody>
                  <a:tcPr anchor="ctr"/>
                </a:tc>
                <a:tc>
                  <a:txBody>
                    <a:bodyPr/>
                    <a:lstStyle/>
                    <a:p>
                      <a:pPr algn="ctr" rtl="0" fontAlgn="base"/>
                      <a:r>
                        <a:rPr lang="en-US" sz="1400" b="1" dirty="0">
                          <a:effectLst/>
                        </a:rPr>
                        <a:t>Project Objectives and Targets</a:t>
                      </a:r>
                      <a:r>
                        <a:rPr lang="en-US" sz="1400" b="0" dirty="0">
                          <a:effectLst/>
                        </a:rPr>
                        <a:t> </a:t>
                      </a:r>
                      <a:endParaRPr lang="en-US" sz="2400" b="0" i="0" dirty="0">
                        <a:effectLst/>
                      </a:endParaRPr>
                    </a:p>
                  </a:txBody>
                  <a:tcPr anchor="ctr"/>
                </a:tc>
                <a:tc>
                  <a:txBody>
                    <a:bodyPr/>
                    <a:lstStyle/>
                    <a:p>
                      <a:pPr algn="ctr" rtl="0" fontAlgn="base"/>
                      <a:r>
                        <a:rPr lang="en-US" sz="1400" b="1" dirty="0">
                          <a:effectLst/>
                        </a:rPr>
                        <a:t>Date of Monitoring</a:t>
                      </a:r>
                      <a:r>
                        <a:rPr lang="en-US" sz="1400" b="0" dirty="0">
                          <a:effectLst/>
                        </a:rPr>
                        <a:t> </a:t>
                      </a:r>
                      <a:endParaRPr lang="en-US" sz="2400" b="0" i="0" dirty="0">
                        <a:effectLst/>
                      </a:endParaRPr>
                    </a:p>
                  </a:txBody>
                  <a:tcPr anchor="ctr"/>
                </a:tc>
                <a:tc>
                  <a:txBody>
                    <a:bodyPr/>
                    <a:lstStyle/>
                    <a:p>
                      <a:pPr algn="ctr" rtl="0" fontAlgn="base"/>
                      <a:r>
                        <a:rPr lang="en-US" sz="1400" b="1" dirty="0">
                          <a:effectLst/>
                        </a:rPr>
                        <a:t>Accomplishments/</a:t>
                      </a:r>
                      <a:endParaRPr lang="en-US" sz="2400" b="0" dirty="0">
                        <a:effectLst/>
                      </a:endParaRPr>
                    </a:p>
                    <a:p>
                      <a:pPr algn="ctr" rtl="0" fontAlgn="base"/>
                      <a:r>
                        <a:rPr lang="en-US" sz="1400" b="1" dirty="0">
                          <a:effectLst/>
                        </a:rPr>
                        <a:t>Status to Date</a:t>
                      </a:r>
                      <a:r>
                        <a:rPr lang="en-US" sz="1400" b="0" dirty="0">
                          <a:effectLst/>
                        </a:rPr>
                        <a:t> </a:t>
                      </a:r>
                      <a:endParaRPr lang="en-US" sz="2400" b="0" i="0" dirty="0">
                        <a:effectLst/>
                      </a:endParaRPr>
                    </a:p>
                  </a:txBody>
                  <a:tcPr anchor="ctr"/>
                </a:tc>
                <a:tc>
                  <a:txBody>
                    <a:bodyPr/>
                    <a:lstStyle/>
                    <a:p>
                      <a:pPr algn="ctr" rtl="0" fontAlgn="base"/>
                      <a:r>
                        <a:rPr lang="en-US" sz="1400" b="1" dirty="0">
                          <a:effectLst/>
                        </a:rPr>
                        <a:t>Issues/ Problems/ Challenges</a:t>
                      </a:r>
                      <a:r>
                        <a:rPr lang="en-US" sz="1400" b="0" dirty="0">
                          <a:effectLst/>
                        </a:rPr>
                        <a:t> </a:t>
                      </a:r>
                      <a:endParaRPr lang="en-US" sz="2400" b="0" i="0" dirty="0">
                        <a:effectLst/>
                      </a:endParaRPr>
                    </a:p>
                  </a:txBody>
                  <a:tcPr anchor="ctr"/>
                </a:tc>
                <a:tc>
                  <a:txBody>
                    <a:bodyPr/>
                    <a:lstStyle/>
                    <a:p>
                      <a:pPr algn="ctr" rtl="0" fontAlgn="base"/>
                      <a:r>
                        <a:rPr lang="en-US" sz="1400" b="1" dirty="0">
                          <a:effectLst/>
                        </a:rPr>
                        <a:t>Recommendations/ Action Points</a:t>
                      </a:r>
                      <a:r>
                        <a:rPr lang="en-US" sz="1400" b="0" dirty="0">
                          <a:effectLst/>
                        </a:rPr>
                        <a:t> </a:t>
                      </a:r>
                      <a:endParaRPr lang="en-US" sz="2400" b="0" i="0" dirty="0">
                        <a:effectLst/>
                      </a:endParaRPr>
                    </a:p>
                  </a:txBody>
                  <a:tcPr anchor="ctr"/>
                </a:tc>
                <a:extLst>
                  <a:ext uri="{0D108BD9-81ED-4DB2-BD59-A6C34878D82A}">
                    <a16:rowId xmlns:a16="http://schemas.microsoft.com/office/drawing/2014/main" val="1743356970"/>
                  </a:ext>
                </a:extLst>
              </a:tr>
              <a:tr h="1825919">
                <a:tc>
                  <a:txBody>
                    <a:bodyPr/>
                    <a:lstStyle/>
                    <a:p>
                      <a:pPr algn="ctr" rtl="0" fontAlgn="base"/>
                      <a:r>
                        <a:rPr lang="en-US" sz="1050" b="1" i="0" dirty="0">
                          <a:effectLst/>
                          <a:latin typeface="Bookman Old Style" panose="02050604050505020204" pitchFamily="18" charset="0"/>
                        </a:rPr>
                        <a:t>My Benchmark, My school Mark</a:t>
                      </a:r>
                      <a:r>
                        <a:rPr lang="en-US" sz="1050" b="0" i="0" dirty="0">
                          <a:effectLst/>
                          <a:latin typeface="Bookman Old Style" panose="02050604050505020204" pitchFamily="18" charset="0"/>
                        </a:rPr>
                        <a:t> </a:t>
                      </a:r>
                      <a:endParaRPr lang="en-US" sz="1600" b="0" i="0" dirty="0">
                        <a:effectLst/>
                      </a:endParaRPr>
                    </a:p>
                  </a:txBody>
                  <a:tcPr/>
                </a:tc>
                <a:tc>
                  <a:txBody>
                    <a:bodyPr/>
                    <a:lstStyle/>
                    <a:p>
                      <a:pPr algn="ctr" rtl="0" fontAlgn="base"/>
                      <a:r>
                        <a:rPr lang="en-US" sz="1050" b="0" i="0" dirty="0">
                          <a:effectLst/>
                          <a:latin typeface="Bookman Old Style" panose="02050604050505020204" pitchFamily="18" charset="0"/>
                        </a:rPr>
                        <a:t>To increase the MPS results from 82.83% - 85%. </a:t>
                      </a:r>
                      <a:endParaRPr lang="en-US" sz="1600" b="0" i="0" dirty="0">
                        <a:effectLst/>
                      </a:endParaRPr>
                    </a:p>
                  </a:txBody>
                  <a:tcPr/>
                </a:tc>
                <a:tc>
                  <a:txBody>
                    <a:bodyPr/>
                    <a:lstStyle/>
                    <a:p>
                      <a:pPr algn="l" rtl="0" fontAlgn="base"/>
                      <a:r>
                        <a:rPr lang="en-US" sz="1050" b="0" i="0" dirty="0">
                          <a:effectLst/>
                          <a:latin typeface="Bookman Old Style" panose="02050604050505020204" pitchFamily="18" charset="0"/>
                        </a:rPr>
                        <a:t>June 2024-February 2025 </a:t>
                      </a:r>
                      <a:endParaRPr lang="en-US" sz="1600" b="0" i="0" dirty="0">
                        <a:effectLst/>
                      </a:endParaRPr>
                    </a:p>
                    <a:p>
                      <a:pPr algn="l" rtl="0" fontAlgn="base"/>
                      <a:r>
                        <a:rPr lang="en-US" sz="1050" b="0" i="0" dirty="0">
                          <a:effectLst/>
                          <a:latin typeface="Bookman Old Style" panose="02050604050505020204" pitchFamily="18" charset="0"/>
                        </a:rPr>
                        <a:t> </a:t>
                      </a:r>
                      <a:endParaRPr lang="en-US" sz="1600" b="0" i="0" dirty="0">
                        <a:effectLst/>
                      </a:endParaRPr>
                    </a:p>
                  </a:txBody>
                  <a:tcPr/>
                </a:tc>
                <a:tc>
                  <a:txBody>
                    <a:bodyPr/>
                    <a:lstStyle/>
                    <a:p>
                      <a:pPr rtl="0" fontAlgn="base"/>
                      <a:r>
                        <a:rPr lang="en-US" sz="1050" b="0" i="0" kern="1200" dirty="0">
                          <a:solidFill>
                            <a:schemeClr val="dk1"/>
                          </a:solidFill>
                          <a:effectLst/>
                          <a:latin typeface="Bookman Old Style" panose="02050604050505020204" pitchFamily="18" charset="0"/>
                          <a:ea typeface="+mn-ea"/>
                          <a:cs typeface="+mn-cs"/>
                        </a:rPr>
                        <a:t>-	Consistent high performance in MAPEH across all grade levels.</a:t>
                      </a:r>
                    </a:p>
                    <a:p>
                      <a:pPr rtl="0" fontAlgn="base"/>
                      <a:r>
                        <a:rPr lang="en-US" sz="1050" b="0" i="0" kern="1200" dirty="0">
                          <a:solidFill>
                            <a:schemeClr val="dk1"/>
                          </a:solidFill>
                          <a:effectLst/>
                          <a:latin typeface="Bookman Old Style" panose="02050604050505020204" pitchFamily="18" charset="0"/>
                          <a:ea typeface="+mn-ea"/>
                          <a:cs typeface="+mn-cs"/>
                        </a:rPr>
                        <a:t>-	TLE is performing well, particularly in Grade 8, which might indicate effective teaching strategies or student interest in the subject.</a:t>
                      </a:r>
                    </a:p>
                    <a:p>
                      <a:pPr rtl="0" fontAlgn="base"/>
                      <a:r>
                        <a:rPr lang="en-US" sz="1050" b="0" i="0" kern="1200" dirty="0">
                          <a:solidFill>
                            <a:schemeClr val="dk1"/>
                          </a:solidFill>
                          <a:effectLst/>
                          <a:latin typeface="Bookman Old Style" panose="02050604050505020204" pitchFamily="18" charset="0"/>
                          <a:ea typeface="+mn-ea"/>
                          <a:cs typeface="+mn-cs"/>
                        </a:rPr>
                        <a:t>-English and Filipino have moderate scores, but improvement is needed in some areas.</a:t>
                      </a:r>
                    </a:p>
                  </a:txBody>
                  <a:tcPr/>
                </a:tc>
                <a:tc>
                  <a:txBody>
                    <a:bodyPr/>
                    <a:lstStyle/>
                    <a:p>
                      <a:pPr algn="ctr" rtl="0" fontAlgn="base"/>
                      <a:r>
                        <a:rPr lang="en-US" sz="1050" b="0" i="0" dirty="0">
                          <a:effectLst/>
                          <a:latin typeface="Bookman Old Style" panose="02050604050505020204" pitchFamily="18" charset="0"/>
                        </a:rPr>
                        <a:t>-Lack of preparation-Students may not be studying effectively or reviewing lessons properly                     -Poor study habits-students may struggle with tie management and discipline in studying                     -Increased Absenteeism-missing classes leads to gaps in learning</a:t>
                      </a:r>
                      <a:endParaRPr lang="en-US" sz="1600" b="0" i="0" dirty="0">
                        <a:effectLst/>
                      </a:endParaRPr>
                    </a:p>
                  </a:txBody>
                  <a:tcPr/>
                </a:tc>
                <a:tc>
                  <a:txBody>
                    <a:bodyPr/>
                    <a:lstStyle/>
                    <a:p>
                      <a:pPr algn="ctr" rtl="0" fontAlgn="base"/>
                      <a:r>
                        <a:rPr lang="en-US" sz="1050" b="0" i="0" dirty="0">
                          <a:effectLst/>
                          <a:latin typeface="Bookman Old Style" panose="02050604050505020204" pitchFamily="18" charset="0"/>
                        </a:rPr>
                        <a:t>-Strengthen Remedial and enrichment programs       -Enhance teaching strategies</a:t>
                      </a:r>
                      <a:endParaRPr lang="en-US" sz="1600" b="0" i="0" dirty="0">
                        <a:effectLst/>
                      </a:endParaRPr>
                    </a:p>
                  </a:txBody>
                  <a:tcPr/>
                </a:tc>
                <a:extLst>
                  <a:ext uri="{0D108BD9-81ED-4DB2-BD59-A6C34878D82A}">
                    <a16:rowId xmlns:a16="http://schemas.microsoft.com/office/drawing/2014/main" val="1720475477"/>
                  </a:ext>
                </a:extLst>
              </a:tr>
              <a:tr h="2048175">
                <a:tc>
                  <a:txBody>
                    <a:bodyPr/>
                    <a:lstStyle/>
                    <a:p>
                      <a:pPr algn="ctr" rtl="0" fontAlgn="base"/>
                      <a:r>
                        <a:rPr lang="en-US" sz="1050" b="1" i="0" dirty="0">
                          <a:effectLst/>
                          <a:latin typeface="Bookman Old Style" panose="02050604050505020204" pitchFamily="18" charset="0"/>
                        </a:rPr>
                        <a:t>Literacy rate/ Comprehension Skills </a:t>
                      </a:r>
                      <a:r>
                        <a:rPr lang="en-US" sz="1050" b="0" i="0" dirty="0">
                          <a:effectLst/>
                          <a:latin typeface="Bookman Old Style" panose="02050604050505020204" pitchFamily="18" charset="0"/>
                        </a:rPr>
                        <a:t> </a:t>
                      </a:r>
                      <a:endParaRPr lang="en-US" sz="1600" b="0" i="0" dirty="0">
                        <a:effectLst/>
                      </a:endParaRPr>
                    </a:p>
                    <a:p>
                      <a:pPr algn="ctr" rtl="0" fontAlgn="base"/>
                      <a:r>
                        <a:rPr lang="en-US" sz="1050" b="0" i="0" dirty="0">
                          <a:effectLst/>
                          <a:latin typeface="Bookman Old Style" panose="02050604050505020204" pitchFamily="18" charset="0"/>
                        </a:rPr>
                        <a:t> </a:t>
                      </a:r>
                      <a:endParaRPr lang="en-US" sz="1600" b="0" i="0" dirty="0">
                        <a:effectLst/>
                      </a:endParaRPr>
                    </a:p>
                    <a:p>
                      <a:pPr algn="ctr" rtl="0" fontAlgn="base"/>
                      <a:r>
                        <a:rPr lang="en-US" sz="1050" b="1" i="0" dirty="0">
                          <a:effectLst/>
                          <a:latin typeface="Bookman Old Style" panose="02050604050505020204" pitchFamily="18" charset="0"/>
                        </a:rPr>
                        <a:t>Project RAD (Read, Answer, Discuss)</a:t>
                      </a:r>
                      <a:r>
                        <a:rPr lang="en-US" sz="1050" b="0" i="0" dirty="0">
                          <a:effectLst/>
                          <a:latin typeface="Bookman Old Style" panose="02050604050505020204" pitchFamily="18" charset="0"/>
                        </a:rPr>
                        <a:t> </a:t>
                      </a:r>
                      <a:endParaRPr lang="en-US" sz="1600" b="0" i="0" dirty="0">
                        <a:effectLst/>
                      </a:endParaRPr>
                    </a:p>
                    <a:p>
                      <a:pPr algn="ctr" rtl="0" fontAlgn="base"/>
                      <a:r>
                        <a:rPr lang="en-US" sz="1050" b="1" i="0" dirty="0">
                          <a:effectLst/>
                          <a:latin typeface="Bookman Old Style" panose="02050604050505020204" pitchFamily="18" charset="0"/>
                        </a:rPr>
                        <a:t> -BASA (Basa, Aral, </a:t>
                      </a:r>
                      <a:r>
                        <a:rPr lang="en-US" sz="1050" b="1" i="0" dirty="0" err="1">
                          <a:effectLst/>
                          <a:latin typeface="Bookman Old Style" panose="02050604050505020204" pitchFamily="18" charset="0"/>
                        </a:rPr>
                        <a:t>Sulat</a:t>
                      </a:r>
                      <a:r>
                        <a:rPr lang="en-US" sz="1050" b="1" i="0" dirty="0">
                          <a:effectLst/>
                          <a:latin typeface="Bookman Old Style" panose="02050604050505020204" pitchFamily="18" charset="0"/>
                        </a:rPr>
                        <a:t> </a:t>
                      </a:r>
                      <a:r>
                        <a:rPr lang="en-US" sz="1050" b="1" i="0" dirty="0" err="1">
                          <a:effectLst/>
                          <a:latin typeface="Bookman Old Style" panose="02050604050505020204" pitchFamily="18" charset="0"/>
                        </a:rPr>
                        <a:t>Ating</a:t>
                      </a:r>
                      <a:r>
                        <a:rPr lang="en-US" sz="1050" b="1" i="0" dirty="0">
                          <a:effectLst/>
                          <a:latin typeface="Bookman Old Style" panose="02050604050505020204" pitchFamily="18" charset="0"/>
                        </a:rPr>
                        <a:t> </a:t>
                      </a:r>
                      <a:r>
                        <a:rPr lang="en-US" sz="1050" b="1" i="0" dirty="0" err="1">
                          <a:effectLst/>
                          <a:latin typeface="Bookman Old Style" panose="02050604050505020204" pitchFamily="18" charset="0"/>
                        </a:rPr>
                        <a:t>isagawa</a:t>
                      </a:r>
                      <a:r>
                        <a:rPr lang="en-US" sz="1050" b="1" i="0" dirty="0">
                          <a:effectLst/>
                          <a:latin typeface="Bookman Old Style" panose="02050604050505020204" pitchFamily="18" charset="0"/>
                        </a:rPr>
                        <a:t>)for grade 8 to grade 10 </a:t>
                      </a:r>
                      <a:r>
                        <a:rPr lang="en-US" sz="1050" b="0" i="0" dirty="0">
                          <a:effectLst/>
                          <a:latin typeface="Bookman Old Style" panose="02050604050505020204" pitchFamily="18" charset="0"/>
                        </a:rPr>
                        <a:t> </a:t>
                      </a:r>
                      <a:endParaRPr lang="en-US" sz="1600" b="0" i="0" dirty="0">
                        <a:effectLst/>
                      </a:endParaRPr>
                    </a:p>
                    <a:p>
                      <a:pPr algn="ctr" rtl="0" fontAlgn="base"/>
                      <a:r>
                        <a:rPr lang="en-US" sz="1050" b="0" i="0" dirty="0">
                          <a:effectLst/>
                          <a:latin typeface="Bookman Old Style" panose="02050604050505020204" pitchFamily="18" charset="0"/>
                        </a:rPr>
                        <a:t> </a:t>
                      </a:r>
                      <a:endParaRPr lang="en-US" sz="1600" b="0" i="0" dirty="0">
                        <a:effectLst/>
                      </a:endParaRPr>
                    </a:p>
                    <a:p>
                      <a:pPr algn="ctr" rtl="0" fontAlgn="base"/>
                      <a:r>
                        <a:rPr lang="en-US" sz="1050" b="0" i="0" dirty="0">
                          <a:effectLst/>
                          <a:latin typeface="Bookman Old Style" panose="02050604050505020204" pitchFamily="18" charset="0"/>
                        </a:rPr>
                        <a:t>  </a:t>
                      </a:r>
                      <a:endParaRPr lang="en-US" sz="1600" b="0" i="0" dirty="0">
                        <a:effectLst/>
                      </a:endParaRPr>
                    </a:p>
                    <a:p>
                      <a:pPr algn="ctr" rtl="0" fontAlgn="base"/>
                      <a:r>
                        <a:rPr lang="en-US" sz="1050" b="0" i="0" dirty="0">
                          <a:effectLst/>
                          <a:latin typeface="Bookman Old Style" panose="02050604050505020204" pitchFamily="18" charset="0"/>
                        </a:rPr>
                        <a:t> </a:t>
                      </a:r>
                    </a:p>
                  </a:txBody>
                  <a:tcPr/>
                </a:tc>
                <a:tc>
                  <a:txBody>
                    <a:bodyPr/>
                    <a:lstStyle/>
                    <a:p>
                      <a:pPr algn="ctr" rtl="0" fontAlgn="base"/>
                      <a:r>
                        <a:rPr lang="en-US" sz="1050" b="0" i="0" dirty="0">
                          <a:effectLst/>
                          <a:latin typeface="Bookman Old Style" panose="02050604050505020204" pitchFamily="18" charset="0"/>
                        </a:rPr>
                        <a:t>To decrease percentage of frustration and struggling readers in Filipino and English by at least 75% at the end of the school year </a:t>
                      </a:r>
                      <a:endParaRPr lang="en-US" sz="1600" b="0" i="0" dirty="0">
                        <a:effectLst/>
                      </a:endParaRPr>
                    </a:p>
                  </a:txBody>
                  <a:tcPr/>
                </a:tc>
                <a:tc>
                  <a:txBody>
                    <a:bodyPr/>
                    <a:lstStyle/>
                    <a:p>
                      <a:pPr algn="l" rtl="0" fontAlgn="base"/>
                      <a:r>
                        <a:rPr lang="en-US" sz="1050" b="0" i="0" dirty="0">
                          <a:effectLst/>
                          <a:latin typeface="Bookman Old Style" panose="02050604050505020204" pitchFamily="18" charset="0"/>
                        </a:rPr>
                        <a:t>June 2024-February 2025</a:t>
                      </a:r>
                      <a:endParaRPr lang="en-US" sz="1600" b="0" i="0" dirty="0">
                        <a:effectLst/>
                      </a:endParaRPr>
                    </a:p>
                  </a:txBody>
                  <a:tcPr/>
                </a:tc>
                <a:tc>
                  <a:txBody>
                    <a:bodyPr/>
                    <a:lstStyle/>
                    <a:p>
                      <a:pPr rtl="0" fontAlgn="base"/>
                      <a:r>
                        <a:rPr lang="en-US" sz="1050" b="0" i="0" kern="1200" dirty="0">
                          <a:solidFill>
                            <a:schemeClr val="dk1"/>
                          </a:solidFill>
                          <a:effectLst/>
                          <a:latin typeface="Bookman Old Style" panose="02050604050505020204" pitchFamily="18" charset="0"/>
                          <a:ea typeface="+mn-ea"/>
                          <a:cs typeface="+mn-cs"/>
                        </a:rPr>
                        <a:t>There are three (3) non-reader students which is equivalent to .42 %. Who can be categorized as frustration.</a:t>
                      </a:r>
                    </a:p>
                    <a:p>
                      <a:pPr rtl="0" fontAlgn="base"/>
                      <a:r>
                        <a:rPr lang="en-US" sz="1050" b="0" i="0" kern="1200" dirty="0">
                          <a:solidFill>
                            <a:schemeClr val="dk1"/>
                          </a:solidFill>
                          <a:effectLst/>
                          <a:latin typeface="Bookman Old Style" panose="02050604050505020204" pitchFamily="18" charset="0"/>
                          <a:ea typeface="+mn-ea"/>
                          <a:cs typeface="+mn-cs"/>
                        </a:rPr>
                        <a:t>On-going</a:t>
                      </a:r>
                    </a:p>
                  </a:txBody>
                  <a:tcPr/>
                </a:tc>
                <a:tc>
                  <a:txBody>
                    <a:bodyPr/>
                    <a:lstStyle/>
                    <a:p>
                      <a:pPr algn="ctr" rtl="0" fontAlgn="base"/>
                      <a:r>
                        <a:rPr lang="en-US" sz="1050" b="0" i="0" dirty="0">
                          <a:effectLst/>
                          <a:latin typeface="Bookman Old Style" panose="02050604050505020204" pitchFamily="18" charset="0"/>
                        </a:rPr>
                        <a:t>Lack of student interest in reading, socioeconomic background, and limited parental involvement are key factors affecting learners' reading development.</a:t>
                      </a:r>
                      <a:endParaRPr lang="en-US" sz="1600" b="0" i="0" dirty="0">
                        <a:effectLst/>
                      </a:endParaRPr>
                    </a:p>
                  </a:txBody>
                  <a:tcPr/>
                </a:tc>
                <a:tc>
                  <a:txBody>
                    <a:bodyPr/>
                    <a:lstStyle/>
                    <a:p>
                      <a:pPr algn="ctr" rtl="0" fontAlgn="base"/>
                      <a:r>
                        <a:rPr lang="en-US" sz="1050" b="0" i="0" dirty="0">
                          <a:effectLst/>
                          <a:latin typeface="Bookman Old Style" panose="02050604050505020204" pitchFamily="18" charset="0"/>
                        </a:rPr>
                        <a:t>The teachers incorporate engaging activities into their Daily Lesson Logs to make lessons more enjoyable. They implement a reward system by providing incentives to students who assist their peers in improving their skills and recognizing those who show the most progress. Additionally, parents are informed about their child's reading performance. Advisers also take an active role by mentoring and providing additional support to struggling and non-readers.</a:t>
                      </a:r>
                      <a:endParaRPr lang="en-US" sz="1600" b="0" i="0" dirty="0">
                        <a:effectLst/>
                      </a:endParaRPr>
                    </a:p>
                  </a:txBody>
                  <a:tcPr/>
                </a:tc>
                <a:extLst>
                  <a:ext uri="{0D108BD9-81ED-4DB2-BD59-A6C34878D82A}">
                    <a16:rowId xmlns:a16="http://schemas.microsoft.com/office/drawing/2014/main" val="3924674626"/>
                  </a:ext>
                </a:extLst>
              </a:tr>
            </a:tbl>
          </a:graphicData>
        </a:graphic>
      </p:graphicFrame>
      <p:sp>
        <p:nvSpPr>
          <p:cNvPr id="4" name="Rectangle 3">
            <a:extLst>
              <a:ext uri="{FF2B5EF4-FFF2-40B4-BE49-F238E27FC236}">
                <a16:creationId xmlns:a16="http://schemas.microsoft.com/office/drawing/2014/main" id="{2E1687F5-2C07-44AD-BE9D-4D22D1D088C2}"/>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
        <p:nvSpPr>
          <p:cNvPr id="7" name="Title 1">
            <a:extLst>
              <a:ext uri="{FF2B5EF4-FFF2-40B4-BE49-F238E27FC236}">
                <a16:creationId xmlns:a16="http://schemas.microsoft.com/office/drawing/2014/main" id="{1ED14C70-1241-48E3-A8A4-46B085E92C47}"/>
              </a:ext>
            </a:extLst>
          </p:cNvPr>
          <p:cNvSpPr txBox="1">
            <a:spLocks/>
          </p:cNvSpPr>
          <p:nvPr/>
        </p:nvSpPr>
        <p:spPr>
          <a:xfrm>
            <a:off x="1474236" y="289251"/>
            <a:ext cx="9879563" cy="1158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PROGRAM, PROJECT and ACTIVITIES (PPA’S)</a:t>
            </a:r>
            <a:endParaRPr lang="en-US" sz="4000" b="1" dirty="0"/>
          </a:p>
        </p:txBody>
      </p:sp>
    </p:spTree>
    <p:extLst>
      <p:ext uri="{BB962C8B-B14F-4D97-AF65-F5344CB8AC3E}">
        <p14:creationId xmlns:p14="http://schemas.microsoft.com/office/powerpoint/2010/main" val="228519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1940103873"/>
              </p:ext>
            </p:extLst>
          </p:nvPr>
        </p:nvGraphicFramePr>
        <p:xfrm>
          <a:off x="354201" y="1810235"/>
          <a:ext cx="10375319" cy="452628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729220">
                  <a:extLst>
                    <a:ext uri="{9D8B030D-6E8A-4147-A177-3AD203B41FA5}">
                      <a16:colId xmlns:a16="http://schemas.microsoft.com/office/drawing/2014/main" val="1003207929"/>
                    </a:ext>
                  </a:extLst>
                </a:gridCol>
                <a:gridCol w="1430479">
                  <a:extLst>
                    <a:ext uri="{9D8B030D-6E8A-4147-A177-3AD203B41FA5}">
                      <a16:colId xmlns:a16="http://schemas.microsoft.com/office/drawing/2014/main" val="2700998931"/>
                    </a:ext>
                  </a:extLst>
                </a:gridCol>
                <a:gridCol w="1996580">
                  <a:extLst>
                    <a:ext uri="{9D8B030D-6E8A-4147-A177-3AD203B41FA5}">
                      <a16:colId xmlns:a16="http://schemas.microsoft.com/office/drawing/2014/main" val="3434829160"/>
                    </a:ext>
                  </a:extLst>
                </a:gridCol>
                <a:gridCol w="1375794">
                  <a:extLst>
                    <a:ext uri="{9D8B030D-6E8A-4147-A177-3AD203B41FA5}">
                      <a16:colId xmlns:a16="http://schemas.microsoft.com/office/drawing/2014/main" val="217078824"/>
                    </a:ext>
                  </a:extLst>
                </a:gridCol>
                <a:gridCol w="2114026">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1096554">
                <a:tc>
                  <a:txBody>
                    <a:bodyPr/>
                    <a:lstStyle/>
                    <a:p>
                      <a:pPr algn="ctr" rtl="0" fontAlgn="base"/>
                      <a:r>
                        <a:rPr lang="en-US" sz="1100" b="0" i="0" dirty="0">
                          <a:effectLst/>
                          <a:latin typeface="Bookman Old Style" panose="02050604050505020204" pitchFamily="18" charset="0"/>
                        </a:rPr>
                        <a:t>   </a:t>
                      </a:r>
                      <a:r>
                        <a:rPr lang="en-US" sz="1100" b="1" i="0" dirty="0">
                          <a:effectLst/>
                          <a:latin typeface="Bookman Old Style" panose="02050604050505020204" pitchFamily="18" charset="0"/>
                        </a:rPr>
                        <a:t>-CEAILS (Collaborative Effort in Achieving Ideals towards Literacy Skills)for Grade 7 learners</a:t>
                      </a:r>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1" i="0" dirty="0">
                          <a:effectLst/>
                          <a:latin typeface="Bookman Old Style" panose="02050604050505020204" pitchFamily="18" charset="0"/>
                        </a:rPr>
                        <a:t>-PAG-ASA (</a:t>
                      </a:r>
                      <a:r>
                        <a:rPr lang="en-US" sz="1100" b="1" i="0" dirty="0" err="1">
                          <a:effectLst/>
                          <a:latin typeface="Bookman Old Style" panose="02050604050505020204" pitchFamily="18" charset="0"/>
                        </a:rPr>
                        <a:t>Pagbasa</a:t>
                      </a:r>
                      <a:r>
                        <a:rPr lang="en-US" sz="1100" b="1" i="0" dirty="0">
                          <a:effectLst/>
                          <a:latin typeface="Bookman Old Style" panose="02050604050505020204" pitchFamily="18" charset="0"/>
                        </a:rPr>
                        <a:t> at </a:t>
                      </a:r>
                      <a:r>
                        <a:rPr lang="en-US" sz="1100" b="1" i="0" dirty="0" err="1">
                          <a:effectLst/>
                          <a:latin typeface="Bookman Old Style" panose="02050604050505020204" pitchFamily="18" charset="0"/>
                        </a:rPr>
                        <a:t>Gawaing</a:t>
                      </a:r>
                      <a:r>
                        <a:rPr lang="en-US" sz="1100" b="1" i="0" dirty="0">
                          <a:effectLst/>
                          <a:latin typeface="Bookman Old Style" panose="02050604050505020204" pitchFamily="18" charset="0"/>
                        </a:rPr>
                        <a:t> Pang </a:t>
                      </a:r>
                      <a:r>
                        <a:rPr lang="en-US" sz="1100" b="1" i="0" dirty="0" err="1">
                          <a:effectLst/>
                          <a:latin typeface="Bookman Old Style" panose="02050604050505020204" pitchFamily="18" charset="0"/>
                        </a:rPr>
                        <a:t>akademiko</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Ating</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Sikaping</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malinang</a:t>
                      </a:r>
                      <a:r>
                        <a:rPr lang="en-US" sz="1100" b="1" i="0" dirty="0">
                          <a:effectLst/>
                          <a:latin typeface="Bookman Old Style" panose="02050604050505020204" pitchFamily="18" charset="0"/>
                        </a:rPr>
                        <a:t> At </a:t>
                      </a:r>
                      <a:r>
                        <a:rPr lang="en-US" sz="1100" b="1" i="0" dirty="0" err="1">
                          <a:effectLst/>
                          <a:latin typeface="Bookman Old Style" panose="02050604050505020204" pitchFamily="18" charset="0"/>
                        </a:rPr>
                        <a:t>Maisabuhay</a:t>
                      </a:r>
                      <a:r>
                        <a:rPr lang="en-US" sz="1100" b="1" i="0" dirty="0">
                          <a:effectLst/>
                          <a:latin typeface="Bookman Old Style" panose="02050604050505020204" pitchFamily="18" charset="0"/>
                        </a:rPr>
                        <a:t>)</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decrease the number of struggling and non-readers to 0%.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To increase 80% of independent readers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p>
                    <a:p>
                      <a:pPr algn="l" rtl="0" fontAlgn="base"/>
                      <a:r>
                        <a:rPr lang="en-US" sz="1100" b="0" i="0" dirty="0">
                          <a:effectLst/>
                          <a:latin typeface="Bookman Old Style" panose="02050604050505020204" pitchFamily="18" charset="0"/>
                        </a:rPr>
                        <a:t>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p>
                      <a:pPr algn="l" rtl="0" fontAlgn="base"/>
                      <a:endParaRPr lang="en-US" sz="1100" b="0" i="0" dirty="0">
                        <a:effectLst/>
                        <a:latin typeface="Bookman Old Style" panose="02050604050505020204" pitchFamily="18" charset="0"/>
                      </a:endParaRPr>
                    </a:p>
                    <a:p>
                      <a:pPr algn="l" rtl="0" fontAlgn="base"/>
                      <a:r>
                        <a:rPr lang="en-US" sz="1100" b="0" i="0" dirty="0">
                          <a:effectLst/>
                          <a:latin typeface="Bookman Old Style" panose="02050604050505020204" pitchFamily="18" charset="0"/>
                        </a:rPr>
                        <a:t>June 2024-February 2025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PH" sz="1100" b="0" i="0" kern="1200" dirty="0">
                          <a:solidFill>
                            <a:schemeClr val="dk1"/>
                          </a:solidFill>
                          <a:effectLst/>
                          <a:latin typeface="Bookman Old Style" panose="02050604050505020204" pitchFamily="18" charset="0"/>
                          <a:ea typeface="+mn-ea"/>
                          <a:cs typeface="+mn-cs"/>
                        </a:rPr>
                        <a:t>Zero Non-reader</a:t>
                      </a:r>
                    </a:p>
                    <a:p>
                      <a:pPr rtl="0" fontAlgn="base"/>
                      <a:endParaRPr lang="en-PH" sz="1100" b="0" i="0" kern="1200" dirty="0">
                        <a:solidFill>
                          <a:schemeClr val="dk1"/>
                        </a:solidFill>
                        <a:effectLst/>
                        <a:latin typeface="Bookman Old Style" panose="02050604050505020204" pitchFamily="18" charset="0"/>
                        <a:ea typeface="+mn-ea"/>
                        <a:cs typeface="+mn-cs"/>
                      </a:endParaRPr>
                    </a:p>
                    <a:p>
                      <a:pPr rtl="0" fontAlgn="base"/>
                      <a:endParaRPr lang="en-PH" sz="1100" b="0" i="0" kern="1200" dirty="0">
                        <a:solidFill>
                          <a:schemeClr val="dk1"/>
                        </a:solidFill>
                        <a:effectLst/>
                        <a:latin typeface="Bookman Old Style" panose="02050604050505020204" pitchFamily="18" charset="0"/>
                        <a:ea typeface="+mn-ea"/>
                        <a:cs typeface="+mn-cs"/>
                      </a:endParaRPr>
                    </a:p>
                    <a:p>
                      <a:pPr rtl="0" fontAlgn="base"/>
                      <a:endParaRPr lang="en-PH" sz="1100" b="0" i="0" kern="1200" dirty="0">
                        <a:solidFill>
                          <a:schemeClr val="dk1"/>
                        </a:solidFill>
                        <a:effectLst/>
                        <a:latin typeface="Bookman Old Style" panose="02050604050505020204" pitchFamily="18" charset="0"/>
                        <a:ea typeface="+mn-ea"/>
                        <a:cs typeface="+mn-cs"/>
                      </a:endParaRPr>
                    </a:p>
                    <a:p>
                      <a:pP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Zero Non-reader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Students slow reading speed. Poor comprehension.</a:t>
                      </a: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Poor Comprehension, Lack of Home Support, Slow Reading</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Conduct reading during class.                   Reading tutorial sessions to struggling readers.                                                                                             Integrating Buddy System in Reading.                                                                 Conference with parents on students reading performance.</a:t>
                      </a: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Conduct Remediation in reading, Reading Buddy </a:t>
                      </a:r>
                      <a:endParaRPr lang="en-US" b="0" i="0" dirty="0">
                        <a:effectLst/>
                      </a:endParaRPr>
                    </a:p>
                  </a:txBody>
                  <a:tcPr/>
                </a:tc>
                <a:extLst>
                  <a:ext uri="{0D108BD9-81ED-4DB2-BD59-A6C34878D82A}">
                    <a16:rowId xmlns:a16="http://schemas.microsoft.com/office/drawing/2014/main" val="3924674626"/>
                  </a:ext>
                </a:extLst>
              </a:tr>
            </a:tbl>
          </a:graphicData>
        </a:graphic>
      </p:graphicFrame>
      <p:sp>
        <p:nvSpPr>
          <p:cNvPr id="4" name="Rectangle 3">
            <a:extLst>
              <a:ext uri="{FF2B5EF4-FFF2-40B4-BE49-F238E27FC236}">
                <a16:creationId xmlns:a16="http://schemas.microsoft.com/office/drawing/2014/main" id="{A95978EA-17E2-428E-872D-842477160FDB}"/>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
        <p:nvSpPr>
          <p:cNvPr id="7" name="Title 1">
            <a:extLst>
              <a:ext uri="{FF2B5EF4-FFF2-40B4-BE49-F238E27FC236}">
                <a16:creationId xmlns:a16="http://schemas.microsoft.com/office/drawing/2014/main" id="{0B81C501-1FE7-4AF1-A15D-207D883AFC04}"/>
              </a:ext>
            </a:extLst>
          </p:cNvPr>
          <p:cNvSpPr>
            <a:spLocks noGrp="1"/>
          </p:cNvSpPr>
          <p:nvPr>
            <p:ph type="title"/>
          </p:nvPr>
        </p:nvSpPr>
        <p:spPr>
          <a:xfrm>
            <a:off x="1474236" y="289251"/>
            <a:ext cx="9879563" cy="1158843"/>
          </a:xfrm>
        </p:spPr>
        <p:txBody>
          <a:bodyPr>
            <a:normAutofit/>
          </a:bodyPr>
          <a:lstStyle/>
          <a:p>
            <a:r>
              <a:rPr lang="en-US" sz="4000" b="1" dirty="0"/>
              <a:t>PROGRAM, PROJECT and ACTIVITIES (PPA’S)</a:t>
            </a:r>
          </a:p>
        </p:txBody>
      </p:sp>
    </p:spTree>
    <p:extLst>
      <p:ext uri="{BB962C8B-B14F-4D97-AF65-F5344CB8AC3E}">
        <p14:creationId xmlns:p14="http://schemas.microsoft.com/office/powerpoint/2010/main" val="1639942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3747184671"/>
              </p:ext>
            </p:extLst>
          </p:nvPr>
        </p:nvGraphicFramePr>
        <p:xfrm>
          <a:off x="354201" y="1810235"/>
          <a:ext cx="10375319" cy="489204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918128">
                  <a:extLst>
                    <a:ext uri="{9D8B030D-6E8A-4147-A177-3AD203B41FA5}">
                      <a16:colId xmlns:a16="http://schemas.microsoft.com/office/drawing/2014/main" val="1003207929"/>
                    </a:ext>
                  </a:extLst>
                </a:gridCol>
                <a:gridCol w="1283515">
                  <a:extLst>
                    <a:ext uri="{9D8B030D-6E8A-4147-A177-3AD203B41FA5}">
                      <a16:colId xmlns:a16="http://schemas.microsoft.com/office/drawing/2014/main" val="2700998931"/>
                    </a:ext>
                  </a:extLst>
                </a:gridCol>
                <a:gridCol w="1484852">
                  <a:extLst>
                    <a:ext uri="{9D8B030D-6E8A-4147-A177-3AD203B41FA5}">
                      <a16:colId xmlns:a16="http://schemas.microsoft.com/office/drawing/2014/main" val="3434829160"/>
                    </a:ext>
                  </a:extLst>
                </a:gridCol>
                <a:gridCol w="2063691">
                  <a:extLst>
                    <a:ext uri="{9D8B030D-6E8A-4147-A177-3AD203B41FA5}">
                      <a16:colId xmlns:a16="http://schemas.microsoft.com/office/drawing/2014/main" val="217078824"/>
                    </a:ext>
                  </a:extLst>
                </a:gridCol>
                <a:gridCol w="1895913">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517539">
                <a:tc>
                  <a:txBody>
                    <a:bodyPr/>
                    <a:lstStyle/>
                    <a:p>
                      <a:pPr algn="ctr" rtl="0" fontAlgn="base"/>
                      <a:r>
                        <a:rPr lang="en-US" sz="1100" b="1" i="0" dirty="0">
                          <a:effectLst/>
                          <a:latin typeface="Bookman Old Style" panose="02050604050505020204" pitchFamily="18" charset="0"/>
                        </a:rPr>
                        <a:t>Project TWTD (Training Workshop on Teachers Development)</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improve curriculum implementation and instructional delivery, SLAC (10) and INSET (2) will be conducted.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Conducted 5 LAC sessions from Sept-Jan</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Time Constraints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Schedule Strategically, Plan Follow-Ups</a:t>
                      </a:r>
                      <a:endParaRPr lang="en-US" b="0" i="0" dirty="0">
                        <a:effectLst/>
                      </a:endParaRPr>
                    </a:p>
                  </a:txBody>
                  <a:tcPr/>
                </a:tc>
                <a:extLst>
                  <a:ext uri="{0D108BD9-81ED-4DB2-BD59-A6C34878D82A}">
                    <a16:rowId xmlns:a16="http://schemas.microsoft.com/office/drawing/2014/main" val="1720475477"/>
                  </a:ext>
                </a:extLst>
              </a:tr>
              <a:tr h="723240">
                <a:tc>
                  <a:txBody>
                    <a:bodyPr/>
                    <a:lstStyle/>
                    <a:p>
                      <a:pPr algn="ctr" rtl="0" fontAlgn="base"/>
                      <a:r>
                        <a:rPr lang="en-US" sz="1100" b="1" i="0" dirty="0">
                          <a:effectLst/>
                          <a:latin typeface="Bookman Old Style" panose="02050604050505020204" pitchFamily="18" charset="0"/>
                        </a:rPr>
                        <a:t>Project UPS (Uplift Performance of Students)</a:t>
                      </a:r>
                      <a:r>
                        <a:rPr lang="en-US" sz="1100" b="0" i="0" dirty="0">
                          <a:effectLst/>
                          <a:latin typeface="Bookman Old Style" panose="02050604050505020204" pitchFamily="18" charset="0"/>
                        </a:rPr>
                        <a:t> </a:t>
                      </a:r>
                      <a:endParaRPr lang="en-US" b="0" i="0" dirty="0">
                        <a:effectLst/>
                      </a:endParaRPr>
                    </a:p>
                  </a:txBody>
                  <a:tcPr/>
                </a:tc>
                <a:tc>
                  <a:txBody>
                    <a:bodyPr/>
                    <a:lstStyle/>
                    <a:p>
                      <a:pPr algn="just" rtl="0" fontAlgn="base">
                        <a:buFont typeface="+mj-lt"/>
                        <a:buAutoNum type="arabicPeriod"/>
                      </a:pPr>
                      <a:r>
                        <a:rPr lang="en-US" sz="1100" b="0" i="0" dirty="0">
                          <a:effectLst/>
                          <a:latin typeface="Bookman Old Style" panose="02050604050505020204" pitchFamily="18" charset="0"/>
                        </a:rPr>
                        <a:t>increase the percentage of students who participated in school- to national-wide events by 15% within the academic year; </a:t>
                      </a:r>
                    </a:p>
                    <a:p>
                      <a:pPr algn="ctr" rtl="0" fontAlgn="base"/>
                      <a:r>
                        <a:rPr lang="en-US" sz="1100" b="0" i="0" dirty="0">
                          <a:effectLst/>
                          <a:latin typeface="Bookman Old Style" panose="02050604050505020204" pitchFamily="18" charset="0"/>
                        </a:rPr>
                        <a:t>increase the percentage of students who receive recognition or awards in specialized skills development programs or competitions by 10% within the academic year;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fontAlgn="t"/>
                      <a:r>
                        <a:rPr lang="en-US" sz="1100" dirty="0">
                          <a:effectLst/>
                        </a:rPr>
                        <a:t>On-going</a:t>
                      </a: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just" rtl="0" fontAlgn="base"/>
                      <a:r>
                        <a:rPr lang="en-US" sz="1100" b="0" i="0" dirty="0">
                          <a:effectLst/>
                          <a:latin typeface="Bookman Old Style" panose="02050604050505020204" pitchFamily="18" charset="0"/>
                        </a:rPr>
                        <a:t>Some students choose not to participate due to the following reasons: </a:t>
                      </a:r>
                      <a:endParaRPr lang="en-US" b="0" i="0" dirty="0">
                        <a:effectLst/>
                      </a:endParaRPr>
                    </a:p>
                    <a:p>
                      <a:pPr algn="just" rtl="0" fontAlgn="base">
                        <a:buFont typeface="Arial" panose="020B0604020202020204" pitchFamily="34" charset="0"/>
                        <a:buChar char="•"/>
                      </a:pPr>
                      <a:r>
                        <a:rPr lang="en-US" sz="1100" b="0" i="0" dirty="0">
                          <a:effectLst/>
                          <a:latin typeface="Bookman Old Style" panose="02050604050505020204" pitchFamily="18" charset="0"/>
                        </a:rPr>
                        <a:t>Lack of interest in the activity </a:t>
                      </a:r>
                    </a:p>
                    <a:p>
                      <a:pPr algn="just" rtl="0" fontAlgn="base">
                        <a:buFont typeface="Arial" panose="020B0604020202020204" pitchFamily="34" charset="0"/>
                        <a:buChar char="•"/>
                      </a:pPr>
                      <a:r>
                        <a:rPr lang="en-US" sz="1100" b="0" i="0" dirty="0">
                          <a:effectLst/>
                          <a:latin typeface="Bookman Old Style" panose="02050604050505020204" pitchFamily="18" charset="0"/>
                        </a:rPr>
                        <a:t>Time constraints towards co- and extra- curricular activities because of too much prioritization in academic work </a:t>
                      </a:r>
                    </a:p>
                    <a:p>
                      <a:pPr algn="just" rtl="0" fontAlgn="base">
                        <a:buFont typeface="Arial" panose="020B0604020202020204" pitchFamily="34" charset="0"/>
                        <a:buChar char="•"/>
                      </a:pPr>
                      <a:r>
                        <a:rPr lang="en-US" sz="1100" b="0" i="0" dirty="0">
                          <a:effectLst/>
                          <a:latin typeface="Bookman Old Style" panose="02050604050505020204" pitchFamily="18" charset="0"/>
                        </a:rPr>
                        <a:t>Health concerns and medical conditions </a:t>
                      </a:r>
                    </a:p>
                    <a:p>
                      <a:pPr algn="ctr" rtl="0" fontAlgn="base"/>
                      <a:r>
                        <a:rPr lang="en-US" sz="1100" b="0" i="0" dirty="0">
                          <a:effectLst/>
                          <a:latin typeface="Bookman Old Style" panose="02050604050505020204" pitchFamily="18" charset="0"/>
                        </a:rPr>
                        <a:t>Financial constrains associated in the costs of equipment, registration, uniform, allowance, etc. </a:t>
                      </a:r>
                      <a:endParaRPr lang="en-US" b="0" i="0" dirty="0">
                        <a:effectLst/>
                      </a:endParaRPr>
                    </a:p>
                  </a:txBody>
                  <a:tcPr/>
                </a:tc>
                <a:tc>
                  <a:txBody>
                    <a:bodyPr/>
                    <a:lstStyle/>
                    <a:p>
                      <a:pPr algn="just" rtl="0" fontAlgn="base">
                        <a:buFont typeface="Arial" panose="020B0604020202020204" pitchFamily="34" charset="0"/>
                        <a:buNone/>
                      </a:pPr>
                      <a:r>
                        <a:rPr lang="en-US" sz="1100" b="0" i="0" dirty="0">
                          <a:effectLst/>
                          <a:latin typeface="Bookman Old Style" panose="02050604050505020204" pitchFamily="18" charset="0"/>
                        </a:rPr>
                        <a:t>Provide incentives for the students to motivate and encourage the students to participate </a:t>
                      </a:r>
                    </a:p>
                    <a:p>
                      <a:pPr algn="ctr" rtl="0" fontAlgn="base"/>
                      <a:r>
                        <a:rPr lang="en-US" sz="1100" b="0" i="0" dirty="0">
                          <a:effectLst/>
                          <a:latin typeface="Bookman Old Style" panose="02050604050505020204" pitchFamily="18" charset="0"/>
                        </a:rPr>
                        <a:t>Increase awareness about the benefits of these activities in the holistic development and recognizing their multiple intelligences </a:t>
                      </a:r>
                      <a:endParaRPr lang="en-US" b="0" i="0" dirty="0">
                        <a:effectLst/>
                      </a:endParaRPr>
                    </a:p>
                  </a:txBody>
                  <a:tcPr/>
                </a:tc>
                <a:extLst>
                  <a:ext uri="{0D108BD9-81ED-4DB2-BD59-A6C34878D82A}">
                    <a16:rowId xmlns:a16="http://schemas.microsoft.com/office/drawing/2014/main" val="4134831497"/>
                  </a:ext>
                </a:extLst>
              </a:tr>
            </a:tbl>
          </a:graphicData>
        </a:graphic>
      </p:graphicFrame>
      <p:sp>
        <p:nvSpPr>
          <p:cNvPr id="5" name="Rectangle 4">
            <a:extLst>
              <a:ext uri="{FF2B5EF4-FFF2-40B4-BE49-F238E27FC236}">
                <a16:creationId xmlns:a16="http://schemas.microsoft.com/office/drawing/2014/main" id="{36747095-9E3A-4ABA-A0FA-D683F0452451}"/>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
        <p:nvSpPr>
          <p:cNvPr id="7" name="Title 1">
            <a:extLst>
              <a:ext uri="{FF2B5EF4-FFF2-40B4-BE49-F238E27FC236}">
                <a16:creationId xmlns:a16="http://schemas.microsoft.com/office/drawing/2014/main" id="{D85A7E82-6144-424E-BA53-2F50D2A2C52A}"/>
              </a:ext>
            </a:extLst>
          </p:cNvPr>
          <p:cNvSpPr txBox="1">
            <a:spLocks/>
          </p:cNvSpPr>
          <p:nvPr/>
        </p:nvSpPr>
        <p:spPr>
          <a:xfrm>
            <a:off x="1474236" y="289251"/>
            <a:ext cx="9879563" cy="1158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PROGRAM, PROJECT and ACTIVITIES (PPA’S)</a:t>
            </a:r>
            <a:endParaRPr lang="en-US" sz="4000" b="1" dirty="0"/>
          </a:p>
        </p:txBody>
      </p:sp>
    </p:spTree>
    <p:extLst>
      <p:ext uri="{BB962C8B-B14F-4D97-AF65-F5344CB8AC3E}">
        <p14:creationId xmlns:p14="http://schemas.microsoft.com/office/powerpoint/2010/main" val="302746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2893022541"/>
              </p:ext>
            </p:extLst>
          </p:nvPr>
        </p:nvGraphicFramePr>
        <p:xfrm>
          <a:off x="260892" y="1875552"/>
          <a:ext cx="10593432" cy="4282440"/>
        </p:xfrm>
        <a:graphic>
          <a:graphicData uri="http://schemas.openxmlformats.org/drawingml/2006/table">
            <a:tbl>
              <a:tblPr firstRow="1" bandRow="1">
                <a:tableStyleId>{21E4AEA4-8DFA-4A89-87EB-49C32662AFE0}</a:tableStyleId>
              </a:tblPr>
              <a:tblGrid>
                <a:gridCol w="1765572">
                  <a:extLst>
                    <a:ext uri="{9D8B030D-6E8A-4147-A177-3AD203B41FA5}">
                      <a16:colId xmlns:a16="http://schemas.microsoft.com/office/drawing/2014/main" val="4195980028"/>
                    </a:ext>
                  </a:extLst>
                </a:gridCol>
                <a:gridCol w="1958451">
                  <a:extLst>
                    <a:ext uri="{9D8B030D-6E8A-4147-A177-3AD203B41FA5}">
                      <a16:colId xmlns:a16="http://schemas.microsoft.com/office/drawing/2014/main" val="1003207929"/>
                    </a:ext>
                  </a:extLst>
                </a:gridCol>
                <a:gridCol w="1319063">
                  <a:extLst>
                    <a:ext uri="{9D8B030D-6E8A-4147-A177-3AD203B41FA5}">
                      <a16:colId xmlns:a16="http://schemas.microsoft.com/office/drawing/2014/main" val="2700998931"/>
                    </a:ext>
                  </a:extLst>
                </a:gridCol>
                <a:gridCol w="1741744">
                  <a:extLst>
                    <a:ext uri="{9D8B030D-6E8A-4147-A177-3AD203B41FA5}">
                      <a16:colId xmlns:a16="http://schemas.microsoft.com/office/drawing/2014/main" val="3434829160"/>
                    </a:ext>
                  </a:extLst>
                </a:gridCol>
                <a:gridCol w="1468074">
                  <a:extLst>
                    <a:ext uri="{9D8B030D-6E8A-4147-A177-3AD203B41FA5}">
                      <a16:colId xmlns:a16="http://schemas.microsoft.com/office/drawing/2014/main" val="217078824"/>
                    </a:ext>
                  </a:extLst>
                </a:gridCol>
                <a:gridCol w="2340528">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517539">
                <a:tc>
                  <a:txBody>
                    <a:bodyPr/>
                    <a:lstStyle/>
                    <a:p>
                      <a:pPr algn="ctr" rtl="0" fontAlgn="base"/>
                      <a:r>
                        <a:rPr lang="en-US" sz="1100" b="1" i="0" dirty="0">
                          <a:effectLst/>
                          <a:latin typeface="Bookman Old Style" panose="02050604050505020204" pitchFamily="18" charset="0"/>
                        </a:rPr>
                        <a:t>Project BASIC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improve mathematical abilities of students who are struggling in learning Mathematics.</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Tutorial class after classes are conducted for identified students with learning difficulties in Mathematics. Performing students and SSG Officers were tapped also to serve as mentors during Recess and Lunch breaks.</a:t>
                      </a:r>
                      <a:r>
                        <a:rPr lang="en-US" sz="1100" b="0" i="0" dirty="0">
                          <a:effectLst/>
                          <a:latin typeface="WordVisiCarriageReturn_MSFontService"/>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Interruptions on tutorial classes due to other school activities.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Incorporate tutorial classes to regular class schedule. Use NMP time for tutorial classes.</a:t>
                      </a:r>
                      <a:endParaRPr lang="en-US" b="0" i="0" dirty="0">
                        <a:effectLst/>
                      </a:endParaRPr>
                    </a:p>
                  </a:txBody>
                  <a:tcPr/>
                </a:tc>
                <a:extLst>
                  <a:ext uri="{0D108BD9-81ED-4DB2-BD59-A6C34878D82A}">
                    <a16:rowId xmlns:a16="http://schemas.microsoft.com/office/drawing/2014/main" val="1720475477"/>
                  </a:ext>
                </a:extLst>
              </a:tr>
              <a:tr h="517539">
                <a:tc>
                  <a:txBody>
                    <a:bodyPr/>
                    <a:lstStyle/>
                    <a:p>
                      <a:pPr algn="ctr" rtl="0" fontAlgn="base"/>
                      <a:r>
                        <a:rPr lang="en-US" sz="1100" b="1" i="0" dirty="0">
                          <a:effectLst/>
                          <a:latin typeface="Bookman Old Style" panose="02050604050505020204" pitchFamily="18" charset="0"/>
                        </a:rPr>
                        <a:t>Project 3Ms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Develop students’ mastery in multiplication by 2, by 3, up to by 10</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Identified students with poor mastery in multiplication were given assistance through peer-tutoring and one-on-one tutorial and drills.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There are identified students with poor memory and differently abled.</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Have a </a:t>
                      </a:r>
                      <a:r>
                        <a:rPr lang="en-US" sz="1100" b="0" i="0" dirty="0" err="1">
                          <a:effectLst/>
                          <a:latin typeface="Bookman Old Style" panose="02050604050505020204" pitchFamily="18" charset="0"/>
                        </a:rPr>
                        <a:t>diagnostictest</a:t>
                      </a:r>
                      <a:r>
                        <a:rPr lang="en-US" sz="1100" b="0" i="0" dirty="0">
                          <a:effectLst/>
                          <a:latin typeface="Bookman Old Style" panose="02050604050505020204" pitchFamily="18" charset="0"/>
                        </a:rPr>
                        <a:t> for the first day of classes to identify earlier students with poor mastery in multiplication.</a:t>
                      </a:r>
                      <a:endParaRPr lang="en-US" b="0" i="0" dirty="0">
                        <a:effectLst/>
                      </a:endParaRPr>
                    </a:p>
                  </a:txBody>
                  <a:tcPr/>
                </a:tc>
                <a:extLst>
                  <a:ext uri="{0D108BD9-81ED-4DB2-BD59-A6C34878D82A}">
                    <a16:rowId xmlns:a16="http://schemas.microsoft.com/office/drawing/2014/main" val="912064192"/>
                  </a:ext>
                </a:extLst>
              </a:tr>
            </a:tbl>
          </a:graphicData>
        </a:graphic>
      </p:graphicFrame>
      <p:sp>
        <p:nvSpPr>
          <p:cNvPr id="5" name="Rectangle 4">
            <a:extLst>
              <a:ext uri="{FF2B5EF4-FFF2-40B4-BE49-F238E27FC236}">
                <a16:creationId xmlns:a16="http://schemas.microsoft.com/office/drawing/2014/main" id="{FF13E15E-7420-4555-BAF0-C0AECC4A9ADA}"/>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
        <p:nvSpPr>
          <p:cNvPr id="7" name="Title 1">
            <a:extLst>
              <a:ext uri="{FF2B5EF4-FFF2-40B4-BE49-F238E27FC236}">
                <a16:creationId xmlns:a16="http://schemas.microsoft.com/office/drawing/2014/main" id="{0A6570F9-118C-47A5-B190-35601C5DE06C}"/>
              </a:ext>
            </a:extLst>
          </p:cNvPr>
          <p:cNvSpPr>
            <a:spLocks noGrp="1"/>
          </p:cNvSpPr>
          <p:nvPr>
            <p:ph type="title"/>
          </p:nvPr>
        </p:nvSpPr>
        <p:spPr>
          <a:xfrm>
            <a:off x="1474236" y="289251"/>
            <a:ext cx="9879563" cy="1158843"/>
          </a:xfrm>
        </p:spPr>
        <p:txBody>
          <a:bodyPr>
            <a:normAutofit/>
          </a:bodyPr>
          <a:lstStyle/>
          <a:p>
            <a:r>
              <a:rPr lang="en-US" sz="4000" b="1" dirty="0"/>
              <a:t>PROGRAM, PROJECT and ACTIVITIES (PPA’S)</a:t>
            </a:r>
          </a:p>
        </p:txBody>
      </p:sp>
    </p:spTree>
    <p:extLst>
      <p:ext uri="{BB962C8B-B14F-4D97-AF65-F5344CB8AC3E}">
        <p14:creationId xmlns:p14="http://schemas.microsoft.com/office/powerpoint/2010/main" val="3686237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223740936"/>
              </p:ext>
            </p:extLst>
          </p:nvPr>
        </p:nvGraphicFramePr>
        <p:xfrm>
          <a:off x="354201" y="1660939"/>
          <a:ext cx="10593432" cy="4876800"/>
        </p:xfrm>
        <a:graphic>
          <a:graphicData uri="http://schemas.openxmlformats.org/drawingml/2006/table">
            <a:tbl>
              <a:tblPr firstRow="1" bandRow="1">
                <a:tableStyleId>{21E4AEA4-8DFA-4A89-87EB-49C32662AFE0}</a:tableStyleId>
              </a:tblPr>
              <a:tblGrid>
                <a:gridCol w="1765572">
                  <a:extLst>
                    <a:ext uri="{9D8B030D-6E8A-4147-A177-3AD203B41FA5}">
                      <a16:colId xmlns:a16="http://schemas.microsoft.com/office/drawing/2014/main" val="4195980028"/>
                    </a:ext>
                  </a:extLst>
                </a:gridCol>
                <a:gridCol w="1958451">
                  <a:extLst>
                    <a:ext uri="{9D8B030D-6E8A-4147-A177-3AD203B41FA5}">
                      <a16:colId xmlns:a16="http://schemas.microsoft.com/office/drawing/2014/main" val="1003207929"/>
                    </a:ext>
                  </a:extLst>
                </a:gridCol>
                <a:gridCol w="1319063">
                  <a:extLst>
                    <a:ext uri="{9D8B030D-6E8A-4147-A177-3AD203B41FA5}">
                      <a16:colId xmlns:a16="http://schemas.microsoft.com/office/drawing/2014/main" val="2700998931"/>
                    </a:ext>
                  </a:extLst>
                </a:gridCol>
                <a:gridCol w="1741744">
                  <a:extLst>
                    <a:ext uri="{9D8B030D-6E8A-4147-A177-3AD203B41FA5}">
                      <a16:colId xmlns:a16="http://schemas.microsoft.com/office/drawing/2014/main" val="3434829160"/>
                    </a:ext>
                  </a:extLst>
                </a:gridCol>
                <a:gridCol w="1585091">
                  <a:extLst>
                    <a:ext uri="{9D8B030D-6E8A-4147-A177-3AD203B41FA5}">
                      <a16:colId xmlns:a16="http://schemas.microsoft.com/office/drawing/2014/main" val="217078824"/>
                    </a:ext>
                  </a:extLst>
                </a:gridCol>
                <a:gridCol w="2223511">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517539">
                <a:tc>
                  <a:txBody>
                    <a:bodyPr/>
                    <a:lstStyle/>
                    <a:p>
                      <a:pPr algn="ctr" rtl="0" fontAlgn="base"/>
                      <a:r>
                        <a:rPr lang="en-US" sz="1100" b="1" i="0" dirty="0">
                          <a:effectLst/>
                          <a:latin typeface="Bookman Old Style" panose="02050604050505020204" pitchFamily="18" charset="0"/>
                        </a:rPr>
                        <a:t>AKAP (</a:t>
                      </a:r>
                      <a:r>
                        <a:rPr lang="en-US" sz="1100" b="1" i="0" dirty="0" err="1">
                          <a:effectLst/>
                          <a:latin typeface="Bookman Old Style" panose="02050604050505020204" pitchFamily="18" charset="0"/>
                        </a:rPr>
                        <a:t>Aangat</a:t>
                      </a:r>
                      <a:r>
                        <a:rPr lang="en-US" sz="1100" b="1" i="0" dirty="0">
                          <a:effectLst/>
                          <a:latin typeface="Bookman Old Style" panose="02050604050505020204" pitchFamily="18" charset="0"/>
                        </a:rPr>
                        <a:t> ang </a:t>
                      </a:r>
                      <a:r>
                        <a:rPr lang="en-US" sz="1100" b="1" i="0" dirty="0" err="1">
                          <a:effectLst/>
                          <a:latin typeface="Bookman Old Style" panose="02050604050505020204" pitchFamily="18" charset="0"/>
                        </a:rPr>
                        <a:t>Kasanayan</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sa</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Araling</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Panlipunan</a:t>
                      </a:r>
                      <a:r>
                        <a:rPr lang="en-US" sz="1100" b="1" i="0" dirty="0">
                          <a:effectLst/>
                          <a:latin typeface="Bookman Old Style" panose="02050604050505020204" pitchFamily="18" charset="0"/>
                        </a:rPr>
                        <a:t>)</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Improve the academic performance and address learners needs through appropriate teaching strategies and activities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fontAlgn="t"/>
                      <a:r>
                        <a:rPr lang="en-US" sz="1100" b="0" i="0" kern="1200" dirty="0">
                          <a:solidFill>
                            <a:schemeClr val="dk1"/>
                          </a:solidFill>
                          <a:effectLst/>
                          <a:latin typeface="Bookman Old Style" panose="02050604050505020204" pitchFamily="18" charset="0"/>
                          <a:ea typeface="+mn-ea"/>
                          <a:cs typeface="+mn-cs"/>
                        </a:rPr>
                        <a:t>Increased student engagement, understanding, and performance, particularly among struggling students.</a:t>
                      </a:r>
                      <a:r>
                        <a:rPr lang="en-US" sz="1100" b="0" i="0" dirty="0">
                          <a:effectLst/>
                          <a:latin typeface="Bookman Old Style" panose="02050604050505020204" pitchFamily="18" charset="0"/>
                        </a:rPr>
                        <a:t> </a:t>
                      </a:r>
                    </a:p>
                  </a:txBody>
                  <a:tcPr/>
                </a:tc>
                <a:tc>
                  <a:txBody>
                    <a:bodyPr/>
                    <a:lstStyle/>
                    <a:p>
                      <a:pPr algn="ctr" rtl="0" fontAlgn="base"/>
                      <a:r>
                        <a:rPr lang="en-US" sz="1100" b="0" i="0" dirty="0">
                          <a:effectLst/>
                          <a:latin typeface="Bookman Old Style" panose="02050604050505020204" pitchFamily="18" charset="0"/>
                        </a:rPr>
                        <a:t>The time available for instruction may not be sufficient to implement differentiated strategies for all students or to address their individual needs fully.</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Advocate for the acquisition of additional educational resources and technology that align with teaching goals and enhance student learning.</a:t>
                      </a:r>
                      <a:endParaRPr lang="en-US" b="0" i="0" dirty="0">
                        <a:effectLst/>
                      </a:endParaRPr>
                    </a:p>
                  </a:txBody>
                  <a:tcPr/>
                </a:tc>
                <a:extLst>
                  <a:ext uri="{0D108BD9-81ED-4DB2-BD59-A6C34878D82A}">
                    <a16:rowId xmlns:a16="http://schemas.microsoft.com/office/drawing/2014/main" val="1720475477"/>
                  </a:ext>
                </a:extLst>
              </a:tr>
              <a:tr h="517539">
                <a:tc>
                  <a:txBody>
                    <a:bodyPr/>
                    <a:lstStyle/>
                    <a:p>
                      <a:pPr algn="ctr" rtl="0" fontAlgn="base"/>
                      <a:r>
                        <a:rPr lang="en-US" sz="1100" b="1" i="0" dirty="0">
                          <a:effectLst/>
                          <a:latin typeface="Bookman Old Style" panose="02050604050505020204" pitchFamily="18" charset="0"/>
                        </a:rPr>
                        <a:t>DASAL (Daily Activity for Soul and Learning)</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reduce bullying incidents in the school and uplift spiritual aspect of the students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fontAlgn="t"/>
                      <a:r>
                        <a:rPr lang="en-US" sz="1100" b="0" i="0" dirty="0">
                          <a:effectLst/>
                          <a:latin typeface="Bookman Old Style" panose="02050604050505020204" pitchFamily="18" charset="0"/>
                        </a:rPr>
                        <a:t>On-going</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Insufficient time to thoroughly explain the presented video.</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Find time once or twice a week where we can have these videos to watch and explain it to learners and get their insights.</a:t>
                      </a:r>
                      <a:endParaRPr lang="en-US" b="0" i="0" dirty="0">
                        <a:effectLst/>
                      </a:endParaRPr>
                    </a:p>
                  </a:txBody>
                  <a:tcPr/>
                </a:tc>
                <a:extLst>
                  <a:ext uri="{0D108BD9-81ED-4DB2-BD59-A6C34878D82A}">
                    <a16:rowId xmlns:a16="http://schemas.microsoft.com/office/drawing/2014/main" val="2085216334"/>
                  </a:ext>
                </a:extLst>
              </a:tr>
              <a:tr h="517539">
                <a:tc>
                  <a:txBody>
                    <a:bodyPr/>
                    <a:lstStyle/>
                    <a:p>
                      <a:pPr algn="ctr" rtl="0" fontAlgn="base"/>
                      <a:r>
                        <a:rPr lang="en-US" sz="1100" b="1" i="0" dirty="0">
                          <a:effectLst/>
                          <a:latin typeface="Bookman Old Style" panose="02050604050505020204" pitchFamily="18" charset="0"/>
                        </a:rPr>
                        <a:t>Go </a:t>
                      </a:r>
                      <a:r>
                        <a:rPr lang="en-US" sz="1100" b="1" i="0" dirty="0" err="1">
                          <a:effectLst/>
                          <a:latin typeface="Bookman Old Style" panose="02050604050505020204" pitchFamily="18" charset="0"/>
                        </a:rPr>
                        <a:t>WInS</a:t>
                      </a:r>
                      <a:r>
                        <a:rPr lang="en-US" sz="1100" b="1" i="0" dirty="0">
                          <a:effectLst/>
                          <a:latin typeface="Bookman Old Style" panose="02050604050505020204" pitchFamily="18" charset="0"/>
                        </a:rPr>
                        <a:t> Together</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educate students on the importance of health and hygiene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On-going</a:t>
                      </a:r>
                    </a:p>
                    <a:p>
                      <a:pPr algn="ctr" rtl="0" fontAlgn="base"/>
                      <a:r>
                        <a:rPr lang="en-US" sz="1100" b="0" i="0" dirty="0">
                          <a:effectLst/>
                          <a:latin typeface="Bookman Old Style" panose="02050604050505020204" pitchFamily="18" charset="0"/>
                        </a:rPr>
                        <a:t>2.82 Star Rating</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Inadequate restroom facilities for males</a:t>
                      </a:r>
                    </a:p>
                    <a:p>
                      <a:pPr algn="ctr" rtl="0" fontAlgn="base"/>
                      <a:r>
                        <a:rPr lang="en-US" sz="1100" b="0" i="0" dirty="0">
                          <a:effectLst/>
                          <a:latin typeface="Bookman Old Style" panose="02050604050505020204" pitchFamily="18" charset="0"/>
                        </a:rPr>
                        <a:t>Limited deworming among students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 Increase the number of stalls and urinals to accommodate the student population and encourage parents to support deworming initiatives by providing them with information and resources.</a:t>
                      </a:r>
                      <a:endParaRPr lang="en-US" b="0" i="0" dirty="0">
                        <a:effectLst/>
                      </a:endParaRPr>
                    </a:p>
                  </a:txBody>
                  <a:tcPr/>
                </a:tc>
                <a:extLst>
                  <a:ext uri="{0D108BD9-81ED-4DB2-BD59-A6C34878D82A}">
                    <a16:rowId xmlns:a16="http://schemas.microsoft.com/office/drawing/2014/main" val="4103720119"/>
                  </a:ext>
                </a:extLst>
              </a:tr>
            </a:tbl>
          </a:graphicData>
        </a:graphic>
      </p:graphicFrame>
      <p:sp>
        <p:nvSpPr>
          <p:cNvPr id="6" name="Rectangle 5">
            <a:extLst>
              <a:ext uri="{FF2B5EF4-FFF2-40B4-BE49-F238E27FC236}">
                <a16:creationId xmlns:a16="http://schemas.microsoft.com/office/drawing/2014/main" id="{48E2E7CF-C451-4FF0-96CC-17AC83B1683D}"/>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
        <p:nvSpPr>
          <p:cNvPr id="7" name="Title 1">
            <a:extLst>
              <a:ext uri="{FF2B5EF4-FFF2-40B4-BE49-F238E27FC236}">
                <a16:creationId xmlns:a16="http://schemas.microsoft.com/office/drawing/2014/main" id="{4AA3E068-3E78-4392-A2A2-2573E7F18978}"/>
              </a:ext>
            </a:extLst>
          </p:cNvPr>
          <p:cNvSpPr txBox="1">
            <a:spLocks/>
          </p:cNvSpPr>
          <p:nvPr/>
        </p:nvSpPr>
        <p:spPr>
          <a:xfrm>
            <a:off x="1474236" y="289251"/>
            <a:ext cx="9879563" cy="1158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PROGRAM, PROJECT and ACTIVITIES (PPA’S)</a:t>
            </a:r>
            <a:endParaRPr lang="en-US" sz="4000" b="1" dirty="0"/>
          </a:p>
        </p:txBody>
      </p:sp>
    </p:spTree>
    <p:extLst>
      <p:ext uri="{BB962C8B-B14F-4D97-AF65-F5344CB8AC3E}">
        <p14:creationId xmlns:p14="http://schemas.microsoft.com/office/powerpoint/2010/main" val="402713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2127979585"/>
              </p:ext>
            </p:extLst>
          </p:nvPr>
        </p:nvGraphicFramePr>
        <p:xfrm>
          <a:off x="354201" y="1810235"/>
          <a:ext cx="10375319" cy="438912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2220131">
                  <a:extLst>
                    <a:ext uri="{9D8B030D-6E8A-4147-A177-3AD203B41FA5}">
                      <a16:colId xmlns:a16="http://schemas.microsoft.com/office/drawing/2014/main" val="1003207929"/>
                    </a:ext>
                  </a:extLst>
                </a:gridCol>
                <a:gridCol w="989901">
                  <a:extLst>
                    <a:ext uri="{9D8B030D-6E8A-4147-A177-3AD203B41FA5}">
                      <a16:colId xmlns:a16="http://schemas.microsoft.com/office/drawing/2014/main" val="2700998931"/>
                    </a:ext>
                  </a:extLst>
                </a:gridCol>
                <a:gridCol w="1476463">
                  <a:extLst>
                    <a:ext uri="{9D8B030D-6E8A-4147-A177-3AD203B41FA5}">
                      <a16:colId xmlns:a16="http://schemas.microsoft.com/office/drawing/2014/main" val="3434829160"/>
                    </a:ext>
                  </a:extLst>
                </a:gridCol>
                <a:gridCol w="2063691">
                  <a:extLst>
                    <a:ext uri="{9D8B030D-6E8A-4147-A177-3AD203B41FA5}">
                      <a16:colId xmlns:a16="http://schemas.microsoft.com/office/drawing/2014/main" val="217078824"/>
                    </a:ext>
                  </a:extLst>
                </a:gridCol>
                <a:gridCol w="1895913">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517539">
                <a:tc>
                  <a:txBody>
                    <a:bodyPr/>
                    <a:lstStyle/>
                    <a:p>
                      <a:pPr algn="ctr" rtl="0" fontAlgn="base"/>
                      <a:r>
                        <a:rPr lang="en-US" sz="1100" b="1" i="0" dirty="0">
                          <a:effectLst/>
                          <a:latin typeface="Bookman Old Style" panose="02050604050505020204" pitchFamily="18" charset="0"/>
                        </a:rPr>
                        <a:t>PROJECT STEMS (Science Teachers Enhancement Materials for Students)</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Enhancement materials for science teachers are resources designed to support teachers in their efforts to teach science effectively and engage and assessed their students in the learning process. These materials are often created to supplement the standard curriculum and provide teachers with additional tools and content to enrich the educational experience</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l"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rtl="0" fontAlgn="base"/>
                      <a:r>
                        <a:rPr lang="en-US" sz="1100" b="0" i="0" kern="1200" dirty="0">
                          <a:solidFill>
                            <a:schemeClr val="dk1"/>
                          </a:solidFill>
                          <a:effectLst/>
                          <a:latin typeface="+mn-lt"/>
                          <a:ea typeface="+mn-ea"/>
                          <a:cs typeface="+mn-cs"/>
                        </a:rPr>
                        <a:t>• Conducted LAC/FGD Sessions of Project STEM</a:t>
                      </a:r>
                    </a:p>
                    <a:p>
                      <a:pPr rtl="0" fontAlgn="base"/>
                      <a:r>
                        <a:rPr lang="en-US" sz="1100" b="0" i="0" kern="1200" dirty="0">
                          <a:solidFill>
                            <a:schemeClr val="dk1"/>
                          </a:solidFill>
                          <a:effectLst/>
                          <a:latin typeface="+mn-lt"/>
                          <a:ea typeface="+mn-ea"/>
                          <a:cs typeface="+mn-cs"/>
                        </a:rPr>
                        <a:t>• Assessed learners’ numeracy and literacy abilities and difficulties through diagnostic Test.</a:t>
                      </a:r>
                    </a:p>
                    <a:p>
                      <a:pPr rtl="0" fontAlgn="base"/>
                      <a:r>
                        <a:rPr lang="en-US" sz="1100" b="0" i="0" kern="1200" dirty="0">
                          <a:solidFill>
                            <a:schemeClr val="dk1"/>
                          </a:solidFill>
                          <a:effectLst/>
                          <a:latin typeface="+mn-lt"/>
                          <a:ea typeface="+mn-ea"/>
                          <a:cs typeface="+mn-cs"/>
                        </a:rPr>
                        <a:t>• Conducted intervention classes  for the students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Student Engagement and </a:t>
                      </a:r>
                    </a:p>
                    <a:p>
                      <a:pPr algn="ctr" rtl="0" fontAlgn="base"/>
                      <a:r>
                        <a:rPr lang="en-US" sz="1100" b="0" i="0" dirty="0">
                          <a:effectLst/>
                          <a:latin typeface="Bookman Old Style" panose="02050604050505020204" pitchFamily="18" charset="0"/>
                        </a:rPr>
                        <a:t>Limited Time</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Conduct quick assessments, quizzes, or recap sessions at the end of each tutorial</a:t>
                      </a:r>
                      <a:endParaRPr lang="en-US" b="0" i="0" dirty="0">
                        <a:effectLst/>
                      </a:endParaRPr>
                    </a:p>
                  </a:txBody>
                  <a:tcPr/>
                </a:tc>
                <a:extLst>
                  <a:ext uri="{0D108BD9-81ED-4DB2-BD59-A6C34878D82A}">
                    <a16:rowId xmlns:a16="http://schemas.microsoft.com/office/drawing/2014/main" val="1720475477"/>
                  </a:ext>
                </a:extLst>
              </a:tr>
              <a:tr h="517539">
                <a:tc>
                  <a:txBody>
                    <a:bodyPr/>
                    <a:lstStyle/>
                    <a:p>
                      <a:pPr algn="ctr" rtl="0" fontAlgn="base"/>
                      <a:r>
                        <a:rPr lang="sv-SE" sz="1100" b="1" i="0" dirty="0">
                          <a:effectLst/>
                          <a:latin typeface="Bookman Old Style" panose="02050604050505020204" pitchFamily="18" charset="0"/>
                        </a:rPr>
                        <a:t>Project TALA (Tanghalan ng Lahi)</a:t>
                      </a:r>
                      <a:r>
                        <a:rPr lang="sv-SE" sz="1100" b="0" i="0" dirty="0">
                          <a:effectLst/>
                          <a:latin typeface="Bookman Old Style" panose="02050604050505020204" pitchFamily="18" charset="0"/>
                        </a:rPr>
                        <a:t> </a:t>
                      </a:r>
                      <a:endParaRPr lang="sv-SE" b="0" i="0" dirty="0">
                        <a:effectLst/>
                      </a:endParaRPr>
                    </a:p>
                  </a:txBody>
                  <a:tcPr/>
                </a:tc>
                <a:tc>
                  <a:txBody>
                    <a:bodyPr/>
                    <a:lstStyle/>
                    <a:p>
                      <a:pPr algn="ctr" rtl="0" fontAlgn="base"/>
                      <a:r>
                        <a:rPr lang="en-US" sz="1100" b="0" i="0" dirty="0">
                          <a:effectLst/>
                          <a:latin typeface="Bookman Old Style" panose="02050604050505020204" pitchFamily="18" charset="0"/>
                        </a:rPr>
                        <a:t>100% of students were able to perform their talents and skills through school program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fontAlgn="t"/>
                      <a:r>
                        <a:rPr lang="en-US" sz="1100" dirty="0">
                          <a:effectLst/>
                        </a:rPr>
                        <a:t>On-going</a:t>
                      </a: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Lack of interest in participating in different activities that showcase their talents and skills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Conduct talent search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Provide workshop </a:t>
                      </a:r>
                      <a:endParaRPr lang="en-US" b="0" i="0" dirty="0">
                        <a:effectLst/>
                      </a:endParaRPr>
                    </a:p>
                  </a:txBody>
                  <a:tcPr/>
                </a:tc>
                <a:extLst>
                  <a:ext uri="{0D108BD9-81ED-4DB2-BD59-A6C34878D82A}">
                    <a16:rowId xmlns:a16="http://schemas.microsoft.com/office/drawing/2014/main" val="3759184317"/>
                  </a:ext>
                </a:extLst>
              </a:tr>
            </a:tbl>
          </a:graphicData>
        </a:graphic>
      </p:graphicFrame>
      <p:sp>
        <p:nvSpPr>
          <p:cNvPr id="5" name="Rectangle 4">
            <a:extLst>
              <a:ext uri="{FF2B5EF4-FFF2-40B4-BE49-F238E27FC236}">
                <a16:creationId xmlns:a16="http://schemas.microsoft.com/office/drawing/2014/main" id="{15C53E1E-07B2-4686-94C7-FD39C75CF2C6}"/>
              </a:ext>
            </a:extLst>
          </p:cNvPr>
          <p:cNvSpPr/>
          <p:nvPr/>
        </p:nvSpPr>
        <p:spPr>
          <a:xfrm>
            <a:off x="0" y="-29888"/>
            <a:ext cx="2757958"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Quality</a:t>
            </a:r>
          </a:p>
        </p:txBody>
      </p:sp>
      <p:sp>
        <p:nvSpPr>
          <p:cNvPr id="7" name="Title 1">
            <a:extLst>
              <a:ext uri="{FF2B5EF4-FFF2-40B4-BE49-F238E27FC236}">
                <a16:creationId xmlns:a16="http://schemas.microsoft.com/office/drawing/2014/main" id="{C871A9AB-586D-4131-A330-C38E0AC3E051}"/>
              </a:ext>
            </a:extLst>
          </p:cNvPr>
          <p:cNvSpPr txBox="1">
            <a:spLocks/>
          </p:cNvSpPr>
          <p:nvPr/>
        </p:nvSpPr>
        <p:spPr>
          <a:xfrm>
            <a:off x="1474236" y="289251"/>
            <a:ext cx="9879563" cy="1158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PROGRAM, PROJECT and ACTIVITIES (PPA’S)</a:t>
            </a:r>
            <a:endParaRPr lang="en-US" sz="4000" b="1" dirty="0"/>
          </a:p>
        </p:txBody>
      </p:sp>
    </p:spTree>
    <p:extLst>
      <p:ext uri="{BB962C8B-B14F-4D97-AF65-F5344CB8AC3E}">
        <p14:creationId xmlns:p14="http://schemas.microsoft.com/office/powerpoint/2010/main" val="147514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352751"/>
            <a:ext cx="8944891" cy="1158843"/>
          </a:xfrm>
        </p:spPr>
        <p:txBody>
          <a:bodyPr>
            <a:noAutofit/>
          </a:bodyPr>
          <a:lstStyle/>
          <a:p>
            <a:r>
              <a:rPr lang="en-US" sz="2800" b="1" dirty="0"/>
              <a:t>Number of learners who reported violence committed against them by other learners </a:t>
            </a:r>
          </a:p>
        </p:txBody>
      </p:sp>
      <p:sp>
        <p:nvSpPr>
          <p:cNvPr id="4" name="Rectangle 3">
            <a:extLst>
              <a:ext uri="{FF2B5EF4-FFF2-40B4-BE49-F238E27FC236}">
                <a16:creationId xmlns:a16="http://schemas.microsoft.com/office/drawing/2014/main" id="{3E5679AE-E114-49EC-8542-D39979B6B4E0}"/>
              </a:ext>
            </a:extLst>
          </p:cNvPr>
          <p:cNvSpPr/>
          <p:nvPr/>
        </p:nvSpPr>
        <p:spPr>
          <a:xfrm>
            <a:off x="0" y="-29888"/>
            <a:ext cx="7150100"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Resiliency and Well-Being</a:t>
            </a:r>
          </a:p>
        </p:txBody>
      </p:sp>
      <p:graphicFrame>
        <p:nvGraphicFramePr>
          <p:cNvPr id="7" name="Chart 6">
            <a:extLst>
              <a:ext uri="{FF2B5EF4-FFF2-40B4-BE49-F238E27FC236}">
                <a16:creationId xmlns:a16="http://schemas.microsoft.com/office/drawing/2014/main" id="{797B649F-CE8A-4FB8-8D0A-E8B7AF9F8C91}"/>
              </a:ext>
            </a:extLst>
          </p:cNvPr>
          <p:cNvGraphicFramePr>
            <a:graphicFrameLocks/>
          </p:cNvGraphicFramePr>
          <p:nvPr>
            <p:extLst>
              <p:ext uri="{D42A27DB-BD31-4B8C-83A1-F6EECF244321}">
                <p14:modId xmlns:p14="http://schemas.microsoft.com/office/powerpoint/2010/main" val="1952744586"/>
              </p:ext>
            </p:extLst>
          </p:nvPr>
        </p:nvGraphicFramePr>
        <p:xfrm>
          <a:off x="292303" y="1621171"/>
          <a:ext cx="10504327" cy="433268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C09ADEF1-B481-4DF1-8022-987E550091A7}"/>
              </a:ext>
            </a:extLst>
          </p:cNvPr>
          <p:cNvSpPr/>
          <p:nvPr/>
        </p:nvSpPr>
        <p:spPr>
          <a:xfrm>
            <a:off x="178670" y="6012580"/>
            <a:ext cx="10731592" cy="707886"/>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4000" dirty="0">
                <a:ln w="0"/>
                <a:effectLst>
                  <a:outerShdw blurRad="38100" dist="19050" dir="2700000" algn="tl" rotWithShape="0">
                    <a:schemeClr val="dk1">
                      <a:alpha val="40000"/>
                    </a:schemeClr>
                  </a:outerShdw>
                </a:effectLst>
              </a:rPr>
              <a:t>No reported incidence of bullying and child abuse.</a:t>
            </a:r>
          </a:p>
        </p:txBody>
      </p:sp>
    </p:spTree>
    <p:extLst>
      <p:ext uri="{BB962C8B-B14F-4D97-AF65-F5344CB8AC3E}">
        <p14:creationId xmlns:p14="http://schemas.microsoft.com/office/powerpoint/2010/main" val="58638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352751"/>
            <a:ext cx="9879563" cy="1158843"/>
          </a:xfrm>
        </p:spPr>
        <p:txBody>
          <a:bodyPr>
            <a:noAutofit/>
          </a:bodyPr>
          <a:lstStyle/>
          <a:p>
            <a:r>
              <a:rPr lang="en-US" sz="5400" b="1" dirty="0"/>
              <a:t>Nutritional Status</a:t>
            </a:r>
          </a:p>
        </p:txBody>
      </p:sp>
      <p:sp>
        <p:nvSpPr>
          <p:cNvPr id="4" name="Rectangle 3">
            <a:extLst>
              <a:ext uri="{FF2B5EF4-FFF2-40B4-BE49-F238E27FC236}">
                <a16:creationId xmlns:a16="http://schemas.microsoft.com/office/drawing/2014/main" id="{3E5679AE-E114-49EC-8542-D39979B6B4E0}"/>
              </a:ext>
            </a:extLst>
          </p:cNvPr>
          <p:cNvSpPr/>
          <p:nvPr/>
        </p:nvSpPr>
        <p:spPr>
          <a:xfrm>
            <a:off x="0" y="-29888"/>
            <a:ext cx="7150100"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Resiliency and Well-Being</a:t>
            </a:r>
          </a:p>
        </p:txBody>
      </p:sp>
      <p:graphicFrame>
        <p:nvGraphicFramePr>
          <p:cNvPr id="7" name="Chart 6">
            <a:extLst>
              <a:ext uri="{FF2B5EF4-FFF2-40B4-BE49-F238E27FC236}">
                <a16:creationId xmlns:a16="http://schemas.microsoft.com/office/drawing/2014/main" id="{5269C21F-5BE5-4CDB-BBFD-57542A62B70F}"/>
              </a:ext>
            </a:extLst>
          </p:cNvPr>
          <p:cNvGraphicFramePr>
            <a:graphicFrameLocks/>
          </p:cNvGraphicFramePr>
          <p:nvPr>
            <p:extLst>
              <p:ext uri="{D42A27DB-BD31-4B8C-83A1-F6EECF244321}">
                <p14:modId xmlns:p14="http://schemas.microsoft.com/office/powerpoint/2010/main" val="4169165177"/>
              </p:ext>
            </p:extLst>
          </p:nvPr>
        </p:nvGraphicFramePr>
        <p:xfrm>
          <a:off x="6096000" y="1644242"/>
          <a:ext cx="4876801" cy="50753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a:extLst>
              <a:ext uri="{FF2B5EF4-FFF2-40B4-BE49-F238E27FC236}">
                <a16:creationId xmlns:a16="http://schemas.microsoft.com/office/drawing/2014/main" id="{2A60C17A-E1BC-4C74-9081-60B506D72668}"/>
              </a:ext>
            </a:extLst>
          </p:cNvPr>
          <p:cNvGraphicFramePr>
            <a:graphicFrameLocks noGrp="1"/>
          </p:cNvGraphicFramePr>
          <p:nvPr>
            <p:extLst>
              <p:ext uri="{D42A27DB-BD31-4B8C-83A1-F6EECF244321}">
                <p14:modId xmlns:p14="http://schemas.microsoft.com/office/powerpoint/2010/main" val="2171810344"/>
              </p:ext>
            </p:extLst>
          </p:nvPr>
        </p:nvGraphicFramePr>
        <p:xfrm>
          <a:off x="82723" y="1859788"/>
          <a:ext cx="5919967" cy="4700234"/>
        </p:xfrm>
        <a:graphic>
          <a:graphicData uri="http://schemas.openxmlformats.org/drawingml/2006/table">
            <a:tbl>
              <a:tblPr>
                <a:tableStyleId>{5C22544A-7EE6-4342-B048-85BDC9FD1C3A}</a:tableStyleId>
              </a:tblPr>
              <a:tblGrid>
                <a:gridCol w="512228">
                  <a:extLst>
                    <a:ext uri="{9D8B030D-6E8A-4147-A177-3AD203B41FA5}">
                      <a16:colId xmlns:a16="http://schemas.microsoft.com/office/drawing/2014/main" val="1150643386"/>
                    </a:ext>
                  </a:extLst>
                </a:gridCol>
                <a:gridCol w="1040463">
                  <a:extLst>
                    <a:ext uri="{9D8B030D-6E8A-4147-A177-3AD203B41FA5}">
                      <a16:colId xmlns:a16="http://schemas.microsoft.com/office/drawing/2014/main" val="3681108210"/>
                    </a:ext>
                  </a:extLst>
                </a:gridCol>
                <a:gridCol w="725656">
                  <a:extLst>
                    <a:ext uri="{9D8B030D-6E8A-4147-A177-3AD203B41FA5}">
                      <a16:colId xmlns:a16="http://schemas.microsoft.com/office/drawing/2014/main" val="1079264553"/>
                    </a:ext>
                  </a:extLst>
                </a:gridCol>
                <a:gridCol w="728324">
                  <a:extLst>
                    <a:ext uri="{9D8B030D-6E8A-4147-A177-3AD203B41FA5}">
                      <a16:colId xmlns:a16="http://schemas.microsoft.com/office/drawing/2014/main" val="489674989"/>
                    </a:ext>
                  </a:extLst>
                </a:gridCol>
                <a:gridCol w="728324">
                  <a:extLst>
                    <a:ext uri="{9D8B030D-6E8A-4147-A177-3AD203B41FA5}">
                      <a16:colId xmlns:a16="http://schemas.microsoft.com/office/drawing/2014/main" val="760024749"/>
                    </a:ext>
                  </a:extLst>
                </a:gridCol>
                <a:gridCol w="728324">
                  <a:extLst>
                    <a:ext uri="{9D8B030D-6E8A-4147-A177-3AD203B41FA5}">
                      <a16:colId xmlns:a16="http://schemas.microsoft.com/office/drawing/2014/main" val="4138703010"/>
                    </a:ext>
                  </a:extLst>
                </a:gridCol>
                <a:gridCol w="728324">
                  <a:extLst>
                    <a:ext uri="{9D8B030D-6E8A-4147-A177-3AD203B41FA5}">
                      <a16:colId xmlns:a16="http://schemas.microsoft.com/office/drawing/2014/main" val="3829321379"/>
                    </a:ext>
                  </a:extLst>
                </a:gridCol>
                <a:gridCol w="728324">
                  <a:extLst>
                    <a:ext uri="{9D8B030D-6E8A-4147-A177-3AD203B41FA5}">
                      <a16:colId xmlns:a16="http://schemas.microsoft.com/office/drawing/2014/main" val="2127097980"/>
                    </a:ext>
                  </a:extLst>
                </a:gridCol>
              </a:tblGrid>
              <a:tr h="483482">
                <a:tc gridSpan="3">
                  <a:txBody>
                    <a:bodyPr/>
                    <a:lstStyle/>
                    <a:p>
                      <a:pPr algn="ctr" fontAlgn="b"/>
                      <a:r>
                        <a:rPr lang="en-US" sz="1100" u="none" strike="noStrike" dirty="0">
                          <a:effectLst/>
                        </a:rPr>
                        <a:t>NUTRITIONAL STATUS 2024-2025</a:t>
                      </a:r>
                      <a:endParaRPr lang="en-US" sz="1100" b="0" i="0" u="none" strike="noStrike" dirty="0">
                        <a:solidFill>
                          <a:srgbClr val="000000"/>
                        </a:solidFill>
                        <a:effectLst/>
                        <a:latin typeface="Calibri" panose="020F0502020204030204" pitchFamily="34" charset="0"/>
                      </a:endParaRPr>
                    </a:p>
                  </a:txBody>
                  <a:tcPr marL="8058" marR="8058" marT="8058" marB="0" anchor="ctr"/>
                </a:tc>
                <a:tc hMerge="1">
                  <a:txBody>
                    <a:bodyPr/>
                    <a:lstStyle/>
                    <a:p>
                      <a:endParaRPr lang="en-US"/>
                    </a:p>
                  </a:txBody>
                  <a:tcPr/>
                </a:tc>
                <a:tc hMerge="1">
                  <a:txBody>
                    <a:bodyPr/>
                    <a:lstStyle/>
                    <a:p>
                      <a:endParaRPr lang="en-US"/>
                    </a:p>
                  </a:txBody>
                  <a:tcPr/>
                </a:tc>
                <a:tc>
                  <a:txBody>
                    <a:bodyPr/>
                    <a:lstStyle/>
                    <a:p>
                      <a:pPr algn="ctr" fontAlgn="ctr"/>
                      <a:r>
                        <a:rPr lang="en-US" sz="1100" u="none" strike="noStrike" dirty="0">
                          <a:effectLst/>
                        </a:rPr>
                        <a:t>Severely Wasted</a:t>
                      </a:r>
                      <a:endParaRPr lang="en-US" sz="1100" b="0" i="0" u="none" strike="noStrike" dirty="0">
                        <a:solidFill>
                          <a:srgbClr val="000000"/>
                        </a:solidFill>
                        <a:effectLst/>
                        <a:latin typeface="Bookman Old Style" panose="02050604050505020204" pitchFamily="18" charset="0"/>
                      </a:endParaRPr>
                    </a:p>
                  </a:txBody>
                  <a:tcPr marL="8058" marR="8058" marT="8058" marB="0" anchor="ctr"/>
                </a:tc>
                <a:tc>
                  <a:txBody>
                    <a:bodyPr/>
                    <a:lstStyle/>
                    <a:p>
                      <a:pPr algn="ctr" fontAlgn="ctr"/>
                      <a:r>
                        <a:rPr lang="en-US" sz="1100" u="none" strike="noStrike">
                          <a:effectLst/>
                        </a:rPr>
                        <a:t>Wasted</a:t>
                      </a:r>
                      <a:endParaRPr lang="en-US" sz="1100" b="0" i="0" u="none" strike="noStrike">
                        <a:solidFill>
                          <a:srgbClr val="000000"/>
                        </a:solidFill>
                        <a:effectLst/>
                        <a:latin typeface="Bookman Old Style" panose="02050604050505020204" pitchFamily="18" charset="0"/>
                      </a:endParaRPr>
                    </a:p>
                  </a:txBody>
                  <a:tcPr marL="8058" marR="8058" marT="8058" marB="0" anchor="ctr"/>
                </a:tc>
                <a:tc>
                  <a:txBody>
                    <a:bodyPr/>
                    <a:lstStyle/>
                    <a:p>
                      <a:pPr algn="ctr" fontAlgn="ctr"/>
                      <a:r>
                        <a:rPr lang="en-US" sz="1100" u="none" strike="noStrike">
                          <a:effectLst/>
                        </a:rPr>
                        <a:t>Normal</a:t>
                      </a:r>
                      <a:endParaRPr lang="en-US" sz="1100" b="0" i="0" u="none" strike="noStrike">
                        <a:solidFill>
                          <a:srgbClr val="000000"/>
                        </a:solidFill>
                        <a:effectLst/>
                        <a:latin typeface="Bookman Old Style" panose="02050604050505020204" pitchFamily="18" charset="0"/>
                      </a:endParaRPr>
                    </a:p>
                  </a:txBody>
                  <a:tcPr marL="8058" marR="8058" marT="8058" marB="0" anchor="ctr"/>
                </a:tc>
                <a:tc>
                  <a:txBody>
                    <a:bodyPr/>
                    <a:lstStyle/>
                    <a:p>
                      <a:pPr algn="ctr" fontAlgn="ctr"/>
                      <a:r>
                        <a:rPr lang="en-US" sz="1100" u="none" strike="noStrike">
                          <a:effectLst/>
                        </a:rPr>
                        <a:t>Overweight</a:t>
                      </a:r>
                      <a:endParaRPr lang="en-US" sz="1100" b="0" i="0" u="none" strike="noStrike">
                        <a:solidFill>
                          <a:srgbClr val="000000"/>
                        </a:solidFill>
                        <a:effectLst/>
                        <a:latin typeface="Bookman Old Style" panose="02050604050505020204" pitchFamily="18" charset="0"/>
                      </a:endParaRPr>
                    </a:p>
                  </a:txBody>
                  <a:tcPr marL="8058" marR="8058" marT="8058" marB="0" anchor="ctr"/>
                </a:tc>
                <a:tc>
                  <a:txBody>
                    <a:bodyPr/>
                    <a:lstStyle/>
                    <a:p>
                      <a:pPr algn="ctr" fontAlgn="ctr"/>
                      <a:r>
                        <a:rPr lang="en-US" sz="1100" u="none" strike="noStrike">
                          <a:effectLst/>
                        </a:rPr>
                        <a:t>Obese</a:t>
                      </a:r>
                      <a:endParaRPr lang="en-US" sz="1100" b="0" i="0" u="none" strike="noStrike">
                        <a:solidFill>
                          <a:srgbClr val="000000"/>
                        </a:solidFill>
                        <a:effectLst/>
                        <a:latin typeface="Bookman Old Style" panose="02050604050505020204" pitchFamily="18" charset="0"/>
                      </a:endParaRPr>
                    </a:p>
                  </a:txBody>
                  <a:tcPr marL="8058" marR="8058" marT="8058" marB="0" anchor="ctr"/>
                </a:tc>
                <a:extLst>
                  <a:ext uri="{0D108BD9-81ED-4DB2-BD59-A6C34878D82A}">
                    <a16:rowId xmlns:a16="http://schemas.microsoft.com/office/drawing/2014/main" val="2324610018"/>
                  </a:ext>
                </a:extLst>
              </a:tr>
              <a:tr h="161161">
                <a:tc rowSpan="8">
                  <a:txBody>
                    <a:bodyPr/>
                    <a:lstStyle/>
                    <a:p>
                      <a:pPr algn="ctr" fontAlgn="ctr"/>
                      <a:r>
                        <a:rPr lang="en-US" sz="1100" u="none" strike="noStrike">
                          <a:effectLst/>
                        </a:rPr>
                        <a:t>1st Quarter</a:t>
                      </a:r>
                      <a:endParaRPr lang="en-US" sz="1100" b="1" i="0" u="none" strike="noStrike">
                        <a:solidFill>
                          <a:srgbClr val="000000"/>
                        </a:solidFill>
                        <a:effectLst/>
                        <a:latin typeface="Calibri" panose="020F0502020204030204" pitchFamily="34" charset="0"/>
                      </a:endParaRPr>
                    </a:p>
                  </a:txBody>
                  <a:tcPr marL="8058" marR="8058" marT="8058" marB="0" anchor="ctr"/>
                </a:tc>
                <a:tc rowSpan="2">
                  <a:txBody>
                    <a:bodyPr/>
                    <a:lstStyle/>
                    <a:p>
                      <a:pPr algn="ctr" fontAlgn="ctr"/>
                      <a:r>
                        <a:rPr lang="en-US" sz="1100" u="none" strike="noStrike">
                          <a:effectLst/>
                        </a:rPr>
                        <a:t>Grade 7</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101</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extLst>
                  <a:ext uri="{0D108BD9-81ED-4DB2-BD59-A6C34878D82A}">
                    <a16:rowId xmlns:a16="http://schemas.microsoft.com/office/drawing/2014/main" val="2287555419"/>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96</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extLst>
                  <a:ext uri="{0D108BD9-81ED-4DB2-BD59-A6C34878D82A}">
                    <a16:rowId xmlns:a16="http://schemas.microsoft.com/office/drawing/2014/main" val="2774123437"/>
                  </a:ext>
                </a:extLst>
              </a:tr>
              <a:tr h="161161">
                <a:tc vMerge="1">
                  <a:txBody>
                    <a:bodyPr/>
                    <a:lstStyle/>
                    <a:p>
                      <a:endParaRPr lang="en-US"/>
                    </a:p>
                  </a:txBody>
                  <a:tcPr/>
                </a:tc>
                <a:tc rowSpan="2">
                  <a:txBody>
                    <a:bodyPr/>
                    <a:lstStyle/>
                    <a:p>
                      <a:pPr algn="ctr" fontAlgn="ctr"/>
                      <a:r>
                        <a:rPr lang="en-US" sz="1100" u="none" strike="noStrike">
                          <a:effectLst/>
                        </a:rPr>
                        <a:t>Grade 8</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7</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1163896639"/>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7</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2548109472"/>
                  </a:ext>
                </a:extLst>
              </a:tr>
              <a:tr h="161161">
                <a:tc vMerge="1">
                  <a:txBody>
                    <a:bodyPr/>
                    <a:lstStyle/>
                    <a:p>
                      <a:endParaRPr lang="en-US"/>
                    </a:p>
                  </a:txBody>
                  <a:tcPr/>
                </a:tc>
                <a:tc rowSpan="2">
                  <a:txBody>
                    <a:bodyPr/>
                    <a:lstStyle/>
                    <a:p>
                      <a:pPr algn="ctr" fontAlgn="ctr"/>
                      <a:r>
                        <a:rPr lang="en-US" sz="1100" u="none" strike="noStrike">
                          <a:effectLst/>
                        </a:rPr>
                        <a:t>Grade 9</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050" u="none" strike="noStrike">
                          <a:effectLst/>
                        </a:rPr>
                        <a:t>1</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8</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56</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3</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2169630296"/>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1469329415"/>
                  </a:ext>
                </a:extLst>
              </a:tr>
              <a:tr h="161161">
                <a:tc vMerge="1">
                  <a:txBody>
                    <a:bodyPr/>
                    <a:lstStyle/>
                    <a:p>
                      <a:endParaRPr lang="en-US"/>
                    </a:p>
                  </a:txBody>
                  <a:tcPr/>
                </a:tc>
                <a:tc rowSpan="2">
                  <a:txBody>
                    <a:bodyPr/>
                    <a:lstStyle/>
                    <a:p>
                      <a:pPr algn="ctr" fontAlgn="ctr"/>
                      <a:r>
                        <a:rPr lang="en-US" sz="1100" u="none" strike="noStrike">
                          <a:effectLst/>
                        </a:rPr>
                        <a:t>Grade 10</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650822917"/>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109749726"/>
                  </a:ext>
                </a:extLst>
              </a:tr>
              <a:tr h="161161">
                <a:tc rowSpan="8">
                  <a:txBody>
                    <a:bodyPr/>
                    <a:lstStyle/>
                    <a:p>
                      <a:pPr algn="ctr" fontAlgn="ctr"/>
                      <a:r>
                        <a:rPr lang="en-US" sz="1100" u="none" strike="noStrike">
                          <a:effectLst/>
                        </a:rPr>
                        <a:t>2nd</a:t>
                      </a:r>
                      <a:endParaRPr lang="en-US" sz="1100" b="1" i="0" u="none" strike="noStrike">
                        <a:solidFill>
                          <a:srgbClr val="000000"/>
                        </a:solidFill>
                        <a:effectLst/>
                        <a:latin typeface="Calibri" panose="020F0502020204030204" pitchFamily="34" charset="0"/>
                      </a:endParaRPr>
                    </a:p>
                  </a:txBody>
                  <a:tcPr marL="8058" marR="8058" marT="8058" marB="0" anchor="ctr"/>
                </a:tc>
                <a:tc rowSpan="2">
                  <a:txBody>
                    <a:bodyPr/>
                    <a:lstStyle/>
                    <a:p>
                      <a:pPr algn="ctr" fontAlgn="ctr"/>
                      <a:r>
                        <a:rPr lang="en-US" sz="1100" u="none" strike="noStrike">
                          <a:effectLst/>
                        </a:rPr>
                        <a:t>Grade 7</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101</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extLst>
                  <a:ext uri="{0D108BD9-81ED-4DB2-BD59-A6C34878D82A}">
                    <a16:rowId xmlns:a16="http://schemas.microsoft.com/office/drawing/2014/main" val="3067568324"/>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96</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extLst>
                  <a:ext uri="{0D108BD9-81ED-4DB2-BD59-A6C34878D82A}">
                    <a16:rowId xmlns:a16="http://schemas.microsoft.com/office/drawing/2014/main" val="2756003122"/>
                  </a:ext>
                </a:extLst>
              </a:tr>
              <a:tr h="161161">
                <a:tc vMerge="1">
                  <a:txBody>
                    <a:bodyPr/>
                    <a:lstStyle/>
                    <a:p>
                      <a:endParaRPr lang="en-US"/>
                    </a:p>
                  </a:txBody>
                  <a:tcPr/>
                </a:tc>
                <a:tc rowSpan="2">
                  <a:txBody>
                    <a:bodyPr/>
                    <a:lstStyle/>
                    <a:p>
                      <a:pPr algn="ctr" fontAlgn="ctr"/>
                      <a:r>
                        <a:rPr lang="en-US" sz="1100" u="none" strike="noStrike">
                          <a:effectLst/>
                        </a:rPr>
                        <a:t>Grade 8</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8</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44728905"/>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7</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791896421"/>
                  </a:ext>
                </a:extLst>
              </a:tr>
              <a:tr h="161161">
                <a:tc vMerge="1">
                  <a:txBody>
                    <a:bodyPr/>
                    <a:lstStyle/>
                    <a:p>
                      <a:endParaRPr lang="en-US"/>
                    </a:p>
                  </a:txBody>
                  <a:tcPr/>
                </a:tc>
                <a:tc rowSpan="2">
                  <a:txBody>
                    <a:bodyPr/>
                    <a:lstStyle/>
                    <a:p>
                      <a:pPr algn="ctr" fontAlgn="ctr"/>
                      <a:r>
                        <a:rPr lang="en-US" sz="1100" u="none" strike="noStrike">
                          <a:effectLst/>
                        </a:rPr>
                        <a:t>Grade 9</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050" u="none" strike="noStrike">
                          <a:effectLst/>
                        </a:rPr>
                        <a:t>1</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8</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56</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3</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2038472888"/>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1743349294"/>
                  </a:ext>
                </a:extLst>
              </a:tr>
              <a:tr h="161161">
                <a:tc vMerge="1">
                  <a:txBody>
                    <a:bodyPr/>
                    <a:lstStyle/>
                    <a:p>
                      <a:endParaRPr lang="en-US"/>
                    </a:p>
                  </a:txBody>
                  <a:tcPr/>
                </a:tc>
                <a:tc rowSpan="2">
                  <a:txBody>
                    <a:bodyPr/>
                    <a:lstStyle/>
                    <a:p>
                      <a:pPr algn="ctr" fontAlgn="ctr"/>
                      <a:r>
                        <a:rPr lang="en-US" sz="1100" u="none" strike="noStrike">
                          <a:effectLst/>
                        </a:rPr>
                        <a:t>Grade 10</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2171077966"/>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4133233251"/>
                  </a:ext>
                </a:extLst>
              </a:tr>
              <a:tr h="161161">
                <a:tc rowSpan="8">
                  <a:txBody>
                    <a:bodyPr/>
                    <a:lstStyle/>
                    <a:p>
                      <a:pPr algn="ctr" fontAlgn="ctr"/>
                      <a:r>
                        <a:rPr lang="en-US" sz="1100" u="none" strike="noStrike">
                          <a:effectLst/>
                        </a:rPr>
                        <a:t>3rd</a:t>
                      </a:r>
                      <a:endParaRPr lang="en-US" sz="1100" b="1" i="0" u="none" strike="noStrike">
                        <a:solidFill>
                          <a:srgbClr val="000000"/>
                        </a:solidFill>
                        <a:effectLst/>
                        <a:latin typeface="Calibri" panose="020F0502020204030204" pitchFamily="34" charset="0"/>
                      </a:endParaRPr>
                    </a:p>
                  </a:txBody>
                  <a:tcPr marL="8058" marR="8058" marT="8058" marB="0" anchor="ctr"/>
                </a:tc>
                <a:tc rowSpan="2">
                  <a:txBody>
                    <a:bodyPr/>
                    <a:lstStyle/>
                    <a:p>
                      <a:pPr algn="ctr" fontAlgn="ctr"/>
                      <a:r>
                        <a:rPr lang="en-US" sz="1100" u="none" strike="noStrike">
                          <a:effectLst/>
                        </a:rPr>
                        <a:t>Grade 7</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101</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extLst>
                  <a:ext uri="{0D108BD9-81ED-4DB2-BD59-A6C34878D82A}">
                    <a16:rowId xmlns:a16="http://schemas.microsoft.com/office/drawing/2014/main" val="132721684"/>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96</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8058" marR="8058" marT="8058" marB="0" anchor="ctr"/>
                </a:tc>
                <a:extLst>
                  <a:ext uri="{0D108BD9-81ED-4DB2-BD59-A6C34878D82A}">
                    <a16:rowId xmlns:a16="http://schemas.microsoft.com/office/drawing/2014/main" val="2279915141"/>
                  </a:ext>
                </a:extLst>
              </a:tr>
              <a:tr h="161161">
                <a:tc vMerge="1">
                  <a:txBody>
                    <a:bodyPr/>
                    <a:lstStyle/>
                    <a:p>
                      <a:endParaRPr lang="en-US"/>
                    </a:p>
                  </a:txBody>
                  <a:tcPr/>
                </a:tc>
                <a:tc rowSpan="2">
                  <a:txBody>
                    <a:bodyPr/>
                    <a:lstStyle/>
                    <a:p>
                      <a:pPr algn="ctr" fontAlgn="ctr"/>
                      <a:r>
                        <a:rPr lang="en-US" sz="1100" u="none" strike="noStrike">
                          <a:effectLst/>
                        </a:rPr>
                        <a:t>Grade 8</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72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176588835"/>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4218786182"/>
                  </a:ext>
                </a:extLst>
              </a:tr>
              <a:tr h="161161">
                <a:tc vMerge="1">
                  <a:txBody>
                    <a:bodyPr/>
                    <a:lstStyle/>
                    <a:p>
                      <a:endParaRPr lang="en-US"/>
                    </a:p>
                  </a:txBody>
                  <a:tcPr/>
                </a:tc>
                <a:tc rowSpan="2">
                  <a:txBody>
                    <a:bodyPr/>
                    <a:lstStyle/>
                    <a:p>
                      <a:pPr algn="ctr" fontAlgn="ctr"/>
                      <a:r>
                        <a:rPr lang="en-US" sz="1100" u="none" strike="noStrike">
                          <a:effectLst/>
                        </a:rPr>
                        <a:t>Grade 9</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050" u="none" strike="noStrike">
                          <a:effectLst/>
                        </a:rPr>
                        <a:t>1</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8</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56</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050" u="none" strike="noStrike">
                          <a:effectLst/>
                        </a:rPr>
                        <a:t>3</a:t>
                      </a:r>
                      <a:endParaRPr lang="en-US" sz="105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3417052046"/>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64</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0</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4169051248"/>
                  </a:ext>
                </a:extLst>
              </a:tr>
              <a:tr h="161161">
                <a:tc vMerge="1">
                  <a:txBody>
                    <a:bodyPr/>
                    <a:lstStyle/>
                    <a:p>
                      <a:endParaRPr lang="en-US"/>
                    </a:p>
                  </a:txBody>
                  <a:tcPr/>
                </a:tc>
                <a:tc rowSpan="2">
                  <a:txBody>
                    <a:bodyPr/>
                    <a:lstStyle/>
                    <a:p>
                      <a:pPr algn="ctr" fontAlgn="ctr"/>
                      <a:r>
                        <a:rPr lang="en-US" sz="1100" u="none" strike="noStrike">
                          <a:effectLst/>
                        </a:rPr>
                        <a:t>Grade 10</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62</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5</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a:t>
                      </a:r>
                      <a:endParaRPr lang="en-US" sz="1100" b="0" i="0" u="none" strike="noStrike">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2122459388"/>
                  </a:ext>
                </a:extLst>
              </a:tr>
              <a:tr h="161161">
                <a:tc vMerge="1">
                  <a:txBody>
                    <a:bodyPr/>
                    <a:lstStyle/>
                    <a:p>
                      <a:endParaRPr lang="en-US"/>
                    </a:p>
                  </a:txBody>
                  <a:tcPr/>
                </a:tc>
                <a:tc vMerge="1">
                  <a:txBody>
                    <a:bodyPr/>
                    <a:lstStyle/>
                    <a:p>
                      <a:endParaRPr lang="en-US"/>
                    </a:p>
                  </a:txBody>
                  <a:tcPr/>
                </a:tc>
                <a:tc>
                  <a:txBody>
                    <a:bodyPr/>
                    <a:lstStyle/>
                    <a:p>
                      <a:pPr algn="ctr" fontAlgn="ctr"/>
                      <a:r>
                        <a:rPr lang="en-US" sz="1100" u="none" strike="noStrike">
                          <a:effectLst/>
                        </a:rPr>
                        <a:t>FEMALE</a:t>
                      </a:r>
                      <a:endParaRPr lang="en-US" sz="1100" b="1" i="0" u="none" strike="noStrike">
                        <a:solidFill>
                          <a:srgbClr val="000000"/>
                        </a:solidFill>
                        <a:effectLst/>
                        <a:latin typeface="Calibri" panose="020F0502020204030204" pitchFamily="34" charset="0"/>
                      </a:endParaRPr>
                    </a:p>
                  </a:txBody>
                  <a:tcPr marL="8058" marR="8058" marT="8058" marB="0" anchor="ctr"/>
                </a:tc>
                <a:tc>
                  <a:txBody>
                    <a:bodyPr/>
                    <a:lstStyle/>
                    <a:p>
                      <a:pPr algn="ctr" fontAlgn="ctr"/>
                      <a:r>
                        <a:rPr lang="en-US" sz="1100" u="none" strike="noStrike">
                          <a:effectLst/>
                        </a:rPr>
                        <a:t>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13</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a:effectLst/>
                        </a:rPr>
                        <a:t>61</a:t>
                      </a:r>
                      <a:endParaRPr lang="en-US" sz="1100" b="0" i="0" u="none" strike="noStrike">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dirty="0">
                          <a:effectLst/>
                        </a:rPr>
                        <a:t>0</a:t>
                      </a:r>
                      <a:endParaRPr lang="en-US" sz="1100" b="0" i="0" u="none" strike="noStrike" dirty="0">
                        <a:solidFill>
                          <a:srgbClr val="000000"/>
                        </a:solidFill>
                        <a:effectLst/>
                        <a:latin typeface="Arial" panose="020B0604020202020204" pitchFamily="34" charset="0"/>
                      </a:endParaRPr>
                    </a:p>
                  </a:txBody>
                  <a:tcPr marL="8058" marR="8058" marT="8058" marB="0" anchor="ctr"/>
                </a:tc>
                <a:tc>
                  <a:txBody>
                    <a:bodyPr/>
                    <a:lstStyle/>
                    <a:p>
                      <a:pPr algn="ctr" fontAlgn="ctr"/>
                      <a:r>
                        <a:rPr lang="en-US" sz="1100" u="none" strike="noStrike" dirty="0">
                          <a:effectLst/>
                        </a:rPr>
                        <a:t>1</a:t>
                      </a:r>
                      <a:endParaRPr lang="en-US" sz="1100" b="0" i="0" u="none" strike="noStrike" dirty="0">
                        <a:solidFill>
                          <a:srgbClr val="000000"/>
                        </a:solidFill>
                        <a:effectLst/>
                        <a:latin typeface="Arial" panose="020B0604020202020204" pitchFamily="34" charset="0"/>
                      </a:endParaRPr>
                    </a:p>
                  </a:txBody>
                  <a:tcPr marL="8058" marR="8058" marT="8058" marB="0" anchor="ctr"/>
                </a:tc>
                <a:extLst>
                  <a:ext uri="{0D108BD9-81ED-4DB2-BD59-A6C34878D82A}">
                    <a16:rowId xmlns:a16="http://schemas.microsoft.com/office/drawing/2014/main" val="3840576226"/>
                  </a:ext>
                </a:extLst>
              </a:tr>
            </a:tbl>
          </a:graphicData>
        </a:graphic>
      </p:graphicFrame>
    </p:spTree>
    <p:extLst>
      <p:ext uri="{BB962C8B-B14F-4D97-AF65-F5344CB8AC3E}">
        <p14:creationId xmlns:p14="http://schemas.microsoft.com/office/powerpoint/2010/main" val="371615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3600017248"/>
              </p:ext>
            </p:extLst>
          </p:nvPr>
        </p:nvGraphicFramePr>
        <p:xfrm>
          <a:off x="159285" y="1592121"/>
          <a:ext cx="10777990" cy="522732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565790">
                  <a:extLst>
                    <a:ext uri="{9D8B030D-6E8A-4147-A177-3AD203B41FA5}">
                      <a16:colId xmlns:a16="http://schemas.microsoft.com/office/drawing/2014/main" val="1003207929"/>
                    </a:ext>
                  </a:extLst>
                </a:gridCol>
                <a:gridCol w="1258349">
                  <a:extLst>
                    <a:ext uri="{9D8B030D-6E8A-4147-A177-3AD203B41FA5}">
                      <a16:colId xmlns:a16="http://schemas.microsoft.com/office/drawing/2014/main" val="2700998931"/>
                    </a:ext>
                  </a:extLst>
                </a:gridCol>
                <a:gridCol w="1333849">
                  <a:extLst>
                    <a:ext uri="{9D8B030D-6E8A-4147-A177-3AD203B41FA5}">
                      <a16:colId xmlns:a16="http://schemas.microsoft.com/office/drawing/2014/main" val="3434829160"/>
                    </a:ext>
                  </a:extLst>
                </a:gridCol>
                <a:gridCol w="2728391">
                  <a:extLst>
                    <a:ext uri="{9D8B030D-6E8A-4147-A177-3AD203B41FA5}">
                      <a16:colId xmlns:a16="http://schemas.microsoft.com/office/drawing/2014/main" val="217078824"/>
                    </a:ext>
                  </a:extLst>
                </a:gridCol>
                <a:gridCol w="2162391">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517539">
                <a:tc>
                  <a:txBody>
                    <a:bodyPr/>
                    <a:lstStyle/>
                    <a:p>
                      <a:pPr algn="ctr" rtl="0" fontAlgn="base"/>
                      <a:r>
                        <a:rPr lang="en-US" sz="1100" b="1" i="0" dirty="0">
                          <a:effectLst/>
                          <a:latin typeface="Bookman Old Style" panose="02050604050505020204" pitchFamily="18" charset="0"/>
                        </a:rPr>
                        <a:t>“Hunger Alleviation and Increase weight through Nutritious food”</a:t>
                      </a:r>
                    </a:p>
                    <a:p>
                      <a:pPr algn="ctr" rtl="0" fontAlgn="base"/>
                      <a:endParaRPr lang="en-US" sz="1100" b="1" i="0" dirty="0">
                        <a:effectLst/>
                        <a:latin typeface="Bookman Old Style" panose="02050604050505020204" pitchFamily="18" charset="0"/>
                      </a:endParaRPr>
                    </a:p>
                    <a:p>
                      <a:pPr algn="ctr" rtl="0" fontAlgn="base"/>
                      <a:r>
                        <a:rPr lang="en-US" sz="1100" b="1" i="0" dirty="0">
                          <a:effectLst/>
                          <a:latin typeface="Bookman Old Style" panose="02050604050505020204" pitchFamily="18" charset="0"/>
                        </a:rPr>
                        <a:t>HAIN</a:t>
                      </a:r>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lessen the number of students that fell under severely wasted category</a:t>
                      </a: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100% of beneficiaries should attain Normal Weight</a:t>
                      </a:r>
                    </a:p>
                  </a:txBody>
                  <a:tcPr/>
                </a:tc>
                <a:tc>
                  <a:txBody>
                    <a:bodyPr/>
                    <a:lstStyle/>
                    <a:p>
                      <a:pPr algn="l" rtl="0" fontAlgn="base"/>
                      <a:r>
                        <a:rPr lang="en-US" sz="1100" b="0" i="0" dirty="0">
                          <a:effectLst/>
                          <a:latin typeface="Bookman Old Style" panose="02050604050505020204" pitchFamily="18" charset="0"/>
                        </a:rPr>
                        <a:t>June 2024-February 2025</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On-going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Insufficient funds to purchase adequate food                           Lack of variety in food available in community market.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Establish partnerships with corporations and businesses for sponsorships and donations.                                                 Provide education to program participants on healthy eating habits and the importance of a balanced diet.</a:t>
                      </a:r>
                      <a:endParaRPr lang="en-US" b="0" i="0" dirty="0">
                        <a:effectLst/>
                      </a:endParaRPr>
                    </a:p>
                  </a:txBody>
                  <a:tcPr/>
                </a:tc>
                <a:extLst>
                  <a:ext uri="{0D108BD9-81ED-4DB2-BD59-A6C34878D82A}">
                    <a16:rowId xmlns:a16="http://schemas.microsoft.com/office/drawing/2014/main" val="1720475477"/>
                  </a:ext>
                </a:extLst>
              </a:tr>
              <a:tr h="723240">
                <a:tc>
                  <a:txBody>
                    <a:bodyPr/>
                    <a:lstStyle/>
                    <a:p>
                      <a:pPr algn="ctr" rtl="0" fontAlgn="base"/>
                      <a:r>
                        <a:rPr lang="en-US" sz="1100" b="1" i="0" dirty="0">
                          <a:effectLst/>
                          <a:latin typeface="Bookman Old Style" panose="02050604050505020204" pitchFamily="18" charset="0"/>
                        </a:rPr>
                        <a:t>RURAL FARM SCHOOL PROJECT HARVESTS (Helping </a:t>
                      </a:r>
                      <a:r>
                        <a:rPr lang="en-US" sz="1100" b="1" i="0" dirty="0" err="1">
                          <a:effectLst/>
                          <a:latin typeface="Bookman Old Style" panose="02050604050505020204" pitchFamily="18" charset="0"/>
                        </a:rPr>
                        <a:t>MaNaHiS</a:t>
                      </a:r>
                      <a:r>
                        <a:rPr lang="en-US" sz="1100" b="1" i="0" dirty="0">
                          <a:effectLst/>
                          <a:latin typeface="Bookman Old Style" panose="02050604050505020204" pitchFamily="18" charset="0"/>
                        </a:rPr>
                        <a:t> Attain Rich-nutrients Vegies and Enhance GPP to Support SBFP Through Stakeholders</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To recover the </a:t>
                      </a:r>
                      <a:r>
                        <a:rPr lang="en-US" sz="1100" b="0" i="0" dirty="0" err="1">
                          <a:effectLst/>
                          <a:latin typeface="Bookman Old Style" panose="02050604050505020204" pitchFamily="18" charset="0"/>
                        </a:rPr>
                        <a:t>MaNaHiS</a:t>
                      </a:r>
                      <a:r>
                        <a:rPr lang="en-US" sz="1100" b="0" i="0" dirty="0">
                          <a:effectLst/>
                          <a:latin typeface="Bookman Old Style" panose="02050604050505020204" pitchFamily="18" charset="0"/>
                        </a:rPr>
                        <a:t> GPP to produce rich-nutrient vegetables to support feeding program.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On-going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Some students choose not to participate due to the following reasons: </a:t>
                      </a:r>
                    </a:p>
                    <a:p>
                      <a:pPr algn="ctr" rtl="0" fontAlgn="base"/>
                      <a:r>
                        <a:rPr lang="en-US" sz="1100" b="0" i="0" dirty="0">
                          <a:effectLst/>
                          <a:latin typeface="Bookman Old Style" panose="02050604050505020204" pitchFamily="18" charset="0"/>
                        </a:rPr>
                        <a:t>Lack of interest in the activity </a:t>
                      </a:r>
                    </a:p>
                    <a:p>
                      <a:pPr algn="ctr" rtl="0" fontAlgn="base"/>
                      <a:r>
                        <a:rPr lang="en-US" sz="1100" b="0" i="0" dirty="0">
                          <a:effectLst/>
                          <a:latin typeface="Bookman Old Style" panose="02050604050505020204" pitchFamily="18" charset="0"/>
                        </a:rPr>
                        <a:t>Time constraints towards co- and extra- curricular activities because of too much prioritization in academic work </a:t>
                      </a:r>
                    </a:p>
                    <a:p>
                      <a:pPr algn="ctr" rtl="0" fontAlgn="base"/>
                      <a:r>
                        <a:rPr lang="en-US" sz="1100" b="0" i="0" dirty="0">
                          <a:effectLst/>
                          <a:latin typeface="Bookman Old Style" panose="02050604050505020204" pitchFamily="18" charset="0"/>
                        </a:rPr>
                        <a:t>Health concerns and medical conditions </a:t>
                      </a:r>
                    </a:p>
                    <a:p>
                      <a:pPr algn="ctr" rtl="0" fontAlgn="base"/>
                      <a:r>
                        <a:rPr lang="en-US" sz="1100" b="0" i="0" dirty="0">
                          <a:effectLst/>
                          <a:latin typeface="Bookman Old Style" panose="02050604050505020204" pitchFamily="18" charset="0"/>
                        </a:rPr>
                        <a:t>Financial constrains associated in the costs of equipment, registration, uniform, allowance, etc.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1.  Incorporate compost, manure, and other organic materials to improve soil structure, water retention, and nutrient content.                                        2.  Involvement of the community, stakeholders, parents and students.</a:t>
                      </a:r>
                      <a:endParaRPr lang="en-US" b="0" i="0" dirty="0">
                        <a:effectLst/>
                      </a:endParaRPr>
                    </a:p>
                  </a:txBody>
                  <a:tcPr/>
                </a:tc>
                <a:extLst>
                  <a:ext uri="{0D108BD9-81ED-4DB2-BD59-A6C34878D82A}">
                    <a16:rowId xmlns:a16="http://schemas.microsoft.com/office/drawing/2014/main" val="4134831497"/>
                  </a:ext>
                </a:extLst>
              </a:tr>
            </a:tbl>
          </a:graphicData>
        </a:graphic>
      </p:graphicFrame>
      <p:sp>
        <p:nvSpPr>
          <p:cNvPr id="4" name="Rectangle 3">
            <a:extLst>
              <a:ext uri="{FF2B5EF4-FFF2-40B4-BE49-F238E27FC236}">
                <a16:creationId xmlns:a16="http://schemas.microsoft.com/office/drawing/2014/main" id="{3E5679AE-E114-49EC-8542-D39979B6B4E0}"/>
              </a:ext>
            </a:extLst>
          </p:cNvPr>
          <p:cNvSpPr/>
          <p:nvPr/>
        </p:nvSpPr>
        <p:spPr>
          <a:xfrm>
            <a:off x="0" y="-29888"/>
            <a:ext cx="7150100"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Resiliency and Well-Being</a:t>
            </a:r>
          </a:p>
        </p:txBody>
      </p:sp>
      <p:sp>
        <p:nvSpPr>
          <p:cNvPr id="7" name="Title 1">
            <a:extLst>
              <a:ext uri="{FF2B5EF4-FFF2-40B4-BE49-F238E27FC236}">
                <a16:creationId xmlns:a16="http://schemas.microsoft.com/office/drawing/2014/main" id="{BF6636A6-8E0D-43D6-ACD5-90338F6DDA36}"/>
              </a:ext>
            </a:extLst>
          </p:cNvPr>
          <p:cNvSpPr>
            <a:spLocks noGrp="1"/>
          </p:cNvSpPr>
          <p:nvPr>
            <p:ph type="title"/>
          </p:nvPr>
        </p:nvSpPr>
        <p:spPr>
          <a:xfrm>
            <a:off x="1474236" y="289251"/>
            <a:ext cx="9879563" cy="1158843"/>
          </a:xfrm>
        </p:spPr>
        <p:txBody>
          <a:bodyPr>
            <a:normAutofit/>
          </a:bodyPr>
          <a:lstStyle/>
          <a:p>
            <a:r>
              <a:rPr lang="en-US" sz="4000" b="1" dirty="0"/>
              <a:t>PROGRAM, PROJECT and ACTIVITIES (PPA’S)</a:t>
            </a:r>
          </a:p>
        </p:txBody>
      </p:sp>
    </p:spTree>
    <p:extLst>
      <p:ext uri="{BB962C8B-B14F-4D97-AF65-F5344CB8AC3E}">
        <p14:creationId xmlns:p14="http://schemas.microsoft.com/office/powerpoint/2010/main" val="324610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1947098149"/>
              </p:ext>
            </p:extLst>
          </p:nvPr>
        </p:nvGraphicFramePr>
        <p:xfrm>
          <a:off x="362590" y="1767233"/>
          <a:ext cx="10375319" cy="4678680"/>
        </p:xfrm>
        <a:graphic>
          <a:graphicData uri="http://schemas.openxmlformats.org/drawingml/2006/table">
            <a:tbl>
              <a:tblPr firstRow="1" bandRow="1">
                <a:tableStyleId>{21E4AEA4-8DFA-4A89-87EB-49C32662AFE0}</a:tableStyleId>
              </a:tblPr>
              <a:tblGrid>
                <a:gridCol w="1729220">
                  <a:extLst>
                    <a:ext uri="{9D8B030D-6E8A-4147-A177-3AD203B41FA5}">
                      <a16:colId xmlns:a16="http://schemas.microsoft.com/office/drawing/2014/main" val="4195980028"/>
                    </a:ext>
                  </a:extLst>
                </a:gridCol>
                <a:gridCol w="1800682">
                  <a:extLst>
                    <a:ext uri="{9D8B030D-6E8A-4147-A177-3AD203B41FA5}">
                      <a16:colId xmlns:a16="http://schemas.microsoft.com/office/drawing/2014/main" val="1003207929"/>
                    </a:ext>
                  </a:extLst>
                </a:gridCol>
                <a:gridCol w="1208014">
                  <a:extLst>
                    <a:ext uri="{9D8B030D-6E8A-4147-A177-3AD203B41FA5}">
                      <a16:colId xmlns:a16="http://schemas.microsoft.com/office/drawing/2014/main" val="2700998931"/>
                    </a:ext>
                  </a:extLst>
                </a:gridCol>
                <a:gridCol w="1174459">
                  <a:extLst>
                    <a:ext uri="{9D8B030D-6E8A-4147-A177-3AD203B41FA5}">
                      <a16:colId xmlns:a16="http://schemas.microsoft.com/office/drawing/2014/main" val="3434829160"/>
                    </a:ext>
                  </a:extLst>
                </a:gridCol>
                <a:gridCol w="2726422">
                  <a:extLst>
                    <a:ext uri="{9D8B030D-6E8A-4147-A177-3AD203B41FA5}">
                      <a16:colId xmlns:a16="http://schemas.microsoft.com/office/drawing/2014/main" val="217078824"/>
                    </a:ext>
                  </a:extLst>
                </a:gridCol>
                <a:gridCol w="1736522">
                  <a:extLst>
                    <a:ext uri="{9D8B030D-6E8A-4147-A177-3AD203B41FA5}">
                      <a16:colId xmlns:a16="http://schemas.microsoft.com/office/drawing/2014/main" val="1743231350"/>
                    </a:ext>
                  </a:extLst>
                </a:gridCol>
              </a:tblGrid>
              <a:tr h="622572">
                <a:tc>
                  <a:txBody>
                    <a:bodyPr/>
                    <a:lstStyle/>
                    <a:p>
                      <a:pPr algn="ctr" rtl="0" fontAlgn="base"/>
                      <a:r>
                        <a:rPr lang="en-US" sz="1600" b="1" dirty="0">
                          <a:effectLst/>
                        </a:rPr>
                        <a:t>Name of Project</a:t>
                      </a:r>
                      <a:r>
                        <a:rPr lang="en-US" sz="1600" b="0" dirty="0">
                          <a:effectLst/>
                        </a:rPr>
                        <a:t> </a:t>
                      </a:r>
                      <a:endParaRPr lang="en-US" sz="2800" b="0" i="0" dirty="0">
                        <a:effectLst/>
                      </a:endParaRPr>
                    </a:p>
                  </a:txBody>
                  <a:tcPr anchor="ctr"/>
                </a:tc>
                <a:tc>
                  <a:txBody>
                    <a:bodyPr/>
                    <a:lstStyle/>
                    <a:p>
                      <a:pPr algn="ctr" rtl="0" fontAlgn="base"/>
                      <a:r>
                        <a:rPr lang="en-US" sz="1600" b="1" dirty="0">
                          <a:effectLst/>
                        </a:rPr>
                        <a:t>Project Objectives and Targets</a:t>
                      </a:r>
                      <a:r>
                        <a:rPr lang="en-US" sz="1600" b="0" dirty="0">
                          <a:effectLst/>
                        </a:rPr>
                        <a:t> </a:t>
                      </a:r>
                      <a:endParaRPr lang="en-US" sz="2800" b="0" i="0" dirty="0">
                        <a:effectLst/>
                      </a:endParaRPr>
                    </a:p>
                  </a:txBody>
                  <a:tcPr anchor="ctr"/>
                </a:tc>
                <a:tc>
                  <a:txBody>
                    <a:bodyPr/>
                    <a:lstStyle/>
                    <a:p>
                      <a:pPr algn="ctr" rtl="0" fontAlgn="base"/>
                      <a:r>
                        <a:rPr lang="en-US" sz="1600" b="1" dirty="0">
                          <a:effectLst/>
                        </a:rPr>
                        <a:t>Date of Monitoring</a:t>
                      </a:r>
                      <a:r>
                        <a:rPr lang="en-US" sz="1600" b="0" dirty="0">
                          <a:effectLst/>
                        </a:rPr>
                        <a:t> </a:t>
                      </a:r>
                      <a:endParaRPr lang="en-US" sz="2800" b="0" i="0" dirty="0">
                        <a:effectLst/>
                      </a:endParaRPr>
                    </a:p>
                  </a:txBody>
                  <a:tcPr anchor="ctr"/>
                </a:tc>
                <a:tc>
                  <a:txBody>
                    <a:bodyPr/>
                    <a:lstStyle/>
                    <a:p>
                      <a:pPr algn="ctr" rtl="0" fontAlgn="base"/>
                      <a:r>
                        <a:rPr lang="en-US" sz="1600" b="1" dirty="0">
                          <a:effectLst/>
                        </a:rPr>
                        <a:t>Accomplishments/</a:t>
                      </a:r>
                      <a:endParaRPr lang="en-US" sz="2800" b="0" dirty="0">
                        <a:effectLst/>
                      </a:endParaRPr>
                    </a:p>
                    <a:p>
                      <a:pPr algn="ctr" rtl="0" fontAlgn="base"/>
                      <a:r>
                        <a:rPr lang="en-US" sz="1600" b="1" dirty="0">
                          <a:effectLst/>
                        </a:rPr>
                        <a:t>Status to Date</a:t>
                      </a:r>
                      <a:r>
                        <a:rPr lang="en-US" sz="1600" b="0" dirty="0">
                          <a:effectLst/>
                        </a:rPr>
                        <a:t> </a:t>
                      </a:r>
                      <a:endParaRPr lang="en-US" sz="2800" b="0" i="0" dirty="0">
                        <a:effectLst/>
                      </a:endParaRPr>
                    </a:p>
                  </a:txBody>
                  <a:tcPr anchor="ctr"/>
                </a:tc>
                <a:tc>
                  <a:txBody>
                    <a:bodyPr/>
                    <a:lstStyle/>
                    <a:p>
                      <a:pPr algn="ctr" rtl="0" fontAlgn="base"/>
                      <a:r>
                        <a:rPr lang="en-US" sz="1600" b="1" dirty="0">
                          <a:effectLst/>
                        </a:rPr>
                        <a:t>Issues/ Problems/ Challenges</a:t>
                      </a:r>
                      <a:r>
                        <a:rPr lang="en-US" sz="1600" b="0" dirty="0">
                          <a:effectLst/>
                        </a:rPr>
                        <a:t> </a:t>
                      </a:r>
                      <a:endParaRPr lang="en-US" sz="2800" b="0" i="0" dirty="0">
                        <a:effectLst/>
                      </a:endParaRPr>
                    </a:p>
                  </a:txBody>
                  <a:tcPr anchor="ctr"/>
                </a:tc>
                <a:tc>
                  <a:txBody>
                    <a:bodyPr/>
                    <a:lstStyle/>
                    <a:p>
                      <a:pPr algn="ctr" rtl="0" fontAlgn="base"/>
                      <a:r>
                        <a:rPr lang="en-US" sz="1600" b="1" dirty="0">
                          <a:effectLst/>
                        </a:rPr>
                        <a:t>Recommendations/ Action Points</a:t>
                      </a:r>
                      <a:r>
                        <a:rPr lang="en-US" sz="1600" b="0" dirty="0">
                          <a:effectLst/>
                        </a:rPr>
                        <a:t> </a:t>
                      </a:r>
                      <a:endParaRPr lang="en-US" sz="2800" b="0" i="0" dirty="0">
                        <a:effectLst/>
                      </a:endParaRPr>
                    </a:p>
                  </a:txBody>
                  <a:tcPr anchor="ctr"/>
                </a:tc>
                <a:extLst>
                  <a:ext uri="{0D108BD9-81ED-4DB2-BD59-A6C34878D82A}">
                    <a16:rowId xmlns:a16="http://schemas.microsoft.com/office/drawing/2014/main" val="1743356970"/>
                  </a:ext>
                </a:extLst>
              </a:tr>
              <a:tr h="517539">
                <a:tc>
                  <a:txBody>
                    <a:bodyPr/>
                    <a:lstStyle/>
                    <a:p>
                      <a:pPr algn="l" rtl="0" fontAlgn="base"/>
                      <a:r>
                        <a:rPr lang="en-US" sz="1100" b="1" i="0" dirty="0">
                          <a:effectLst/>
                          <a:latin typeface="Bookman Old Style" panose="02050604050505020204" pitchFamily="18" charset="0"/>
                        </a:rPr>
                        <a:t>Project SHAPE (Safe, Hazard-Free, Ambient for Progressive Education)</a:t>
                      </a:r>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1" i="0" dirty="0" err="1">
                          <a:effectLst/>
                          <a:latin typeface="Bookman Old Style" panose="02050604050505020204" pitchFamily="18" charset="0"/>
                        </a:rPr>
                        <a:t>Unlad</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Pasilidad</a:t>
                      </a:r>
                      <a:r>
                        <a:rPr lang="en-US" sz="1100" b="1" i="0" dirty="0">
                          <a:effectLst/>
                          <a:latin typeface="Bookman Old Style" panose="02050604050505020204" pitchFamily="18" charset="0"/>
                        </a:rPr>
                        <a:t>: “</a:t>
                      </a:r>
                      <a:r>
                        <a:rPr lang="en-US" sz="1100" b="1" i="0" dirty="0" err="1">
                          <a:effectLst/>
                          <a:latin typeface="Bookman Old Style" panose="02050604050505020204" pitchFamily="18" charset="0"/>
                        </a:rPr>
                        <a:t>Kaligtasan</a:t>
                      </a:r>
                      <a:r>
                        <a:rPr lang="en-US" sz="1100" b="1" i="0" dirty="0">
                          <a:effectLst/>
                          <a:latin typeface="Bookman Old Style" panose="02050604050505020204" pitchFamily="18" charset="0"/>
                        </a:rPr>
                        <a:t> Mo, </a:t>
                      </a:r>
                      <a:r>
                        <a:rPr lang="en-US" sz="1100" b="1" i="0" dirty="0" err="1">
                          <a:effectLst/>
                          <a:latin typeface="Bookman Old Style" panose="02050604050505020204" pitchFamily="18" charset="0"/>
                        </a:rPr>
                        <a:t>Sagot</a:t>
                      </a:r>
                      <a:r>
                        <a:rPr lang="en-US" sz="1100" b="1" i="0" dirty="0">
                          <a:effectLst/>
                          <a:latin typeface="Bookman Old Style" panose="02050604050505020204" pitchFamily="18" charset="0"/>
                        </a:rPr>
                        <a:t> Ko”</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Hazard-Free School and an enjoyable place to dwell in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endParaRPr lang="en-US" sz="1100" b="0" i="0" dirty="0">
                        <a:effectLst/>
                        <a:latin typeface="Bookman Old Style" panose="02050604050505020204" pitchFamily="18" charset="0"/>
                      </a:endParaRPr>
                    </a:p>
                    <a:p>
                      <a:pPr algn="ctr" rtl="0" fontAlgn="base"/>
                      <a:r>
                        <a:rPr lang="en-US" sz="1100" b="0" i="0" dirty="0">
                          <a:effectLst/>
                          <a:latin typeface="Bookman Old Style" panose="02050604050505020204" pitchFamily="18" charset="0"/>
                        </a:rPr>
                        <a:t> </a:t>
                      </a:r>
                      <a:endParaRPr lang="en-US" b="0" i="0" dirty="0">
                        <a:effectLst/>
                      </a:endParaRPr>
                    </a:p>
                    <a:p>
                      <a:pPr algn="ctr" rtl="0" fontAlgn="base"/>
                      <a:r>
                        <a:rPr lang="en-US" sz="1100" b="0" i="0" dirty="0">
                          <a:effectLst/>
                          <a:latin typeface="Bookman Old Style" panose="02050604050505020204" pitchFamily="18" charset="0"/>
                        </a:rPr>
                        <a:t>To acquire instructional room and special rooms as well as other facilities like drainage, fence, transformer, landscape and etc. to ensure safety of the school environment in 3 years </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June 2024-February 2025 </a:t>
                      </a:r>
                      <a:endParaRPr lang="en-US" b="0" i="0" dirty="0">
                        <a:effectLst/>
                      </a:endParaRPr>
                    </a:p>
                    <a:p>
                      <a:pPr algn="ctr" rtl="0" fontAlgn="base"/>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October 2024 - January 2025 - VSR building repaired by PSB through requests and follow-ups.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There are much needed repairs within the premises:                                                        1. Perimeter fences.                                           2. </a:t>
                      </a:r>
                      <a:r>
                        <a:rPr lang="en-US" sz="1100" b="0" i="0" dirty="0" err="1">
                          <a:effectLst/>
                          <a:latin typeface="Bookman Old Style" panose="02050604050505020204" pitchFamily="18" charset="0"/>
                        </a:rPr>
                        <a:t>Delapidated</a:t>
                      </a:r>
                      <a:r>
                        <a:rPr lang="en-US" sz="1100" b="0" i="0" dirty="0">
                          <a:effectLst/>
                          <a:latin typeface="Bookman Old Style" panose="02050604050505020204" pitchFamily="18" charset="0"/>
                        </a:rPr>
                        <a:t> </a:t>
                      </a:r>
                      <a:r>
                        <a:rPr lang="en-US" sz="1100" b="0" i="0" dirty="0" err="1">
                          <a:effectLst/>
                          <a:latin typeface="Bookman Old Style" panose="02050604050505020204" pitchFamily="18" charset="0"/>
                        </a:rPr>
                        <a:t>roofings</a:t>
                      </a:r>
                      <a:r>
                        <a:rPr lang="en-US" sz="1100" b="0" i="0" dirty="0">
                          <a:effectLst/>
                          <a:latin typeface="Bookman Old Style" panose="02050604050505020204" pitchFamily="18" charset="0"/>
                        </a:rPr>
                        <a:t>.                            3. Inadequate electrical supply resulting to burning wires.</a:t>
                      </a:r>
                    </a:p>
                    <a:p>
                      <a:pPr algn="ctr" rtl="0" fontAlgn="base"/>
                      <a:r>
                        <a:rPr lang="en-US" sz="1100" b="0" i="0" dirty="0">
                          <a:effectLst/>
                          <a:latin typeface="Bookman Old Style" panose="02050604050505020204" pitchFamily="18" charset="0"/>
                        </a:rPr>
                        <a:t>4. Overhanging branches from neighboring lots posing a threat to damage to school property.</a:t>
                      </a:r>
                    </a:p>
                    <a:p>
                      <a:pPr algn="ctr" rtl="0" fontAlgn="base"/>
                      <a:r>
                        <a:rPr lang="en-US" sz="1100" b="0" i="0" dirty="0">
                          <a:effectLst/>
                          <a:latin typeface="Bookman Old Style" panose="02050604050505020204" pitchFamily="18" charset="0"/>
                        </a:rPr>
                        <a:t>5. 2  emergency exits in VSR building no gate.                                                            6. 4 FVR Type Buildings for demolition still being used for classrooms.                                                                     7.  HIM Building in need of major repair and maintenance.                         8. Flood prone, no proper drainage.                                          Lack of sufficient Fund to suffice all the needed repairs.  Requested the needed repairs with the </a:t>
                      </a:r>
                      <a:r>
                        <a:rPr lang="en-US" sz="1100" b="0" i="0" dirty="0" err="1">
                          <a:effectLst/>
                          <a:latin typeface="Bookman Old Style" panose="02050604050505020204" pitchFamily="18" charset="0"/>
                        </a:rPr>
                        <a:t>Provicial</a:t>
                      </a:r>
                      <a:r>
                        <a:rPr lang="en-US" sz="1100" b="0" i="0" dirty="0">
                          <a:effectLst/>
                          <a:latin typeface="Bookman Old Style" panose="02050604050505020204" pitchFamily="18" charset="0"/>
                        </a:rPr>
                        <a:t> School Board (PSB) not yet granted</a:t>
                      </a:r>
                      <a:endParaRPr lang="en-US" b="0" i="0" dirty="0">
                        <a:effectLst/>
                      </a:endParaRPr>
                    </a:p>
                  </a:txBody>
                  <a:tcPr/>
                </a:tc>
                <a:tc>
                  <a:txBody>
                    <a:bodyPr/>
                    <a:lstStyle/>
                    <a:p>
                      <a:pPr algn="l" rtl="0" fontAlgn="base"/>
                      <a:r>
                        <a:rPr lang="en-US" sz="1100" b="0" i="0" dirty="0">
                          <a:effectLst/>
                          <a:latin typeface="Bookman Old Style" panose="02050604050505020204" pitchFamily="18" charset="0"/>
                        </a:rPr>
                        <a:t>Allocation / Prioritization of funds (MOOE and SEF)                           Follow-up on the request for repairs from PSB</a:t>
                      </a:r>
                      <a:endParaRPr lang="en-US" b="0" i="0" dirty="0">
                        <a:effectLst/>
                      </a:endParaRPr>
                    </a:p>
                  </a:txBody>
                  <a:tcPr/>
                </a:tc>
                <a:extLst>
                  <a:ext uri="{0D108BD9-81ED-4DB2-BD59-A6C34878D82A}">
                    <a16:rowId xmlns:a16="http://schemas.microsoft.com/office/drawing/2014/main" val="290746461"/>
                  </a:ext>
                </a:extLst>
              </a:tr>
            </a:tbl>
          </a:graphicData>
        </a:graphic>
      </p:graphicFrame>
      <p:sp>
        <p:nvSpPr>
          <p:cNvPr id="4" name="Rectangle 3">
            <a:extLst>
              <a:ext uri="{FF2B5EF4-FFF2-40B4-BE49-F238E27FC236}">
                <a16:creationId xmlns:a16="http://schemas.microsoft.com/office/drawing/2014/main" id="{4E1090D9-35E8-4093-9974-0F9315219458}"/>
              </a:ext>
            </a:extLst>
          </p:cNvPr>
          <p:cNvSpPr/>
          <p:nvPr/>
        </p:nvSpPr>
        <p:spPr>
          <a:xfrm>
            <a:off x="0" y="-29888"/>
            <a:ext cx="7150100" cy="584775"/>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3200" b="1" cap="none" spc="0" dirty="0">
                <a:ln w="22225">
                  <a:solidFill>
                    <a:schemeClr val="tx1"/>
                  </a:solidFill>
                  <a:prstDash val="solid"/>
                </a:ln>
                <a:solidFill>
                  <a:srgbClr val="FF0000"/>
                </a:solidFill>
                <a:effectLst/>
                <a:latin typeface="Gill Sans Ultra Bold" panose="020B0A02020104020203" pitchFamily="34" charset="0"/>
              </a:rPr>
              <a:t>Resiliency and Well-Being</a:t>
            </a:r>
          </a:p>
        </p:txBody>
      </p:sp>
      <p:sp>
        <p:nvSpPr>
          <p:cNvPr id="7" name="Title 1">
            <a:extLst>
              <a:ext uri="{FF2B5EF4-FFF2-40B4-BE49-F238E27FC236}">
                <a16:creationId xmlns:a16="http://schemas.microsoft.com/office/drawing/2014/main" id="{FA0F309D-15D1-4EB4-BC86-84CACDB5E556}"/>
              </a:ext>
            </a:extLst>
          </p:cNvPr>
          <p:cNvSpPr>
            <a:spLocks noGrp="1"/>
          </p:cNvSpPr>
          <p:nvPr>
            <p:ph type="title"/>
          </p:nvPr>
        </p:nvSpPr>
        <p:spPr>
          <a:xfrm>
            <a:off x="1474236" y="289251"/>
            <a:ext cx="9879563" cy="1158843"/>
          </a:xfrm>
        </p:spPr>
        <p:txBody>
          <a:bodyPr>
            <a:normAutofit/>
          </a:bodyPr>
          <a:lstStyle/>
          <a:p>
            <a:r>
              <a:rPr lang="en-US" sz="4000" b="1" dirty="0"/>
              <a:t>PROGRAM, PROJECT and ACTIVITIES (PPA’S)</a:t>
            </a:r>
          </a:p>
        </p:txBody>
      </p:sp>
    </p:spTree>
    <p:extLst>
      <p:ext uri="{BB962C8B-B14F-4D97-AF65-F5344CB8AC3E}">
        <p14:creationId xmlns:p14="http://schemas.microsoft.com/office/powerpoint/2010/main" val="364333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Percentage of Financial Contribution</a:t>
            </a:r>
          </a:p>
        </p:txBody>
      </p:sp>
      <p:sp>
        <p:nvSpPr>
          <p:cNvPr id="10" name="Rectangle 9">
            <a:extLst>
              <a:ext uri="{FF2B5EF4-FFF2-40B4-BE49-F238E27FC236}">
                <a16:creationId xmlns:a16="http://schemas.microsoft.com/office/drawing/2014/main" id="{104568FC-763F-496D-8BB8-110D7F7709C1}"/>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graphicFrame>
        <p:nvGraphicFramePr>
          <p:cNvPr id="8" name="Chart 7">
            <a:extLst>
              <a:ext uri="{FF2B5EF4-FFF2-40B4-BE49-F238E27FC236}">
                <a16:creationId xmlns:a16="http://schemas.microsoft.com/office/drawing/2014/main" id="{399C611C-B777-4DDE-AF78-220323532C9A}"/>
              </a:ext>
            </a:extLst>
          </p:cNvPr>
          <p:cNvGraphicFramePr>
            <a:graphicFrameLocks/>
          </p:cNvGraphicFramePr>
          <p:nvPr>
            <p:extLst>
              <p:ext uri="{D42A27DB-BD31-4B8C-83A1-F6EECF244321}">
                <p14:modId xmlns:p14="http://schemas.microsoft.com/office/powerpoint/2010/main" val="544373462"/>
              </p:ext>
            </p:extLst>
          </p:nvPr>
        </p:nvGraphicFramePr>
        <p:xfrm>
          <a:off x="328888" y="1825956"/>
          <a:ext cx="10427417" cy="47258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297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SBM Level of Practice 2024</a:t>
            </a:r>
          </a:p>
        </p:txBody>
      </p:sp>
      <p:sp>
        <p:nvSpPr>
          <p:cNvPr id="10" name="Rectangle 9">
            <a:extLst>
              <a:ext uri="{FF2B5EF4-FFF2-40B4-BE49-F238E27FC236}">
                <a16:creationId xmlns:a16="http://schemas.microsoft.com/office/drawing/2014/main" id="{104568FC-763F-496D-8BB8-110D7F7709C1}"/>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sp>
        <p:nvSpPr>
          <p:cNvPr id="3" name="TextBox 2">
            <a:extLst>
              <a:ext uri="{FF2B5EF4-FFF2-40B4-BE49-F238E27FC236}">
                <a16:creationId xmlns:a16="http://schemas.microsoft.com/office/drawing/2014/main" id="{E9612212-D32D-43AF-A72C-1D77E52FE658}"/>
              </a:ext>
            </a:extLst>
          </p:cNvPr>
          <p:cNvSpPr txBox="1"/>
          <p:nvPr/>
        </p:nvSpPr>
        <p:spPr>
          <a:xfrm>
            <a:off x="947956" y="2726422"/>
            <a:ext cx="9110444" cy="280076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4400" b="1" dirty="0"/>
              <a:t>SBM Rating: 1.65</a:t>
            </a:r>
          </a:p>
          <a:p>
            <a:pPr algn="ctr"/>
            <a:r>
              <a:rPr lang="en-US" sz="4400" b="1" dirty="0"/>
              <a:t>SBM Level of Practice: MATURING</a:t>
            </a:r>
          </a:p>
          <a:p>
            <a:pPr algn="ctr"/>
            <a:r>
              <a:rPr lang="en-US" sz="4400" b="1" dirty="0"/>
              <a:t>Planned PPAs: To Maintain the SBM Level of Practice in Maturing Level</a:t>
            </a:r>
          </a:p>
        </p:txBody>
      </p:sp>
    </p:spTree>
    <p:extLst>
      <p:ext uri="{BB962C8B-B14F-4D97-AF65-F5344CB8AC3E}">
        <p14:creationId xmlns:p14="http://schemas.microsoft.com/office/powerpoint/2010/main" val="119511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Special Education Fund (SEF) 2024</a:t>
            </a:r>
          </a:p>
        </p:txBody>
      </p:sp>
      <p:graphicFrame>
        <p:nvGraphicFramePr>
          <p:cNvPr id="3" name="Table 3">
            <a:extLst>
              <a:ext uri="{FF2B5EF4-FFF2-40B4-BE49-F238E27FC236}">
                <a16:creationId xmlns:a16="http://schemas.microsoft.com/office/drawing/2014/main" id="{FCD36D7C-83DA-444D-BCE5-E742948642C2}"/>
              </a:ext>
            </a:extLst>
          </p:cNvPr>
          <p:cNvGraphicFramePr>
            <a:graphicFrameLocks noGrp="1"/>
          </p:cNvGraphicFramePr>
          <p:nvPr>
            <p:extLst>
              <p:ext uri="{D42A27DB-BD31-4B8C-83A1-F6EECF244321}">
                <p14:modId xmlns:p14="http://schemas.microsoft.com/office/powerpoint/2010/main" val="3964266254"/>
              </p:ext>
            </p:extLst>
          </p:nvPr>
        </p:nvGraphicFramePr>
        <p:xfrm>
          <a:off x="241300" y="4744720"/>
          <a:ext cx="4419599" cy="1285240"/>
        </p:xfrm>
        <a:graphic>
          <a:graphicData uri="http://schemas.openxmlformats.org/drawingml/2006/table">
            <a:tbl>
              <a:tblPr firstRow="1" bandRow="1">
                <a:tableStyleId>{21E4AEA4-8DFA-4A89-87EB-49C32662AFE0}</a:tableStyleId>
              </a:tblPr>
              <a:tblGrid>
                <a:gridCol w="1676400">
                  <a:extLst>
                    <a:ext uri="{9D8B030D-6E8A-4147-A177-3AD203B41FA5}">
                      <a16:colId xmlns:a16="http://schemas.microsoft.com/office/drawing/2014/main" val="251265404"/>
                    </a:ext>
                  </a:extLst>
                </a:gridCol>
                <a:gridCol w="1473200">
                  <a:extLst>
                    <a:ext uri="{9D8B030D-6E8A-4147-A177-3AD203B41FA5}">
                      <a16:colId xmlns:a16="http://schemas.microsoft.com/office/drawing/2014/main" val="2104284304"/>
                    </a:ext>
                  </a:extLst>
                </a:gridCol>
                <a:gridCol w="1269999">
                  <a:extLst>
                    <a:ext uri="{9D8B030D-6E8A-4147-A177-3AD203B41FA5}">
                      <a16:colId xmlns:a16="http://schemas.microsoft.com/office/drawing/2014/main" val="2739754212"/>
                    </a:ext>
                  </a:extLst>
                </a:gridCol>
              </a:tblGrid>
              <a:tr h="370840">
                <a:tc>
                  <a:txBody>
                    <a:bodyPr/>
                    <a:lstStyle/>
                    <a:p>
                      <a:pPr algn="ctr"/>
                      <a:r>
                        <a:rPr lang="en-US" dirty="0"/>
                        <a:t>TOTAL Fund</a:t>
                      </a:r>
                    </a:p>
                  </a:txBody>
                  <a:tcPr anchor="ctr"/>
                </a:tc>
                <a:tc>
                  <a:txBody>
                    <a:bodyPr/>
                    <a:lstStyle/>
                    <a:p>
                      <a:pPr algn="ctr"/>
                      <a:r>
                        <a:rPr lang="en-US" dirty="0"/>
                        <a:t>Utilized</a:t>
                      </a:r>
                    </a:p>
                  </a:txBody>
                  <a:tcPr anchor="ctr"/>
                </a:tc>
                <a:tc>
                  <a:txBody>
                    <a:bodyPr/>
                    <a:lstStyle/>
                    <a:p>
                      <a:pPr algn="ctr"/>
                      <a:r>
                        <a:rPr lang="en-US" dirty="0"/>
                        <a:t>Percentage of Utilization</a:t>
                      </a:r>
                    </a:p>
                  </a:txBody>
                  <a:tcPr anchor="ctr"/>
                </a:tc>
                <a:extLst>
                  <a:ext uri="{0D108BD9-81ED-4DB2-BD59-A6C34878D82A}">
                    <a16:rowId xmlns:a16="http://schemas.microsoft.com/office/drawing/2014/main" val="1115458568"/>
                  </a:ext>
                </a:extLst>
              </a:tr>
              <a:tr h="370840">
                <a:tc>
                  <a:txBody>
                    <a:bodyPr/>
                    <a:lstStyle/>
                    <a:p>
                      <a:pPr algn="ctr"/>
                      <a:r>
                        <a:rPr lang="en-US" dirty="0"/>
                        <a:t>259,845.84</a:t>
                      </a:r>
                    </a:p>
                  </a:txBody>
                  <a:tcPr anchor="ctr"/>
                </a:tc>
                <a:tc>
                  <a:txBody>
                    <a:bodyPr/>
                    <a:lstStyle/>
                    <a:p>
                      <a:pPr algn="ctr"/>
                      <a:r>
                        <a:rPr lang="en-US" dirty="0"/>
                        <a:t>259,845.84</a:t>
                      </a:r>
                    </a:p>
                  </a:txBody>
                  <a:tcPr anchor="ctr"/>
                </a:tc>
                <a:tc>
                  <a:txBody>
                    <a:bodyPr/>
                    <a:lstStyle/>
                    <a:p>
                      <a:pPr algn="ctr"/>
                      <a:r>
                        <a:rPr lang="en-US" b="1" dirty="0"/>
                        <a:t>100%</a:t>
                      </a:r>
                    </a:p>
                  </a:txBody>
                  <a:tcPr anchor="ctr"/>
                </a:tc>
                <a:extLst>
                  <a:ext uri="{0D108BD9-81ED-4DB2-BD59-A6C34878D82A}">
                    <a16:rowId xmlns:a16="http://schemas.microsoft.com/office/drawing/2014/main" val="2349096952"/>
                  </a:ext>
                </a:extLst>
              </a:tr>
            </a:tbl>
          </a:graphicData>
        </a:graphic>
      </p:graphicFrame>
      <p:graphicFrame>
        <p:nvGraphicFramePr>
          <p:cNvPr id="4" name="Table 3">
            <a:extLst>
              <a:ext uri="{FF2B5EF4-FFF2-40B4-BE49-F238E27FC236}">
                <a16:creationId xmlns:a16="http://schemas.microsoft.com/office/drawing/2014/main" id="{398FD273-CF45-4D4C-9CDD-BCC0598A8300}"/>
              </a:ext>
            </a:extLst>
          </p:cNvPr>
          <p:cNvGraphicFramePr>
            <a:graphicFrameLocks noGrp="1"/>
          </p:cNvGraphicFramePr>
          <p:nvPr>
            <p:extLst>
              <p:ext uri="{D42A27DB-BD31-4B8C-83A1-F6EECF244321}">
                <p14:modId xmlns:p14="http://schemas.microsoft.com/office/powerpoint/2010/main" val="3799275977"/>
              </p:ext>
            </p:extLst>
          </p:nvPr>
        </p:nvGraphicFramePr>
        <p:xfrm>
          <a:off x="279137" y="2062480"/>
          <a:ext cx="4419600" cy="1876425"/>
        </p:xfrm>
        <a:graphic>
          <a:graphicData uri="http://schemas.openxmlformats.org/drawingml/2006/table">
            <a:tbl>
              <a:tblPr>
                <a:tableStyleId>{8A107856-5554-42FB-B03E-39F5DBC370BA}</a:tableStyleId>
              </a:tblPr>
              <a:tblGrid>
                <a:gridCol w="2209800">
                  <a:extLst>
                    <a:ext uri="{9D8B030D-6E8A-4147-A177-3AD203B41FA5}">
                      <a16:colId xmlns:a16="http://schemas.microsoft.com/office/drawing/2014/main" val="834941316"/>
                    </a:ext>
                  </a:extLst>
                </a:gridCol>
                <a:gridCol w="2209800">
                  <a:extLst>
                    <a:ext uri="{9D8B030D-6E8A-4147-A177-3AD203B41FA5}">
                      <a16:colId xmlns:a16="http://schemas.microsoft.com/office/drawing/2014/main" val="3393996952"/>
                    </a:ext>
                  </a:extLst>
                </a:gridCol>
              </a:tblGrid>
              <a:tr h="200025">
                <a:tc>
                  <a:txBody>
                    <a:bodyPr/>
                    <a:lstStyle/>
                    <a:p>
                      <a:pPr algn="ctr" fontAlgn="b"/>
                      <a:r>
                        <a:rPr lang="en-US" sz="2400" b="1" u="none" strike="noStrike" dirty="0">
                          <a:effectLst/>
                        </a:rPr>
                        <a:t>Description</a:t>
                      </a:r>
                      <a:endParaRPr lang="en-US" sz="24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2400" b="1" u="none" strike="noStrike" dirty="0">
                          <a:effectLst/>
                        </a:rPr>
                        <a:t>Amount</a:t>
                      </a:r>
                      <a:endParaRPr lang="en-US" sz="2400" b="1"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488794789"/>
                  </a:ext>
                </a:extLst>
              </a:tr>
              <a:tr h="200025">
                <a:tc>
                  <a:txBody>
                    <a:bodyPr/>
                    <a:lstStyle/>
                    <a:p>
                      <a:pPr algn="ctr" fontAlgn="b"/>
                      <a:r>
                        <a:rPr lang="en-US" sz="1600" u="none" strike="noStrike" dirty="0">
                          <a:effectLst/>
                        </a:rPr>
                        <a:t>Salary and Wages (EMERGENCY) Clerk</a:t>
                      </a:r>
                      <a:endParaRPr lang="en-US" sz="16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1600" u="none" strike="noStrike" dirty="0">
                          <a:effectLst/>
                        </a:rPr>
                        <a:t>120,000.00 </a:t>
                      </a:r>
                      <a:endParaRPr lang="en-US" sz="16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299313054"/>
                  </a:ext>
                </a:extLst>
              </a:tr>
              <a:tr h="200025">
                <a:tc>
                  <a:txBody>
                    <a:bodyPr/>
                    <a:lstStyle/>
                    <a:p>
                      <a:pPr algn="ctr" fontAlgn="b"/>
                      <a:r>
                        <a:rPr lang="en-US" sz="1600" u="none" strike="noStrike" dirty="0">
                          <a:effectLst/>
                        </a:rPr>
                        <a:t>Purchase of Sound System and Portable Speaker</a:t>
                      </a:r>
                    </a:p>
                  </a:txBody>
                  <a:tcPr marL="9525" marR="9525" marT="9525" marB="0" anchor="ctr"/>
                </a:tc>
                <a:tc>
                  <a:txBody>
                    <a:bodyPr/>
                    <a:lstStyle/>
                    <a:p>
                      <a:pPr algn="ctr" fontAlgn="b"/>
                      <a:r>
                        <a:rPr lang="en-US" sz="1600" u="none" strike="noStrike" dirty="0">
                          <a:effectLst/>
                        </a:rPr>
                        <a:t> 49,845.84 </a:t>
                      </a:r>
                    </a:p>
                  </a:txBody>
                  <a:tcPr marL="9525" marR="9525" marT="9525" marB="0" anchor="ctr"/>
                </a:tc>
                <a:extLst>
                  <a:ext uri="{0D108BD9-81ED-4DB2-BD59-A6C34878D82A}">
                    <a16:rowId xmlns:a16="http://schemas.microsoft.com/office/drawing/2014/main" val="3908895566"/>
                  </a:ext>
                </a:extLst>
              </a:tr>
              <a:tr h="182245">
                <a:tc>
                  <a:txBody>
                    <a:bodyPr/>
                    <a:lstStyle/>
                    <a:p>
                      <a:pPr algn="ctr" fontAlgn="b"/>
                      <a:r>
                        <a:rPr lang="en-US" sz="1600" u="none" strike="noStrike" dirty="0">
                          <a:effectLst/>
                        </a:rPr>
                        <a:t>Purchase of Printer</a:t>
                      </a:r>
                      <a:endParaRPr lang="en-US" sz="16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1600" u="none" strike="noStrike" dirty="0">
                          <a:effectLst/>
                        </a:rPr>
                        <a:t> 90,000.00  </a:t>
                      </a:r>
                      <a:endParaRPr lang="en-US" sz="16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3898066315"/>
                  </a:ext>
                </a:extLst>
              </a:tr>
              <a:tr h="200025">
                <a:tc>
                  <a:txBody>
                    <a:bodyPr/>
                    <a:lstStyle/>
                    <a:p>
                      <a:pPr algn="ctr" fontAlgn="b"/>
                      <a:r>
                        <a:rPr lang="en-US" sz="1600" b="1" i="0" u="none" strike="noStrike" dirty="0">
                          <a:solidFill>
                            <a:srgbClr val="000000"/>
                          </a:solidFill>
                          <a:effectLst/>
                          <a:latin typeface="Arial" panose="020B0604020202020204" pitchFamily="34" charset="0"/>
                        </a:rPr>
                        <a:t>TOTAL</a:t>
                      </a:r>
                    </a:p>
                  </a:txBody>
                  <a:tcPr marL="9525" marR="9525" marT="9525" marB="0" anchor="ctr"/>
                </a:tc>
                <a:tc>
                  <a:txBody>
                    <a:bodyPr/>
                    <a:lstStyle/>
                    <a:p>
                      <a:pPr algn="ctr" fontAlgn="b"/>
                      <a:r>
                        <a:rPr lang="en-US" sz="1600" b="1" i="0" u="none" strike="noStrike" dirty="0">
                          <a:solidFill>
                            <a:srgbClr val="000000"/>
                          </a:solidFill>
                          <a:effectLst/>
                          <a:latin typeface="Arial" panose="020B0604020202020204" pitchFamily="34" charset="0"/>
                        </a:rPr>
                        <a:t>259,845.84</a:t>
                      </a:r>
                    </a:p>
                  </a:txBody>
                  <a:tcPr marL="9525" marR="9525" marT="9525" marB="0" anchor="ctr"/>
                </a:tc>
                <a:extLst>
                  <a:ext uri="{0D108BD9-81ED-4DB2-BD59-A6C34878D82A}">
                    <a16:rowId xmlns:a16="http://schemas.microsoft.com/office/drawing/2014/main" val="1947890174"/>
                  </a:ext>
                </a:extLst>
              </a:tr>
            </a:tbl>
          </a:graphicData>
        </a:graphic>
      </p:graphicFrame>
      <p:sp>
        <p:nvSpPr>
          <p:cNvPr id="10" name="Rectangle 9">
            <a:extLst>
              <a:ext uri="{FF2B5EF4-FFF2-40B4-BE49-F238E27FC236}">
                <a16:creationId xmlns:a16="http://schemas.microsoft.com/office/drawing/2014/main" id="{104568FC-763F-496D-8BB8-110D7F7709C1}"/>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graphicFrame>
        <p:nvGraphicFramePr>
          <p:cNvPr id="8" name="Chart 7">
            <a:extLst>
              <a:ext uri="{FF2B5EF4-FFF2-40B4-BE49-F238E27FC236}">
                <a16:creationId xmlns:a16="http://schemas.microsoft.com/office/drawing/2014/main" id="{74393AAB-87E9-487E-87D2-E8B8F57EBDD8}"/>
              </a:ext>
            </a:extLst>
          </p:cNvPr>
          <p:cNvGraphicFramePr/>
          <p:nvPr>
            <p:extLst>
              <p:ext uri="{D42A27DB-BD31-4B8C-83A1-F6EECF244321}">
                <p14:modId xmlns:p14="http://schemas.microsoft.com/office/powerpoint/2010/main" val="1309703175"/>
              </p:ext>
            </p:extLst>
          </p:nvPr>
        </p:nvGraphicFramePr>
        <p:xfrm>
          <a:off x="5029203" y="1604864"/>
          <a:ext cx="6837008" cy="52339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3443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Special Education Fund (SEF) 2025</a:t>
            </a:r>
          </a:p>
        </p:txBody>
      </p:sp>
      <p:graphicFrame>
        <p:nvGraphicFramePr>
          <p:cNvPr id="3" name="Table 3">
            <a:extLst>
              <a:ext uri="{FF2B5EF4-FFF2-40B4-BE49-F238E27FC236}">
                <a16:creationId xmlns:a16="http://schemas.microsoft.com/office/drawing/2014/main" id="{FCD36D7C-83DA-444D-BCE5-E742948642C2}"/>
              </a:ext>
            </a:extLst>
          </p:cNvPr>
          <p:cNvGraphicFramePr>
            <a:graphicFrameLocks noGrp="1"/>
          </p:cNvGraphicFramePr>
          <p:nvPr/>
        </p:nvGraphicFramePr>
        <p:xfrm>
          <a:off x="241300" y="4744720"/>
          <a:ext cx="4419599" cy="1285240"/>
        </p:xfrm>
        <a:graphic>
          <a:graphicData uri="http://schemas.openxmlformats.org/drawingml/2006/table">
            <a:tbl>
              <a:tblPr firstRow="1" bandRow="1">
                <a:tableStyleId>{21E4AEA4-8DFA-4A89-87EB-49C32662AFE0}</a:tableStyleId>
              </a:tblPr>
              <a:tblGrid>
                <a:gridCol w="1676400">
                  <a:extLst>
                    <a:ext uri="{9D8B030D-6E8A-4147-A177-3AD203B41FA5}">
                      <a16:colId xmlns:a16="http://schemas.microsoft.com/office/drawing/2014/main" val="251265404"/>
                    </a:ext>
                  </a:extLst>
                </a:gridCol>
                <a:gridCol w="1473200">
                  <a:extLst>
                    <a:ext uri="{9D8B030D-6E8A-4147-A177-3AD203B41FA5}">
                      <a16:colId xmlns:a16="http://schemas.microsoft.com/office/drawing/2014/main" val="2104284304"/>
                    </a:ext>
                  </a:extLst>
                </a:gridCol>
                <a:gridCol w="1269999">
                  <a:extLst>
                    <a:ext uri="{9D8B030D-6E8A-4147-A177-3AD203B41FA5}">
                      <a16:colId xmlns:a16="http://schemas.microsoft.com/office/drawing/2014/main" val="2739754212"/>
                    </a:ext>
                  </a:extLst>
                </a:gridCol>
              </a:tblGrid>
              <a:tr h="370840">
                <a:tc>
                  <a:txBody>
                    <a:bodyPr/>
                    <a:lstStyle/>
                    <a:p>
                      <a:pPr algn="ctr"/>
                      <a:r>
                        <a:rPr lang="en-US" dirty="0"/>
                        <a:t>TOTAL Fund</a:t>
                      </a:r>
                    </a:p>
                  </a:txBody>
                  <a:tcPr anchor="ctr"/>
                </a:tc>
                <a:tc>
                  <a:txBody>
                    <a:bodyPr/>
                    <a:lstStyle/>
                    <a:p>
                      <a:pPr algn="ctr"/>
                      <a:r>
                        <a:rPr lang="en-US" dirty="0"/>
                        <a:t>Utilized</a:t>
                      </a:r>
                    </a:p>
                  </a:txBody>
                  <a:tcPr anchor="ctr"/>
                </a:tc>
                <a:tc>
                  <a:txBody>
                    <a:bodyPr/>
                    <a:lstStyle/>
                    <a:p>
                      <a:pPr algn="ctr"/>
                      <a:r>
                        <a:rPr lang="en-US" dirty="0"/>
                        <a:t>Percentage of Utilization</a:t>
                      </a:r>
                    </a:p>
                  </a:txBody>
                  <a:tcPr anchor="ctr"/>
                </a:tc>
                <a:extLst>
                  <a:ext uri="{0D108BD9-81ED-4DB2-BD59-A6C34878D82A}">
                    <a16:rowId xmlns:a16="http://schemas.microsoft.com/office/drawing/2014/main" val="1115458568"/>
                  </a:ext>
                </a:extLst>
              </a:tr>
              <a:tr h="370840">
                <a:tc>
                  <a:txBody>
                    <a:bodyPr/>
                    <a:lstStyle/>
                    <a:p>
                      <a:pPr algn="ctr"/>
                      <a:r>
                        <a:rPr lang="en-US" dirty="0"/>
                        <a:t>220,000.00</a:t>
                      </a:r>
                    </a:p>
                  </a:txBody>
                  <a:tcPr anchor="ctr"/>
                </a:tc>
                <a:tc>
                  <a:txBody>
                    <a:bodyPr/>
                    <a:lstStyle/>
                    <a:p>
                      <a:pPr algn="ctr"/>
                      <a:r>
                        <a:rPr lang="en-US" dirty="0"/>
                        <a:t>20,000.00</a:t>
                      </a:r>
                    </a:p>
                  </a:txBody>
                  <a:tcPr anchor="ctr"/>
                </a:tc>
                <a:tc>
                  <a:txBody>
                    <a:bodyPr/>
                    <a:lstStyle/>
                    <a:p>
                      <a:pPr algn="ctr"/>
                      <a:r>
                        <a:rPr lang="en-US" b="1" dirty="0"/>
                        <a:t>9.09%</a:t>
                      </a:r>
                    </a:p>
                  </a:txBody>
                  <a:tcPr anchor="ctr"/>
                </a:tc>
                <a:extLst>
                  <a:ext uri="{0D108BD9-81ED-4DB2-BD59-A6C34878D82A}">
                    <a16:rowId xmlns:a16="http://schemas.microsoft.com/office/drawing/2014/main" val="2349096952"/>
                  </a:ext>
                </a:extLst>
              </a:tr>
            </a:tbl>
          </a:graphicData>
        </a:graphic>
      </p:graphicFrame>
      <p:graphicFrame>
        <p:nvGraphicFramePr>
          <p:cNvPr id="4" name="Table 3">
            <a:extLst>
              <a:ext uri="{FF2B5EF4-FFF2-40B4-BE49-F238E27FC236}">
                <a16:creationId xmlns:a16="http://schemas.microsoft.com/office/drawing/2014/main" id="{398FD273-CF45-4D4C-9CDD-BCC0598A8300}"/>
              </a:ext>
            </a:extLst>
          </p:cNvPr>
          <p:cNvGraphicFramePr>
            <a:graphicFrameLocks noGrp="1"/>
          </p:cNvGraphicFramePr>
          <p:nvPr/>
        </p:nvGraphicFramePr>
        <p:xfrm>
          <a:off x="419098" y="2062480"/>
          <a:ext cx="4419600" cy="1632585"/>
        </p:xfrm>
        <a:graphic>
          <a:graphicData uri="http://schemas.openxmlformats.org/drawingml/2006/table">
            <a:tbl>
              <a:tblPr>
                <a:tableStyleId>{8A107856-5554-42FB-B03E-39F5DBC370BA}</a:tableStyleId>
              </a:tblPr>
              <a:tblGrid>
                <a:gridCol w="2209800">
                  <a:extLst>
                    <a:ext uri="{9D8B030D-6E8A-4147-A177-3AD203B41FA5}">
                      <a16:colId xmlns:a16="http://schemas.microsoft.com/office/drawing/2014/main" val="834941316"/>
                    </a:ext>
                  </a:extLst>
                </a:gridCol>
                <a:gridCol w="2209800">
                  <a:extLst>
                    <a:ext uri="{9D8B030D-6E8A-4147-A177-3AD203B41FA5}">
                      <a16:colId xmlns:a16="http://schemas.microsoft.com/office/drawing/2014/main" val="3393996952"/>
                    </a:ext>
                  </a:extLst>
                </a:gridCol>
              </a:tblGrid>
              <a:tr h="200025">
                <a:tc>
                  <a:txBody>
                    <a:bodyPr/>
                    <a:lstStyle/>
                    <a:p>
                      <a:pPr algn="ctr" fontAlgn="b"/>
                      <a:r>
                        <a:rPr lang="en-US" sz="2400" b="1" u="none" strike="noStrike" dirty="0">
                          <a:effectLst/>
                        </a:rPr>
                        <a:t>Description</a:t>
                      </a:r>
                      <a:endParaRPr lang="en-US" sz="24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2400" b="1" u="none" strike="noStrike" dirty="0">
                          <a:effectLst/>
                        </a:rPr>
                        <a:t>Amount</a:t>
                      </a:r>
                      <a:endParaRPr lang="en-US" sz="2400" b="1"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488794789"/>
                  </a:ext>
                </a:extLst>
              </a:tr>
              <a:tr h="200025">
                <a:tc>
                  <a:txBody>
                    <a:bodyPr/>
                    <a:lstStyle/>
                    <a:p>
                      <a:pPr algn="ctr" fontAlgn="b"/>
                      <a:r>
                        <a:rPr lang="en-US" sz="1600" u="none" strike="noStrike" dirty="0">
                          <a:effectLst/>
                        </a:rPr>
                        <a:t>Salary and Wages (EMERGENCY) Clerk</a:t>
                      </a:r>
                      <a:endParaRPr lang="en-US" sz="16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1600" u="none" strike="noStrike" dirty="0">
                          <a:effectLst/>
                        </a:rPr>
                        <a:t>     20,000.00/120,000.00 </a:t>
                      </a:r>
                      <a:endParaRPr lang="en-US" sz="16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299313054"/>
                  </a:ext>
                </a:extLst>
              </a:tr>
              <a:tr h="200025">
                <a:tc>
                  <a:txBody>
                    <a:bodyPr/>
                    <a:lstStyle/>
                    <a:p>
                      <a:pPr algn="ctr" fontAlgn="b"/>
                      <a:r>
                        <a:rPr lang="en-US" sz="1600" u="none" strike="noStrike" dirty="0">
                          <a:effectLst/>
                        </a:rPr>
                        <a:t>Repair of Electrical Wiring</a:t>
                      </a:r>
                      <a:endParaRPr lang="en-US" sz="16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1600" u="none" strike="noStrike" dirty="0">
                          <a:effectLst/>
                        </a:rPr>
                        <a:t>0.00/80,000.00</a:t>
                      </a:r>
                    </a:p>
                  </a:txBody>
                  <a:tcPr marL="9525" marR="9525" marT="9525" marB="0" anchor="ctr"/>
                </a:tc>
                <a:extLst>
                  <a:ext uri="{0D108BD9-81ED-4DB2-BD59-A6C34878D82A}">
                    <a16:rowId xmlns:a16="http://schemas.microsoft.com/office/drawing/2014/main" val="3908895566"/>
                  </a:ext>
                </a:extLst>
              </a:tr>
              <a:tr h="182245">
                <a:tc>
                  <a:txBody>
                    <a:bodyPr/>
                    <a:lstStyle/>
                    <a:p>
                      <a:pPr algn="ctr" fontAlgn="b"/>
                      <a:r>
                        <a:rPr lang="en-US" sz="1600" u="none" strike="noStrike" dirty="0">
                          <a:effectLst/>
                        </a:rPr>
                        <a:t>Repair of Guidance Office</a:t>
                      </a:r>
                      <a:endParaRPr lang="en-US" sz="16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b"/>
                      <a:r>
                        <a:rPr lang="en-US" sz="1600" u="none" strike="noStrike" dirty="0">
                          <a:effectLst/>
                        </a:rPr>
                        <a:t>0.00/20,000.00 </a:t>
                      </a:r>
                      <a:endParaRPr lang="en-US" sz="16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3898066315"/>
                  </a:ext>
                </a:extLst>
              </a:tr>
              <a:tr h="200025">
                <a:tc>
                  <a:txBody>
                    <a:bodyPr/>
                    <a:lstStyle/>
                    <a:p>
                      <a:pPr algn="ctr" fontAlgn="b"/>
                      <a:r>
                        <a:rPr lang="en-US" sz="1600" b="1" i="0" u="none" strike="noStrike" dirty="0">
                          <a:solidFill>
                            <a:srgbClr val="000000"/>
                          </a:solidFill>
                          <a:effectLst/>
                          <a:latin typeface="Arial" panose="020B0604020202020204" pitchFamily="34" charset="0"/>
                        </a:rPr>
                        <a:t>TOTAL</a:t>
                      </a:r>
                    </a:p>
                  </a:txBody>
                  <a:tcPr marL="9525" marR="9525" marT="9525" marB="0" anchor="ctr"/>
                </a:tc>
                <a:tc>
                  <a:txBody>
                    <a:bodyPr/>
                    <a:lstStyle/>
                    <a:p>
                      <a:pPr algn="ctr" fontAlgn="b"/>
                      <a:r>
                        <a:rPr lang="en-US" sz="1600" b="1" i="0" u="none" strike="noStrike" dirty="0">
                          <a:solidFill>
                            <a:srgbClr val="000000"/>
                          </a:solidFill>
                          <a:effectLst/>
                          <a:latin typeface="Arial" panose="020B0604020202020204" pitchFamily="34" charset="0"/>
                        </a:rPr>
                        <a:t>20,000.00/220,000.00</a:t>
                      </a:r>
                    </a:p>
                  </a:txBody>
                  <a:tcPr marL="9525" marR="9525" marT="9525" marB="0" anchor="ctr"/>
                </a:tc>
                <a:extLst>
                  <a:ext uri="{0D108BD9-81ED-4DB2-BD59-A6C34878D82A}">
                    <a16:rowId xmlns:a16="http://schemas.microsoft.com/office/drawing/2014/main" val="1947890174"/>
                  </a:ext>
                </a:extLst>
              </a:tr>
            </a:tbl>
          </a:graphicData>
        </a:graphic>
      </p:graphicFrame>
      <p:sp>
        <p:nvSpPr>
          <p:cNvPr id="10" name="Rectangle 9">
            <a:extLst>
              <a:ext uri="{FF2B5EF4-FFF2-40B4-BE49-F238E27FC236}">
                <a16:creationId xmlns:a16="http://schemas.microsoft.com/office/drawing/2014/main" id="{104568FC-763F-496D-8BB8-110D7F7709C1}"/>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graphicFrame>
        <p:nvGraphicFramePr>
          <p:cNvPr id="7" name="Chart 6">
            <a:extLst>
              <a:ext uri="{FF2B5EF4-FFF2-40B4-BE49-F238E27FC236}">
                <a16:creationId xmlns:a16="http://schemas.microsoft.com/office/drawing/2014/main" id="{AA078D04-EB90-4760-BC5D-6F9AAA865B4B}"/>
              </a:ext>
            </a:extLst>
          </p:cNvPr>
          <p:cNvGraphicFramePr>
            <a:graphicFrameLocks/>
          </p:cNvGraphicFramePr>
          <p:nvPr/>
        </p:nvGraphicFramePr>
        <p:xfrm>
          <a:off x="3886357" y="1440567"/>
          <a:ext cx="8378890" cy="56730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1833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MOOE Utilizations 2024</a:t>
            </a:r>
          </a:p>
        </p:txBody>
      </p:sp>
      <p:sp>
        <p:nvSpPr>
          <p:cNvPr id="10" name="Rectangle 9">
            <a:extLst>
              <a:ext uri="{FF2B5EF4-FFF2-40B4-BE49-F238E27FC236}">
                <a16:creationId xmlns:a16="http://schemas.microsoft.com/office/drawing/2014/main" id="{104568FC-763F-496D-8BB8-110D7F7709C1}"/>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graphicFrame>
        <p:nvGraphicFramePr>
          <p:cNvPr id="3" name="Table 4">
            <a:extLst>
              <a:ext uri="{FF2B5EF4-FFF2-40B4-BE49-F238E27FC236}">
                <a16:creationId xmlns:a16="http://schemas.microsoft.com/office/drawing/2014/main" id="{FC872C57-8233-46A8-BB22-F8256E0EE898}"/>
              </a:ext>
            </a:extLst>
          </p:cNvPr>
          <p:cNvGraphicFramePr>
            <a:graphicFrameLocks noGrp="1"/>
          </p:cNvGraphicFramePr>
          <p:nvPr>
            <p:extLst>
              <p:ext uri="{D42A27DB-BD31-4B8C-83A1-F6EECF244321}">
                <p14:modId xmlns:p14="http://schemas.microsoft.com/office/powerpoint/2010/main" val="174920748"/>
              </p:ext>
            </p:extLst>
          </p:nvPr>
        </p:nvGraphicFramePr>
        <p:xfrm>
          <a:off x="251923" y="1507819"/>
          <a:ext cx="10692879" cy="914400"/>
        </p:xfrm>
        <a:graphic>
          <a:graphicData uri="http://schemas.openxmlformats.org/drawingml/2006/table">
            <a:tbl>
              <a:tblPr firstRow="1" bandRow="1">
                <a:tableStyleId>{21E4AEA4-8DFA-4A89-87EB-49C32662AFE0}</a:tableStyleId>
              </a:tblPr>
              <a:tblGrid>
                <a:gridCol w="3564293">
                  <a:extLst>
                    <a:ext uri="{9D8B030D-6E8A-4147-A177-3AD203B41FA5}">
                      <a16:colId xmlns:a16="http://schemas.microsoft.com/office/drawing/2014/main" val="198002121"/>
                    </a:ext>
                  </a:extLst>
                </a:gridCol>
                <a:gridCol w="3564293">
                  <a:extLst>
                    <a:ext uri="{9D8B030D-6E8A-4147-A177-3AD203B41FA5}">
                      <a16:colId xmlns:a16="http://schemas.microsoft.com/office/drawing/2014/main" val="2954456063"/>
                    </a:ext>
                  </a:extLst>
                </a:gridCol>
                <a:gridCol w="3564293">
                  <a:extLst>
                    <a:ext uri="{9D8B030D-6E8A-4147-A177-3AD203B41FA5}">
                      <a16:colId xmlns:a16="http://schemas.microsoft.com/office/drawing/2014/main" val="3683010612"/>
                    </a:ext>
                  </a:extLst>
                </a:gridCol>
              </a:tblGrid>
              <a:tr h="406203">
                <a:tc>
                  <a:txBody>
                    <a:bodyPr/>
                    <a:lstStyle/>
                    <a:p>
                      <a:pPr algn="ctr"/>
                      <a:r>
                        <a:rPr lang="en-US" sz="2400" dirty="0"/>
                        <a:t>TOTAL MOOE</a:t>
                      </a:r>
                    </a:p>
                  </a:txBody>
                  <a:tcPr anchor="ctr"/>
                </a:tc>
                <a:tc>
                  <a:txBody>
                    <a:bodyPr/>
                    <a:lstStyle/>
                    <a:p>
                      <a:pPr algn="ctr"/>
                      <a:r>
                        <a:rPr lang="en-US" sz="2400" dirty="0"/>
                        <a:t>Utilized</a:t>
                      </a:r>
                    </a:p>
                  </a:txBody>
                  <a:tcPr anchor="ctr"/>
                </a:tc>
                <a:tc>
                  <a:txBody>
                    <a:bodyPr/>
                    <a:lstStyle/>
                    <a:p>
                      <a:pPr algn="ctr"/>
                      <a:r>
                        <a:rPr lang="en-US" sz="2400" dirty="0"/>
                        <a:t>Percentage of Utilization</a:t>
                      </a:r>
                    </a:p>
                  </a:txBody>
                  <a:tcPr anchor="ctr"/>
                </a:tc>
                <a:extLst>
                  <a:ext uri="{0D108BD9-81ED-4DB2-BD59-A6C34878D82A}">
                    <a16:rowId xmlns:a16="http://schemas.microsoft.com/office/drawing/2014/main" val="2354689350"/>
                  </a:ext>
                </a:extLst>
              </a:tr>
              <a:tr h="406203">
                <a:tc>
                  <a:txBody>
                    <a:bodyPr/>
                    <a:lstStyle/>
                    <a:p>
                      <a:pPr algn="ctr"/>
                      <a:r>
                        <a:rPr lang="en-US" sz="2400" dirty="0"/>
                        <a:t>1,197,000.00</a:t>
                      </a:r>
                    </a:p>
                  </a:txBody>
                  <a:tcPr/>
                </a:tc>
                <a:tc>
                  <a:txBody>
                    <a:bodyPr/>
                    <a:lstStyle/>
                    <a:p>
                      <a:pPr algn="ctr"/>
                      <a:r>
                        <a:rPr lang="en-US" sz="2400" dirty="0"/>
                        <a:t>1,174,336.88 </a:t>
                      </a:r>
                    </a:p>
                  </a:txBody>
                  <a:tcPr/>
                </a:tc>
                <a:tc>
                  <a:txBody>
                    <a:bodyPr/>
                    <a:lstStyle/>
                    <a:p>
                      <a:pPr algn="ctr"/>
                      <a:r>
                        <a:rPr lang="en-US" sz="2400" dirty="0"/>
                        <a:t>98.11%</a:t>
                      </a:r>
                    </a:p>
                  </a:txBody>
                  <a:tcPr/>
                </a:tc>
                <a:extLst>
                  <a:ext uri="{0D108BD9-81ED-4DB2-BD59-A6C34878D82A}">
                    <a16:rowId xmlns:a16="http://schemas.microsoft.com/office/drawing/2014/main" val="2127859926"/>
                  </a:ext>
                </a:extLst>
              </a:tr>
            </a:tbl>
          </a:graphicData>
        </a:graphic>
      </p:graphicFrame>
      <p:graphicFrame>
        <p:nvGraphicFramePr>
          <p:cNvPr id="6" name="Chart 5">
            <a:extLst>
              <a:ext uri="{FF2B5EF4-FFF2-40B4-BE49-F238E27FC236}">
                <a16:creationId xmlns:a16="http://schemas.microsoft.com/office/drawing/2014/main" id="{4398DE44-E2EC-48FD-809A-7E8E46B7C7CD}"/>
              </a:ext>
            </a:extLst>
          </p:cNvPr>
          <p:cNvGraphicFramePr>
            <a:graphicFrameLocks/>
          </p:cNvGraphicFramePr>
          <p:nvPr>
            <p:extLst>
              <p:ext uri="{D42A27DB-BD31-4B8C-83A1-F6EECF244321}">
                <p14:modId xmlns:p14="http://schemas.microsoft.com/office/powerpoint/2010/main" val="1509021923"/>
              </p:ext>
            </p:extLst>
          </p:nvPr>
        </p:nvGraphicFramePr>
        <p:xfrm>
          <a:off x="251923" y="2468874"/>
          <a:ext cx="10692879" cy="431448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959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56B-8CA3-4DFD-8827-C60695C4001B}"/>
              </a:ext>
            </a:extLst>
          </p:cNvPr>
          <p:cNvSpPr>
            <a:spLocks noGrp="1"/>
          </p:cNvSpPr>
          <p:nvPr>
            <p:ph type="title"/>
          </p:nvPr>
        </p:nvSpPr>
        <p:spPr>
          <a:xfrm>
            <a:off x="1474236" y="289251"/>
            <a:ext cx="9879563" cy="1158843"/>
          </a:xfrm>
        </p:spPr>
        <p:txBody>
          <a:bodyPr/>
          <a:lstStyle/>
          <a:p>
            <a:r>
              <a:rPr lang="en-US" b="1" dirty="0"/>
              <a:t>MOOE Utilizations 2025</a:t>
            </a:r>
          </a:p>
        </p:txBody>
      </p:sp>
      <p:sp>
        <p:nvSpPr>
          <p:cNvPr id="10" name="Rectangle 9">
            <a:extLst>
              <a:ext uri="{FF2B5EF4-FFF2-40B4-BE49-F238E27FC236}">
                <a16:creationId xmlns:a16="http://schemas.microsoft.com/office/drawing/2014/main" id="{104568FC-763F-496D-8BB8-110D7F7709C1}"/>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graphicFrame>
        <p:nvGraphicFramePr>
          <p:cNvPr id="5" name="Table 4">
            <a:extLst>
              <a:ext uri="{FF2B5EF4-FFF2-40B4-BE49-F238E27FC236}">
                <a16:creationId xmlns:a16="http://schemas.microsoft.com/office/drawing/2014/main" id="{BCFE3268-F20E-4760-9A74-0C463498C25F}"/>
              </a:ext>
            </a:extLst>
          </p:cNvPr>
          <p:cNvGraphicFramePr>
            <a:graphicFrameLocks noGrp="1"/>
          </p:cNvGraphicFramePr>
          <p:nvPr>
            <p:extLst>
              <p:ext uri="{D42A27DB-BD31-4B8C-83A1-F6EECF244321}">
                <p14:modId xmlns:p14="http://schemas.microsoft.com/office/powerpoint/2010/main" val="95027646"/>
              </p:ext>
            </p:extLst>
          </p:nvPr>
        </p:nvGraphicFramePr>
        <p:xfrm>
          <a:off x="251923" y="1507819"/>
          <a:ext cx="10692879" cy="914400"/>
        </p:xfrm>
        <a:graphic>
          <a:graphicData uri="http://schemas.openxmlformats.org/drawingml/2006/table">
            <a:tbl>
              <a:tblPr firstRow="1" bandRow="1">
                <a:tableStyleId>{21E4AEA4-8DFA-4A89-87EB-49C32662AFE0}</a:tableStyleId>
              </a:tblPr>
              <a:tblGrid>
                <a:gridCol w="3564293">
                  <a:extLst>
                    <a:ext uri="{9D8B030D-6E8A-4147-A177-3AD203B41FA5}">
                      <a16:colId xmlns:a16="http://schemas.microsoft.com/office/drawing/2014/main" val="198002121"/>
                    </a:ext>
                  </a:extLst>
                </a:gridCol>
                <a:gridCol w="3564293">
                  <a:extLst>
                    <a:ext uri="{9D8B030D-6E8A-4147-A177-3AD203B41FA5}">
                      <a16:colId xmlns:a16="http://schemas.microsoft.com/office/drawing/2014/main" val="2954456063"/>
                    </a:ext>
                  </a:extLst>
                </a:gridCol>
                <a:gridCol w="3564293">
                  <a:extLst>
                    <a:ext uri="{9D8B030D-6E8A-4147-A177-3AD203B41FA5}">
                      <a16:colId xmlns:a16="http://schemas.microsoft.com/office/drawing/2014/main" val="3683010612"/>
                    </a:ext>
                  </a:extLst>
                </a:gridCol>
              </a:tblGrid>
              <a:tr h="406203">
                <a:tc>
                  <a:txBody>
                    <a:bodyPr/>
                    <a:lstStyle/>
                    <a:p>
                      <a:pPr algn="ctr"/>
                      <a:r>
                        <a:rPr lang="en-US" sz="2400" dirty="0"/>
                        <a:t>TOTAL MOOE</a:t>
                      </a:r>
                    </a:p>
                  </a:txBody>
                  <a:tcPr anchor="ctr"/>
                </a:tc>
                <a:tc>
                  <a:txBody>
                    <a:bodyPr/>
                    <a:lstStyle/>
                    <a:p>
                      <a:pPr algn="ctr"/>
                      <a:r>
                        <a:rPr lang="en-US" sz="2400" dirty="0"/>
                        <a:t>Utilized</a:t>
                      </a:r>
                    </a:p>
                  </a:txBody>
                  <a:tcPr anchor="ctr"/>
                </a:tc>
                <a:tc>
                  <a:txBody>
                    <a:bodyPr/>
                    <a:lstStyle/>
                    <a:p>
                      <a:pPr algn="ctr"/>
                      <a:r>
                        <a:rPr lang="en-US" sz="2400" dirty="0"/>
                        <a:t>Percentage of Utilization</a:t>
                      </a:r>
                    </a:p>
                  </a:txBody>
                  <a:tcPr anchor="ctr"/>
                </a:tc>
                <a:extLst>
                  <a:ext uri="{0D108BD9-81ED-4DB2-BD59-A6C34878D82A}">
                    <a16:rowId xmlns:a16="http://schemas.microsoft.com/office/drawing/2014/main" val="2354689350"/>
                  </a:ext>
                </a:extLst>
              </a:tr>
              <a:tr h="406203">
                <a:tc>
                  <a:txBody>
                    <a:bodyPr/>
                    <a:lstStyle/>
                    <a:p>
                      <a:pPr algn="ctr"/>
                      <a:r>
                        <a:rPr lang="en-US" sz="2400" dirty="0"/>
                        <a:t>1,197,000.00</a:t>
                      </a:r>
                    </a:p>
                  </a:txBody>
                  <a:tcPr/>
                </a:tc>
                <a:tc>
                  <a:txBody>
                    <a:bodyPr/>
                    <a:lstStyle/>
                    <a:p>
                      <a:pPr algn="ctr"/>
                      <a:r>
                        <a:rPr lang="en-US" sz="2400" dirty="0"/>
                        <a:t>1,454,000.00  </a:t>
                      </a:r>
                    </a:p>
                  </a:txBody>
                  <a:tcPr/>
                </a:tc>
                <a:tc>
                  <a:txBody>
                    <a:bodyPr/>
                    <a:lstStyle/>
                    <a:p>
                      <a:pPr algn="ctr"/>
                      <a:r>
                        <a:rPr lang="en-US" sz="2400" dirty="0"/>
                        <a:t>13.18%</a:t>
                      </a:r>
                    </a:p>
                  </a:txBody>
                  <a:tcPr/>
                </a:tc>
                <a:extLst>
                  <a:ext uri="{0D108BD9-81ED-4DB2-BD59-A6C34878D82A}">
                    <a16:rowId xmlns:a16="http://schemas.microsoft.com/office/drawing/2014/main" val="2127859926"/>
                  </a:ext>
                </a:extLst>
              </a:tr>
            </a:tbl>
          </a:graphicData>
        </a:graphic>
      </p:graphicFrame>
      <p:graphicFrame>
        <p:nvGraphicFramePr>
          <p:cNvPr id="6" name="Chart 5">
            <a:extLst>
              <a:ext uri="{FF2B5EF4-FFF2-40B4-BE49-F238E27FC236}">
                <a16:creationId xmlns:a16="http://schemas.microsoft.com/office/drawing/2014/main" id="{54A98990-C7E5-4C77-AE7B-06003BEE54E8}"/>
              </a:ext>
            </a:extLst>
          </p:cNvPr>
          <p:cNvGraphicFramePr>
            <a:graphicFrameLocks/>
          </p:cNvGraphicFramePr>
          <p:nvPr>
            <p:extLst>
              <p:ext uri="{D42A27DB-BD31-4B8C-83A1-F6EECF244321}">
                <p14:modId xmlns:p14="http://schemas.microsoft.com/office/powerpoint/2010/main" val="1670702642"/>
              </p:ext>
            </p:extLst>
          </p:nvPr>
        </p:nvGraphicFramePr>
        <p:xfrm>
          <a:off x="251923" y="2481944"/>
          <a:ext cx="10692879" cy="42454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12563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B73572E-BC1F-4695-8EB5-4D017A08A197}"/>
              </a:ext>
            </a:extLst>
          </p:cNvPr>
          <p:cNvGraphicFramePr>
            <a:graphicFrameLocks noGrp="1"/>
          </p:cNvGraphicFramePr>
          <p:nvPr>
            <p:extLst>
              <p:ext uri="{D42A27DB-BD31-4B8C-83A1-F6EECF244321}">
                <p14:modId xmlns:p14="http://schemas.microsoft.com/office/powerpoint/2010/main" val="1952800822"/>
              </p:ext>
            </p:extLst>
          </p:nvPr>
        </p:nvGraphicFramePr>
        <p:xfrm>
          <a:off x="354201" y="1810235"/>
          <a:ext cx="10375319" cy="3124200"/>
        </p:xfrm>
        <a:graphic>
          <a:graphicData uri="http://schemas.openxmlformats.org/drawingml/2006/table">
            <a:tbl>
              <a:tblPr firstRow="1" bandRow="1">
                <a:tableStyleId>{21E4AEA4-8DFA-4A89-87EB-49C32662AFE0}</a:tableStyleId>
              </a:tblPr>
              <a:tblGrid>
                <a:gridCol w="1088705">
                  <a:extLst>
                    <a:ext uri="{9D8B030D-6E8A-4147-A177-3AD203B41FA5}">
                      <a16:colId xmlns:a16="http://schemas.microsoft.com/office/drawing/2014/main" val="4195980028"/>
                    </a:ext>
                  </a:extLst>
                </a:gridCol>
                <a:gridCol w="1249960">
                  <a:extLst>
                    <a:ext uri="{9D8B030D-6E8A-4147-A177-3AD203B41FA5}">
                      <a16:colId xmlns:a16="http://schemas.microsoft.com/office/drawing/2014/main" val="1003207929"/>
                    </a:ext>
                  </a:extLst>
                </a:gridCol>
                <a:gridCol w="1342239">
                  <a:extLst>
                    <a:ext uri="{9D8B030D-6E8A-4147-A177-3AD203B41FA5}">
                      <a16:colId xmlns:a16="http://schemas.microsoft.com/office/drawing/2014/main" val="2700998931"/>
                    </a:ext>
                  </a:extLst>
                </a:gridCol>
                <a:gridCol w="3833768">
                  <a:extLst>
                    <a:ext uri="{9D8B030D-6E8A-4147-A177-3AD203B41FA5}">
                      <a16:colId xmlns:a16="http://schemas.microsoft.com/office/drawing/2014/main" val="3434829160"/>
                    </a:ext>
                  </a:extLst>
                </a:gridCol>
                <a:gridCol w="1476463">
                  <a:extLst>
                    <a:ext uri="{9D8B030D-6E8A-4147-A177-3AD203B41FA5}">
                      <a16:colId xmlns:a16="http://schemas.microsoft.com/office/drawing/2014/main" val="217078824"/>
                    </a:ext>
                  </a:extLst>
                </a:gridCol>
                <a:gridCol w="1384184">
                  <a:extLst>
                    <a:ext uri="{9D8B030D-6E8A-4147-A177-3AD203B41FA5}">
                      <a16:colId xmlns:a16="http://schemas.microsoft.com/office/drawing/2014/main" val="1743231350"/>
                    </a:ext>
                  </a:extLst>
                </a:gridCol>
              </a:tblGrid>
              <a:tr h="901196">
                <a:tc>
                  <a:txBody>
                    <a:bodyPr/>
                    <a:lstStyle/>
                    <a:p>
                      <a:pPr algn="ctr" rtl="0" fontAlgn="base"/>
                      <a:r>
                        <a:rPr lang="en-US" sz="1800" b="1" dirty="0">
                          <a:effectLst/>
                        </a:rPr>
                        <a:t>Name of Project</a:t>
                      </a:r>
                      <a:r>
                        <a:rPr lang="en-US" sz="1800" b="0" dirty="0">
                          <a:effectLst/>
                        </a:rPr>
                        <a:t> </a:t>
                      </a:r>
                      <a:endParaRPr lang="en-US" sz="3200" b="0" i="0" dirty="0">
                        <a:effectLst/>
                      </a:endParaRPr>
                    </a:p>
                  </a:txBody>
                  <a:tcPr anchor="ctr"/>
                </a:tc>
                <a:tc>
                  <a:txBody>
                    <a:bodyPr/>
                    <a:lstStyle/>
                    <a:p>
                      <a:pPr algn="ctr" rtl="0" fontAlgn="base"/>
                      <a:r>
                        <a:rPr lang="en-US" sz="1800" b="1" dirty="0">
                          <a:effectLst/>
                        </a:rPr>
                        <a:t>Project Objectives and Targets</a:t>
                      </a:r>
                      <a:r>
                        <a:rPr lang="en-US" sz="1800" b="0" dirty="0">
                          <a:effectLst/>
                        </a:rPr>
                        <a:t> </a:t>
                      </a:r>
                      <a:endParaRPr lang="en-US" sz="3200" b="0" i="0" dirty="0">
                        <a:effectLst/>
                      </a:endParaRPr>
                    </a:p>
                  </a:txBody>
                  <a:tcPr anchor="ctr"/>
                </a:tc>
                <a:tc>
                  <a:txBody>
                    <a:bodyPr/>
                    <a:lstStyle/>
                    <a:p>
                      <a:pPr algn="ctr" rtl="0" fontAlgn="base"/>
                      <a:r>
                        <a:rPr lang="en-US" sz="1800" b="1" dirty="0">
                          <a:effectLst/>
                        </a:rPr>
                        <a:t>Date of Monitoring</a:t>
                      </a:r>
                      <a:r>
                        <a:rPr lang="en-US" sz="1800" b="0" dirty="0">
                          <a:effectLst/>
                        </a:rPr>
                        <a:t> </a:t>
                      </a:r>
                      <a:endParaRPr lang="en-US" sz="3200" b="0" i="0" dirty="0">
                        <a:effectLst/>
                      </a:endParaRPr>
                    </a:p>
                  </a:txBody>
                  <a:tcPr anchor="ctr"/>
                </a:tc>
                <a:tc>
                  <a:txBody>
                    <a:bodyPr/>
                    <a:lstStyle/>
                    <a:p>
                      <a:pPr algn="ctr" rtl="0" fontAlgn="base"/>
                      <a:r>
                        <a:rPr lang="en-US" sz="1800" b="1" dirty="0">
                          <a:effectLst/>
                        </a:rPr>
                        <a:t>Accomplishments/</a:t>
                      </a:r>
                      <a:endParaRPr lang="en-US" sz="3200" b="0" dirty="0">
                        <a:effectLst/>
                      </a:endParaRPr>
                    </a:p>
                    <a:p>
                      <a:pPr algn="ctr" rtl="0" fontAlgn="base"/>
                      <a:r>
                        <a:rPr lang="en-US" sz="1800" b="1" dirty="0">
                          <a:effectLst/>
                        </a:rPr>
                        <a:t>Status to Date</a:t>
                      </a:r>
                      <a:r>
                        <a:rPr lang="en-US" sz="1800" b="0" dirty="0">
                          <a:effectLst/>
                        </a:rPr>
                        <a:t> </a:t>
                      </a:r>
                      <a:endParaRPr lang="en-US" sz="3200" b="0" i="0" dirty="0">
                        <a:effectLst/>
                      </a:endParaRPr>
                    </a:p>
                  </a:txBody>
                  <a:tcPr anchor="ctr"/>
                </a:tc>
                <a:tc>
                  <a:txBody>
                    <a:bodyPr/>
                    <a:lstStyle/>
                    <a:p>
                      <a:pPr algn="ctr" rtl="0" fontAlgn="base"/>
                      <a:r>
                        <a:rPr lang="en-US" sz="1800" b="1" dirty="0">
                          <a:effectLst/>
                        </a:rPr>
                        <a:t>Issues/ Problems/ Challenges</a:t>
                      </a:r>
                      <a:r>
                        <a:rPr lang="en-US" sz="1800" b="0" dirty="0">
                          <a:effectLst/>
                        </a:rPr>
                        <a:t> </a:t>
                      </a:r>
                      <a:endParaRPr lang="en-US" sz="3200" b="0" i="0" dirty="0">
                        <a:effectLst/>
                      </a:endParaRPr>
                    </a:p>
                  </a:txBody>
                  <a:tcPr anchor="ctr"/>
                </a:tc>
                <a:tc>
                  <a:txBody>
                    <a:bodyPr/>
                    <a:lstStyle/>
                    <a:p>
                      <a:pPr algn="ctr" rtl="0" fontAlgn="base"/>
                      <a:r>
                        <a:rPr lang="en-US" sz="1800" b="1" dirty="0">
                          <a:effectLst/>
                        </a:rPr>
                        <a:t>Recommendations/ Action Points</a:t>
                      </a:r>
                      <a:r>
                        <a:rPr lang="en-US" sz="1800" b="0" dirty="0">
                          <a:effectLst/>
                        </a:rPr>
                        <a:t> </a:t>
                      </a:r>
                      <a:endParaRPr lang="en-US" sz="3200" b="0" i="0" dirty="0">
                        <a:effectLst/>
                      </a:endParaRPr>
                    </a:p>
                  </a:txBody>
                  <a:tcPr anchor="ctr"/>
                </a:tc>
                <a:extLst>
                  <a:ext uri="{0D108BD9-81ED-4DB2-BD59-A6C34878D82A}">
                    <a16:rowId xmlns:a16="http://schemas.microsoft.com/office/drawing/2014/main" val="1743356970"/>
                  </a:ext>
                </a:extLst>
              </a:tr>
              <a:tr h="517539">
                <a:tc>
                  <a:txBody>
                    <a:bodyPr/>
                    <a:lstStyle/>
                    <a:p>
                      <a:pPr algn="ctr" rtl="0" fontAlgn="base"/>
                      <a:r>
                        <a:rPr lang="en-US" sz="1100" b="1" i="0" dirty="0">
                          <a:effectLst/>
                          <a:latin typeface="Bookman Old Style" panose="02050604050505020204" pitchFamily="18" charset="0"/>
                        </a:rPr>
                        <a:t>CPP LEVEL UP</a:t>
                      </a:r>
                      <a:r>
                        <a:rPr lang="en-US" sz="1100" b="0" i="0" dirty="0">
                          <a:effectLst/>
                          <a:latin typeface="Bookman Old Style" panose="02050604050505020204" pitchFamily="18" charset="0"/>
                        </a:rPr>
                        <a:t>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Develop good partnership among our stakeholders </a:t>
                      </a:r>
                      <a:endParaRPr lang="en-US" b="0" i="0" dirty="0">
                        <a:effectLst/>
                      </a:endParaRPr>
                    </a:p>
                    <a:p>
                      <a:pPr algn="ctr" rtl="0" fontAlgn="base"/>
                      <a:r>
                        <a:rPr lang="en-US" sz="1100" b="0" i="0" dirty="0">
                          <a:effectLst/>
                          <a:latin typeface="Bookman Old Style" panose="02050604050505020204" pitchFamily="18" charset="0"/>
                        </a:rPr>
                        <a:t>1.Survey </a:t>
                      </a:r>
                      <a:endParaRPr lang="en-US" b="0" i="0" dirty="0">
                        <a:effectLst/>
                      </a:endParaRPr>
                    </a:p>
                    <a:p>
                      <a:pPr algn="ctr" rtl="0" fontAlgn="base"/>
                      <a:r>
                        <a:rPr lang="en-US" sz="1100" b="0" i="0" dirty="0">
                          <a:effectLst/>
                          <a:latin typeface="Bookman Old Style" panose="02050604050505020204" pitchFamily="18" charset="0"/>
                        </a:rPr>
                        <a:t>2.Mapping </a:t>
                      </a:r>
                      <a:endParaRPr lang="en-US" b="0" i="0" dirty="0">
                        <a:effectLst/>
                      </a:endParaRPr>
                    </a:p>
                    <a:p>
                      <a:pPr algn="ctr" rtl="0" fontAlgn="base"/>
                      <a:r>
                        <a:rPr lang="en-US" sz="1100" b="0" i="0" dirty="0">
                          <a:effectLst/>
                          <a:latin typeface="Bookman Old Style" panose="02050604050505020204" pitchFamily="18" charset="0"/>
                        </a:rPr>
                        <a:t>3.Consultative assembly </a:t>
                      </a:r>
                      <a:endParaRPr lang="en-US" b="0" i="0" dirty="0">
                        <a:effectLst/>
                      </a:endParaRPr>
                    </a:p>
                    <a:p>
                      <a:pPr algn="ctr" rtl="0" fontAlgn="base"/>
                      <a:r>
                        <a:rPr lang="en-US" sz="1100" b="0" i="0" dirty="0">
                          <a:effectLst/>
                          <a:latin typeface="Bookman Old Style" panose="02050604050505020204" pitchFamily="18" charset="0"/>
                        </a:rPr>
                        <a:t>4.Monitoring of HR Meeting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June 2024-February 2025</a:t>
                      </a:r>
                      <a:endParaRPr lang="en-US" b="0" i="0" dirty="0">
                        <a:effectLst/>
                      </a:endParaRPr>
                    </a:p>
                  </a:txBody>
                  <a:tcPr/>
                </a:tc>
                <a:tc>
                  <a:txBody>
                    <a:bodyPr/>
                    <a:lstStyle/>
                    <a:p>
                      <a:pPr rtl="0" fontAlgn="base"/>
                      <a:r>
                        <a:rPr lang="en-PH" sz="1100" b="1" i="0" kern="1200" dirty="0">
                          <a:solidFill>
                            <a:schemeClr val="dk1"/>
                          </a:solidFill>
                          <a:effectLst/>
                          <a:latin typeface="Bookman Old Style" panose="02050604050505020204" pitchFamily="18" charset="0"/>
                          <a:ea typeface="+mn-ea"/>
                          <a:cs typeface="+mn-cs"/>
                        </a:rPr>
                        <a:t>(74%)</a:t>
                      </a:r>
                      <a:r>
                        <a:rPr lang="en-PH" sz="1100" b="0" i="0" kern="1200" dirty="0">
                          <a:solidFill>
                            <a:schemeClr val="dk1"/>
                          </a:solidFill>
                          <a:effectLst/>
                          <a:latin typeface="Bookman Old Style" panose="02050604050505020204" pitchFamily="18" charset="0"/>
                          <a:ea typeface="+mn-ea"/>
                          <a:cs typeface="+mn-cs"/>
                        </a:rPr>
                        <a:t> of the parent’s population of all grade levels participated. Due to conflict of time and schedule and the distance of their home to school.</a:t>
                      </a:r>
                      <a:r>
                        <a:rPr lang="en-US" sz="1100" b="0" i="0" kern="1200" dirty="0">
                          <a:solidFill>
                            <a:schemeClr val="dk1"/>
                          </a:solidFill>
                          <a:effectLst/>
                          <a:latin typeface="Bookman Old Style" panose="02050604050505020204" pitchFamily="18" charset="0"/>
                          <a:ea typeface="+mn-ea"/>
                          <a:cs typeface="+mn-cs"/>
                        </a:rPr>
                        <a:t> </a:t>
                      </a:r>
                    </a:p>
                    <a:p>
                      <a:pPr rtl="0" fontAlgn="base"/>
                      <a:endParaRPr lang="en-US" sz="1100" b="0" i="0" kern="1200" dirty="0">
                        <a:solidFill>
                          <a:schemeClr val="dk1"/>
                        </a:solidFill>
                        <a:effectLst/>
                        <a:latin typeface="Bookman Old Style" panose="02050604050505020204" pitchFamily="18" charset="0"/>
                        <a:ea typeface="+mn-ea"/>
                        <a:cs typeface="+mn-cs"/>
                      </a:endParaRPr>
                    </a:p>
                    <a:p>
                      <a:pPr rtl="0" fontAlgn="base"/>
                      <a:r>
                        <a:rPr lang="en-PH" sz="1100" b="0" i="0" kern="1200" dirty="0">
                          <a:solidFill>
                            <a:schemeClr val="dk1"/>
                          </a:solidFill>
                          <a:effectLst/>
                          <a:latin typeface="Bookman Old Style" panose="02050604050505020204" pitchFamily="18" charset="0"/>
                          <a:ea typeface="+mn-ea"/>
                          <a:cs typeface="+mn-cs"/>
                        </a:rPr>
                        <a:t>During the Matabungkay National High School Drum and Lyre Band Organization (</a:t>
                      </a:r>
                      <a:r>
                        <a:rPr lang="en-PH" sz="1100" b="0" i="0" kern="1200" dirty="0" err="1">
                          <a:solidFill>
                            <a:schemeClr val="dk1"/>
                          </a:solidFill>
                          <a:effectLst/>
                          <a:latin typeface="Bookman Old Style" panose="02050604050505020204" pitchFamily="18" charset="0"/>
                          <a:ea typeface="+mn-ea"/>
                          <a:cs typeface="+mn-cs"/>
                        </a:rPr>
                        <a:t>MaDaLBO</a:t>
                      </a:r>
                      <a:r>
                        <a:rPr lang="en-PH" sz="1100" b="0" i="0" kern="1200" dirty="0">
                          <a:solidFill>
                            <a:schemeClr val="dk1"/>
                          </a:solidFill>
                          <a:effectLst/>
                          <a:latin typeface="Bookman Old Style" panose="02050604050505020204" pitchFamily="18" charset="0"/>
                          <a:ea typeface="+mn-ea"/>
                          <a:cs typeface="+mn-cs"/>
                        </a:rPr>
                        <a:t>) Parent’s Consultative meeting, </a:t>
                      </a:r>
                      <a:r>
                        <a:rPr lang="en-PH" sz="1100" b="1" i="0" kern="1200" dirty="0">
                          <a:solidFill>
                            <a:schemeClr val="dk1"/>
                          </a:solidFill>
                          <a:effectLst/>
                          <a:latin typeface="Bookman Old Style" panose="02050604050505020204" pitchFamily="18" charset="0"/>
                          <a:ea typeface="+mn-ea"/>
                          <a:cs typeface="+mn-cs"/>
                        </a:rPr>
                        <a:t>100%</a:t>
                      </a:r>
                      <a:r>
                        <a:rPr lang="en-PH" sz="1100" b="0" i="0" kern="1200" dirty="0">
                          <a:solidFill>
                            <a:schemeClr val="dk1"/>
                          </a:solidFill>
                          <a:effectLst/>
                          <a:latin typeface="Bookman Old Style" panose="02050604050505020204" pitchFamily="18" charset="0"/>
                          <a:ea typeface="+mn-ea"/>
                          <a:cs typeface="+mn-cs"/>
                        </a:rPr>
                        <a:t> of the parents attended that lead to the success of the meeting.</a:t>
                      </a:r>
                    </a:p>
                    <a:p>
                      <a:pPr rtl="0" fontAlgn="base"/>
                      <a:r>
                        <a:rPr lang="en-US" sz="1100" b="0" i="0" kern="1200" dirty="0">
                          <a:solidFill>
                            <a:schemeClr val="dk1"/>
                          </a:solidFill>
                          <a:effectLst/>
                          <a:latin typeface="Bookman Old Style" panose="02050604050505020204" pitchFamily="18" charset="0"/>
                          <a:ea typeface="+mn-ea"/>
                          <a:cs typeface="+mn-cs"/>
                        </a:rPr>
                        <a:t> </a:t>
                      </a:r>
                    </a:p>
                    <a:p>
                      <a:pPr rtl="0" fontAlgn="base"/>
                      <a:r>
                        <a:rPr lang="en-PH" sz="1100" b="0" i="0" kern="1200" dirty="0">
                          <a:solidFill>
                            <a:schemeClr val="dk1"/>
                          </a:solidFill>
                          <a:effectLst/>
                          <a:latin typeface="Bookman Old Style" panose="02050604050505020204" pitchFamily="18" charset="0"/>
                          <a:ea typeface="+mn-ea"/>
                          <a:cs typeface="+mn-cs"/>
                        </a:rPr>
                        <a:t>Only </a:t>
                      </a:r>
                      <a:r>
                        <a:rPr lang="en-PH" sz="1100" b="1" i="0" kern="1200" dirty="0">
                          <a:solidFill>
                            <a:schemeClr val="dk1"/>
                          </a:solidFill>
                          <a:effectLst/>
                          <a:latin typeface="Bookman Old Style" panose="02050604050505020204" pitchFamily="18" charset="0"/>
                          <a:ea typeface="+mn-ea"/>
                          <a:cs typeface="+mn-cs"/>
                        </a:rPr>
                        <a:t>46%</a:t>
                      </a:r>
                      <a:r>
                        <a:rPr lang="en-PH" sz="1100" b="0" i="0" kern="1200" dirty="0">
                          <a:solidFill>
                            <a:schemeClr val="dk1"/>
                          </a:solidFill>
                          <a:effectLst/>
                          <a:latin typeface="Bookman Old Style" panose="02050604050505020204" pitchFamily="18" charset="0"/>
                          <a:ea typeface="+mn-ea"/>
                          <a:cs typeface="+mn-cs"/>
                        </a:rPr>
                        <a:t> of our parent’s population attended the previous meeting – General Assembly.</a:t>
                      </a:r>
                      <a:r>
                        <a:rPr lang="en-US" sz="1100" b="0" i="0" kern="1200" dirty="0">
                          <a:solidFill>
                            <a:schemeClr val="dk1"/>
                          </a:solidFill>
                          <a:effectLst/>
                          <a:latin typeface="Bookman Old Style" panose="02050604050505020204" pitchFamily="18" charset="0"/>
                          <a:ea typeface="+mn-ea"/>
                          <a:cs typeface="+mn-cs"/>
                        </a:rPr>
                        <a:t> </a:t>
                      </a:r>
                    </a:p>
                  </a:txBody>
                  <a:tcPr/>
                </a:tc>
                <a:tc>
                  <a:txBody>
                    <a:bodyPr/>
                    <a:lstStyle/>
                    <a:p>
                      <a:pPr algn="ctr" rtl="0" fontAlgn="base"/>
                      <a:r>
                        <a:rPr lang="en-US" sz="1100" b="0" i="0" dirty="0">
                          <a:effectLst/>
                          <a:latin typeface="Bookman Old Style" panose="02050604050505020204" pitchFamily="18" charset="0"/>
                        </a:rPr>
                        <a:t>1.limited resources </a:t>
                      </a:r>
                      <a:endParaRPr lang="en-US" b="0" i="0" dirty="0">
                        <a:effectLst/>
                      </a:endParaRPr>
                    </a:p>
                    <a:p>
                      <a:pPr algn="ctr" rtl="0" fontAlgn="base"/>
                      <a:r>
                        <a:rPr lang="en-US" sz="1100" b="0" i="0" dirty="0">
                          <a:effectLst/>
                          <a:latin typeface="Bookman Old Style" panose="02050604050505020204" pitchFamily="18" charset="0"/>
                        </a:rPr>
                        <a:t>2.Unavailability of time to finish on the target date </a:t>
                      </a:r>
                      <a:endParaRPr lang="en-US" b="0" i="0" dirty="0">
                        <a:effectLst/>
                      </a:endParaRPr>
                    </a:p>
                    <a:p>
                      <a:pPr algn="ctr" rtl="0" fontAlgn="base"/>
                      <a:r>
                        <a:rPr lang="en-US" sz="1100" b="0" i="0" dirty="0">
                          <a:effectLst/>
                          <a:latin typeface="Bookman Old Style" panose="02050604050505020204" pitchFamily="18" charset="0"/>
                        </a:rPr>
                        <a:t>3.still identifying our stakeholders conflict to schedule of elementary meeting </a:t>
                      </a:r>
                      <a:endParaRPr lang="en-US" b="0" i="0" dirty="0">
                        <a:effectLst/>
                      </a:endParaRPr>
                    </a:p>
                  </a:txBody>
                  <a:tcPr/>
                </a:tc>
                <a:tc>
                  <a:txBody>
                    <a:bodyPr/>
                    <a:lstStyle/>
                    <a:p>
                      <a:pPr algn="ctr" rtl="0" fontAlgn="base"/>
                      <a:r>
                        <a:rPr lang="en-US" sz="1100" b="0" i="0" dirty="0">
                          <a:effectLst/>
                          <a:latin typeface="Bookman Old Style" panose="02050604050505020204" pitchFamily="18" charset="0"/>
                        </a:rPr>
                        <a:t>1.provide printer and papers to use </a:t>
                      </a:r>
                      <a:endParaRPr lang="en-US" b="0" i="0" dirty="0">
                        <a:effectLst/>
                      </a:endParaRPr>
                    </a:p>
                    <a:p>
                      <a:pPr algn="ctr" rtl="0" fontAlgn="base"/>
                      <a:r>
                        <a:rPr lang="en-US" sz="1100" b="0" i="0" dirty="0">
                          <a:effectLst/>
                          <a:latin typeface="Bookman Old Style" panose="02050604050505020204" pitchFamily="18" charset="0"/>
                        </a:rPr>
                        <a:t>2.allot time to have meeting with concern person </a:t>
                      </a:r>
                      <a:endParaRPr lang="en-US" b="0" i="0" dirty="0">
                        <a:effectLst/>
                      </a:endParaRPr>
                    </a:p>
                    <a:p>
                      <a:pPr algn="ctr" rtl="0" fontAlgn="base"/>
                      <a:r>
                        <a:rPr lang="en-US" sz="1100" b="0" i="0" dirty="0">
                          <a:effectLst/>
                          <a:latin typeface="Bookman Old Style" panose="02050604050505020204" pitchFamily="18" charset="0"/>
                        </a:rPr>
                        <a:t>3.limited time and unavailability of budget </a:t>
                      </a:r>
                      <a:endParaRPr lang="en-US" b="0" i="0" dirty="0">
                        <a:effectLst/>
                      </a:endParaRPr>
                    </a:p>
                  </a:txBody>
                  <a:tcPr/>
                </a:tc>
                <a:extLst>
                  <a:ext uri="{0D108BD9-81ED-4DB2-BD59-A6C34878D82A}">
                    <a16:rowId xmlns:a16="http://schemas.microsoft.com/office/drawing/2014/main" val="1720475477"/>
                  </a:ext>
                </a:extLst>
              </a:tr>
            </a:tbl>
          </a:graphicData>
        </a:graphic>
      </p:graphicFrame>
      <p:sp>
        <p:nvSpPr>
          <p:cNvPr id="6" name="Rectangle 5">
            <a:extLst>
              <a:ext uri="{FF2B5EF4-FFF2-40B4-BE49-F238E27FC236}">
                <a16:creationId xmlns:a16="http://schemas.microsoft.com/office/drawing/2014/main" id="{B0F3DACA-EB4D-42F9-90C8-358136DB0643}"/>
              </a:ext>
            </a:extLst>
          </p:cNvPr>
          <p:cNvSpPr/>
          <p:nvPr/>
        </p:nvSpPr>
        <p:spPr>
          <a:xfrm>
            <a:off x="0" y="-29888"/>
            <a:ext cx="7924800" cy="523220"/>
          </a:xfrm>
          <a:prstGeom prst="rect">
            <a:avLst/>
          </a:prstGeom>
          <a:solidFill>
            <a:schemeClr val="accent4">
              <a:lumMod val="60000"/>
              <a:lumOff val="40000"/>
            </a:schemeClr>
          </a:solidFill>
          <a:ln w="25400">
            <a:solidFill>
              <a:schemeClr val="tx1"/>
            </a:solidFill>
          </a:ln>
        </p:spPr>
        <p:txBody>
          <a:bodyPr wrap="square" lIns="91440" tIns="45720" rIns="91440" bIns="45720">
            <a:spAutoFit/>
          </a:bodyPr>
          <a:lstStyle/>
          <a:p>
            <a:pPr algn="ctr"/>
            <a:r>
              <a:rPr lang="en-US" sz="2800" b="1" cap="none" spc="0" dirty="0">
                <a:ln w="22225">
                  <a:solidFill>
                    <a:schemeClr val="tx1"/>
                  </a:solidFill>
                  <a:prstDash val="solid"/>
                </a:ln>
                <a:solidFill>
                  <a:srgbClr val="FF0000"/>
                </a:solidFill>
                <a:effectLst/>
                <a:latin typeface="Gill Sans Ultra Bold" panose="020B0A02020104020203" pitchFamily="34" charset="0"/>
              </a:rPr>
              <a:t>Enabling Mechanism (Governance)</a:t>
            </a:r>
          </a:p>
        </p:txBody>
      </p:sp>
      <p:sp>
        <p:nvSpPr>
          <p:cNvPr id="7" name="Title 1">
            <a:extLst>
              <a:ext uri="{FF2B5EF4-FFF2-40B4-BE49-F238E27FC236}">
                <a16:creationId xmlns:a16="http://schemas.microsoft.com/office/drawing/2014/main" id="{8BB637F5-DBD9-4264-959C-DB59BE46DB31}"/>
              </a:ext>
            </a:extLst>
          </p:cNvPr>
          <p:cNvSpPr txBox="1">
            <a:spLocks/>
          </p:cNvSpPr>
          <p:nvPr/>
        </p:nvSpPr>
        <p:spPr>
          <a:xfrm>
            <a:off x="1474236" y="289251"/>
            <a:ext cx="9879563" cy="1158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PROGRAM, PROJECT and ACTIVITIES (PPA’S)</a:t>
            </a:r>
            <a:endParaRPr lang="en-US" sz="4000" b="1" dirty="0"/>
          </a:p>
        </p:txBody>
      </p:sp>
    </p:spTree>
    <p:extLst>
      <p:ext uri="{BB962C8B-B14F-4D97-AF65-F5344CB8AC3E}">
        <p14:creationId xmlns:p14="http://schemas.microsoft.com/office/powerpoint/2010/main" val="90198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5356</TotalTime>
  <Words>3608</Words>
  <Application>Microsoft Office PowerPoint</Application>
  <PresentationFormat>Widescreen</PresentationFormat>
  <Paragraphs>1360</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School Monitoring Evaluation and Plan Adjustment (SMEPA)</vt:lpstr>
      <vt:lpstr>Enrolment per Key Stage</vt:lpstr>
      <vt:lpstr>Drop-Out as of February 28, 2025</vt:lpstr>
      <vt:lpstr>PROGRAM, PROJECT and ACTIVITIES (PPA’S)</vt:lpstr>
      <vt:lpstr>PowerPoint Presentation</vt:lpstr>
      <vt:lpstr>Non-Readers (English)</vt:lpstr>
      <vt:lpstr>Non-Readers (Filipino)</vt:lpstr>
      <vt:lpstr>Non Numerates (8%)</vt:lpstr>
      <vt:lpstr>MPS Result – 1st Grading and 2nd Grading</vt:lpstr>
      <vt:lpstr>MPS Result – 3rdGrading</vt:lpstr>
      <vt:lpstr>Number of learner with failing grades (Quarter 1)</vt:lpstr>
      <vt:lpstr>Number of learner with failing grades (Quarter 2)</vt:lpstr>
      <vt:lpstr>Number of learner with failing grades (Quarter 3)</vt:lpstr>
      <vt:lpstr>PowerPoint Presentation</vt:lpstr>
      <vt:lpstr>PROGRAM, PROJECT and ACTIVITIES (PPA’S)</vt:lpstr>
      <vt:lpstr>PowerPoint Presentation</vt:lpstr>
      <vt:lpstr>PROGRAM, PROJECT and ACTIVITIES (PPA’S)</vt:lpstr>
      <vt:lpstr>PowerPoint Presentation</vt:lpstr>
      <vt:lpstr>PowerPoint Presentation</vt:lpstr>
      <vt:lpstr>Number of learners who reported violence committed against them by other learners </vt:lpstr>
      <vt:lpstr>Nutritional Status</vt:lpstr>
      <vt:lpstr>PROGRAM, PROJECT and ACTIVITIES (PPA’S)</vt:lpstr>
      <vt:lpstr>PROGRAM, PROJECT and ACTIVITIES (PPA’S)</vt:lpstr>
      <vt:lpstr>Percentage of Financial Contribution</vt:lpstr>
      <vt:lpstr>SBM Level of Practice 2024</vt:lpstr>
      <vt:lpstr>Special Education Fund (SEF) 2024</vt:lpstr>
      <vt:lpstr>Special Education Fund (SEF) 2025</vt:lpstr>
      <vt:lpstr>MOOE Utilizations 2024</vt:lpstr>
      <vt:lpstr>MOOE Utilizations 2025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Matabungkay National High School</dc:creator>
  <cp:lastModifiedBy>Matabungkay National High School</cp:lastModifiedBy>
  <cp:revision>168</cp:revision>
  <cp:lastPrinted>2024-02-16T05:25:50Z</cp:lastPrinted>
  <dcterms:created xsi:type="dcterms:W3CDTF">2021-01-15T05:49:20Z</dcterms:created>
  <dcterms:modified xsi:type="dcterms:W3CDTF">2026-07-25T10:05:23Z</dcterms:modified>
</cp:coreProperties>
</file>